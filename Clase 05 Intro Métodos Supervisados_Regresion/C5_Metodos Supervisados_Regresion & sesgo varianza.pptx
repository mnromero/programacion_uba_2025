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489" r:id="rId2"/>
    <p:sldId id="259" r:id="rId3"/>
    <p:sldId id="405" r:id="rId4"/>
    <p:sldId id="406" r:id="rId5"/>
    <p:sldId id="356" r:id="rId6"/>
    <p:sldId id="408" r:id="rId7"/>
    <p:sldId id="409" r:id="rId8"/>
    <p:sldId id="292" r:id="rId9"/>
    <p:sldId id="293" r:id="rId10"/>
    <p:sldId id="510" r:id="rId11"/>
    <p:sldId id="441" r:id="rId12"/>
    <p:sldId id="511" r:id="rId13"/>
    <p:sldId id="424" r:id="rId14"/>
    <p:sldId id="512" r:id="rId15"/>
    <p:sldId id="411" r:id="rId16"/>
    <p:sldId id="412" r:id="rId17"/>
    <p:sldId id="410" r:id="rId18"/>
    <p:sldId id="528" r:id="rId19"/>
    <p:sldId id="414" r:id="rId20"/>
    <p:sldId id="513" r:id="rId21"/>
    <p:sldId id="413" r:id="rId22"/>
    <p:sldId id="296" r:id="rId23"/>
    <p:sldId id="297" r:id="rId24"/>
    <p:sldId id="527" r:id="rId25"/>
    <p:sldId id="302" r:id="rId26"/>
    <p:sldId id="514" r:id="rId27"/>
    <p:sldId id="515" r:id="rId28"/>
    <p:sldId id="516" r:id="rId29"/>
    <p:sldId id="517" r:id="rId30"/>
    <p:sldId id="438" r:id="rId31"/>
    <p:sldId id="440" r:id="rId32"/>
    <p:sldId id="518" r:id="rId33"/>
    <p:sldId id="519" r:id="rId34"/>
    <p:sldId id="418" r:id="rId35"/>
    <p:sldId id="419" r:id="rId36"/>
    <p:sldId id="425" r:id="rId37"/>
    <p:sldId id="526" r:id="rId38"/>
    <p:sldId id="421" r:id="rId39"/>
    <p:sldId id="423" r:id="rId40"/>
    <p:sldId id="426" r:id="rId41"/>
    <p:sldId id="427" r:id="rId42"/>
    <p:sldId id="525" r:id="rId43"/>
    <p:sldId id="428" r:id="rId44"/>
    <p:sldId id="429" r:id="rId45"/>
    <p:sldId id="430" r:id="rId46"/>
    <p:sldId id="431" r:id="rId47"/>
    <p:sldId id="432" r:id="rId48"/>
    <p:sldId id="433" r:id="rId49"/>
    <p:sldId id="435" r:id="rId50"/>
    <p:sldId id="434" r:id="rId51"/>
    <p:sldId id="520" r:id="rId52"/>
    <p:sldId id="436" r:id="rId53"/>
    <p:sldId id="337" r:id="rId54"/>
    <p:sldId id="314" r:id="rId55"/>
    <p:sldId id="437" r:id="rId56"/>
    <p:sldId id="496" r:id="rId57"/>
    <p:sldId id="361" r:id="rId58"/>
    <p:sldId id="295" r:id="rId59"/>
    <p:sldId id="301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89"/>
            <p14:sldId id="259"/>
            <p14:sldId id="405"/>
            <p14:sldId id="406"/>
          </p14:sldIdLst>
        </p14:section>
        <p14:section name="Motivacion: Regresion Lineal" id="{FB36338F-3411-B940-8580-BC45502E7784}">
          <p14:sldIdLst>
            <p14:sldId id="356"/>
            <p14:sldId id="408"/>
            <p14:sldId id="409"/>
          </p14:sldIdLst>
        </p14:section>
        <p14:section name="Regresion" id="{E889DC1D-6EB3-5647-864E-8F96452C28E8}">
          <p14:sldIdLst>
            <p14:sldId id="292"/>
            <p14:sldId id="293"/>
            <p14:sldId id="510"/>
            <p14:sldId id="441"/>
            <p14:sldId id="511"/>
            <p14:sldId id="424"/>
            <p14:sldId id="512"/>
          </p14:sldIdLst>
        </p14:section>
        <p14:section name="Evaluacion de precision de los coeficientes" id="{29D30DC5-A78B-324E-9D17-28BE14534B4E}">
          <p14:sldIdLst>
            <p14:sldId id="411"/>
            <p14:sldId id="412"/>
            <p14:sldId id="410"/>
          </p14:sldIdLst>
        </p14:section>
        <p14:section name="Evaluacion de precision del modelo" id="{F9EA4E9E-D681-E342-AAFA-A4184B5D7EE5}">
          <p14:sldIdLst>
            <p14:sldId id="528"/>
            <p14:sldId id="414"/>
            <p14:sldId id="513"/>
            <p14:sldId id="413"/>
          </p14:sldIdLst>
        </p14:section>
        <p14:section name="Error cuadratico medio (ECM)" id="{75D31724-3B6C-E842-978D-4FEEBABBFA4D}">
          <p14:sldIdLst>
            <p14:sldId id="296"/>
            <p14:sldId id="297"/>
            <p14:sldId id="527"/>
            <p14:sldId id="302"/>
            <p14:sldId id="514"/>
          </p14:sldIdLst>
        </p14:section>
        <p14:section name="Error de Prediccion del output Y" id="{AF74458D-9C20-A845-BECB-2051E596F0C5}">
          <p14:sldIdLst>
            <p14:sldId id="515"/>
            <p14:sldId id="516"/>
            <p14:sldId id="517"/>
            <p14:sldId id="438"/>
            <p14:sldId id="440"/>
            <p14:sldId id="518"/>
            <p14:sldId id="519"/>
          </p14:sldIdLst>
        </p14:section>
        <p14:section name="Consideraciones de la Regresion Lineal" id="{7BFAA989-ACEC-6644-B4DE-1B5BA4F72C91}">
          <p14:sldIdLst>
            <p14:sldId id="418"/>
            <p14:sldId id="419"/>
            <p14:sldId id="425"/>
            <p14:sldId id="526"/>
            <p14:sldId id="421"/>
            <p14:sldId id="423"/>
            <p14:sldId id="426"/>
            <p14:sldId id="427"/>
            <p14:sldId id="525"/>
          </p14:sldIdLst>
        </p14:section>
        <p14:section name="Problemas y soluciones practicas en con los modelos de regresion lineal" id="{B12E035B-9770-2249-8F2B-5AA5ED1B1861}">
          <p14:sldIdLst>
            <p14:sldId id="428"/>
            <p14:sldId id="429"/>
            <p14:sldId id="430"/>
            <p14:sldId id="431"/>
            <p14:sldId id="432"/>
            <p14:sldId id="433"/>
            <p14:sldId id="435"/>
            <p14:sldId id="434"/>
            <p14:sldId id="520"/>
            <p14:sldId id="436"/>
          </p14:sldIdLst>
        </p14:section>
        <p14:section name="Conclusiones finales" id="{30AE4762-25DE-C74D-AF95-4AEC0CC37FB0}">
          <p14:sldIdLst>
            <p14:sldId id="337"/>
            <p14:sldId id="314"/>
            <p14:sldId id="437"/>
            <p14:sldId id="496"/>
            <p14:sldId id="361"/>
            <p14:sldId id="295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409E25-CEDC-874F-A7D9-295E42AF3A17}" v="12" dt="2026-07-27T19:10:44.7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182"/>
    <p:restoredTop sz="95840"/>
  </p:normalViewPr>
  <p:slideViewPr>
    <p:cSldViewPr snapToGrid="0">
      <p:cViewPr varScale="1">
        <p:scale>
          <a:sx n="64" d="100"/>
          <a:sy n="64" d="100"/>
        </p:scale>
        <p:origin x="200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ía Noelia Romero" userId="2133f5768dfc5791" providerId="LiveId" clId="{0168CA65-A813-5033-94B8-EF4605FC29D1}"/>
    <pc:docChg chg="custSel addSld delSld modSld modSection">
      <pc:chgData name="María Noelia Romero" userId="2133f5768dfc5791" providerId="LiveId" clId="{0168CA65-A813-5033-94B8-EF4605FC29D1}" dt="2026-07-27T19:10:34.937" v="32"/>
      <pc:docMkLst>
        <pc:docMk/>
      </pc:docMkLst>
      <pc:sldChg chg="add">
        <pc:chgData name="María Noelia Romero" userId="2133f5768dfc5791" providerId="LiveId" clId="{0168CA65-A813-5033-94B8-EF4605FC29D1}" dt="2026-07-27T19:08:28.089" v="22"/>
        <pc:sldMkLst>
          <pc:docMk/>
          <pc:sldMk cId="1458352686" sldId="295"/>
        </pc:sldMkLst>
      </pc:sldChg>
      <pc:sldChg chg="modSp add">
        <pc:chgData name="María Noelia Romero" userId="2133f5768dfc5791" providerId="LiveId" clId="{0168CA65-A813-5033-94B8-EF4605FC29D1}" dt="2026-07-27T19:09:10.370" v="23" actId="20577"/>
        <pc:sldMkLst>
          <pc:docMk/>
          <pc:sldMk cId="4047736529" sldId="301"/>
        </pc:sldMkLst>
        <pc:spChg chg="mod">
          <ac:chgData name="María Noelia Romero" userId="2133f5768dfc5791" providerId="LiveId" clId="{0168CA65-A813-5033-94B8-EF4605FC29D1}" dt="2026-07-27T19:09:10.370" v="23" actId="20577"/>
          <ac:spMkLst>
            <pc:docMk/>
            <pc:sldMk cId="4047736529" sldId="301"/>
            <ac:spMk id="3" creationId="{42DE2FE6-2D21-0373-E669-031C93ACF98C}"/>
          </ac:spMkLst>
        </pc:spChg>
      </pc:sldChg>
      <pc:sldChg chg="add">
        <pc:chgData name="María Noelia Romero" userId="2133f5768dfc5791" providerId="LiveId" clId="{0168CA65-A813-5033-94B8-EF4605FC29D1}" dt="2026-07-27T19:08:28.089" v="22"/>
        <pc:sldMkLst>
          <pc:docMk/>
          <pc:sldMk cId="1430383217" sldId="361"/>
        </pc:sldMkLst>
      </pc:sldChg>
      <pc:sldChg chg="modSp mod">
        <pc:chgData name="María Noelia Romero" userId="2133f5768dfc5791" providerId="LiveId" clId="{0168CA65-A813-5033-94B8-EF4605FC29D1}" dt="2026-07-27T19:06:12.132" v="21" actId="20577"/>
        <pc:sldMkLst>
          <pc:docMk/>
          <pc:sldMk cId="439331348" sldId="489"/>
        </pc:sldMkLst>
        <pc:spChg chg="mod">
          <ac:chgData name="María Noelia Romero" userId="2133f5768dfc5791" providerId="LiveId" clId="{0168CA65-A813-5033-94B8-EF4605FC29D1}" dt="2026-07-27T19:06:12.132" v="21" actId="20577"/>
          <ac:spMkLst>
            <pc:docMk/>
            <pc:sldMk cId="439331348" sldId="489"/>
            <ac:spMk id="3" creationId="{C1F55BDD-1493-5FB8-8EDB-106F9B362918}"/>
          </ac:spMkLst>
        </pc:spChg>
      </pc:sldChg>
      <pc:sldChg chg="modSp">
        <pc:chgData name="María Noelia Romero" userId="2133f5768dfc5791" providerId="LiveId" clId="{0168CA65-A813-5033-94B8-EF4605FC29D1}" dt="2026-07-27T19:10:34.937" v="32"/>
        <pc:sldMkLst>
          <pc:docMk/>
          <pc:sldMk cId="4029729086" sldId="515"/>
        </pc:sldMkLst>
        <pc:spChg chg="mod">
          <ac:chgData name="María Noelia Romero" userId="2133f5768dfc5791" providerId="LiveId" clId="{0168CA65-A813-5033-94B8-EF4605FC29D1}" dt="2026-07-27T19:10:34.937" v="32"/>
          <ac:spMkLst>
            <pc:docMk/>
            <pc:sldMk cId="4029729086" sldId="515"/>
            <ac:spMk id="3" creationId="{42DE2FE6-2D21-0373-E669-031C93ACF98C}"/>
          </ac:spMkLst>
        </pc:spChg>
      </pc:sldChg>
      <pc:sldChg chg="modSp mod modAnim">
        <pc:chgData name="María Noelia Romero" userId="2133f5768dfc5791" providerId="LiveId" clId="{0168CA65-A813-5033-94B8-EF4605FC29D1}" dt="2026-07-27T19:09:48.280" v="27" actId="5793"/>
        <pc:sldMkLst>
          <pc:docMk/>
          <pc:sldMk cId="2848597076" sldId="528"/>
        </pc:sldMkLst>
        <pc:spChg chg="mod">
          <ac:chgData name="María Noelia Romero" userId="2133f5768dfc5791" providerId="LiveId" clId="{0168CA65-A813-5033-94B8-EF4605FC29D1}" dt="2026-07-27T19:09:48.280" v="27" actId="5793"/>
          <ac:spMkLst>
            <pc:docMk/>
            <pc:sldMk cId="2848597076" sldId="528"/>
            <ac:spMk id="3" creationId="{4DCB7428-BAF8-C43C-0F61-3A249901DD51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C43C6C-5135-BC4B-BD1E-02F38DA0ECBD}" type="doc">
      <dgm:prSet loTypeId="urn:microsoft.com/office/officeart/2005/8/layout/gear1" loCatId="" qsTypeId="urn:microsoft.com/office/officeart/2005/8/quickstyle/simple1" qsCatId="simple" csTypeId="urn:microsoft.com/office/officeart/2005/8/colors/colorful3" csCatId="colorful" phldr="1"/>
      <dgm:spPr/>
    </dgm:pt>
    <dgm:pt modelId="{9D5834D3-DCBE-FE4A-9F3C-70C1F66B4852}">
      <dgm:prSet phldrT="[Text]" custT="1"/>
      <dgm:spPr/>
      <dgm:t>
        <a:bodyPr/>
        <a:lstStyle/>
        <a:p>
          <a:r>
            <a:rPr lang="es-ES_tradnl" sz="2800" noProof="0" dirty="0">
              <a:latin typeface="Gill Sans Nova Light" panose="020B0302020104020203" pitchFamily="34" charset="0"/>
            </a:rPr>
            <a:t>Modelos y Predicción</a:t>
          </a:r>
        </a:p>
      </dgm:t>
    </dgm:pt>
    <dgm:pt modelId="{BCAE287E-ED9A-3E48-8722-8F6B9573D100}" type="parTrans" cxnId="{FB2A3C33-0D71-9C4D-BC1C-42096B83FC77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E1154557-80C0-D242-9F38-2AE22E6B7511}" type="sibTrans" cxnId="{FB2A3C33-0D71-9C4D-BC1C-42096B83FC77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5C1D9BF3-4558-C441-8CDB-F5F25B657909}">
      <dgm:prSet phldrT="[Text]" custT="1"/>
      <dgm:spPr/>
      <dgm:t>
        <a:bodyPr/>
        <a:lstStyle/>
        <a:p>
          <a:r>
            <a:rPr lang="es-ES_tradnl" sz="1800" noProof="0" dirty="0">
              <a:latin typeface="Gill Sans Nova Light" panose="020B0302020104020203" pitchFamily="34" charset="0"/>
            </a:rPr>
            <a:t>Análisis Descriptivo</a:t>
          </a:r>
        </a:p>
      </dgm:t>
    </dgm:pt>
    <dgm:pt modelId="{881D90E0-E7C8-CC43-93B2-383911E0D2EB}" type="parTrans" cxnId="{BA1A178B-6B5D-DF41-9526-BE3200DB3305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A795D308-22A9-A146-9196-142AFCE44F43}" type="sibTrans" cxnId="{BA1A178B-6B5D-DF41-9526-BE3200DB3305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D037808B-2E47-824B-B2E4-91155269E95D}">
      <dgm:prSet phldrT="[Text]" custT="1"/>
      <dgm:spPr/>
      <dgm:t>
        <a:bodyPr/>
        <a:lstStyle/>
        <a:p>
          <a:r>
            <a:rPr lang="es-ES_tradnl" sz="1800" noProof="0" dirty="0">
              <a:latin typeface="Gill Sans Nova Light" panose="020B0302020104020203" pitchFamily="34" charset="0"/>
            </a:rPr>
            <a:t>Limpieza de Datos</a:t>
          </a:r>
        </a:p>
      </dgm:t>
    </dgm:pt>
    <dgm:pt modelId="{ED8788D8-BEA6-C54B-993B-DA641453DD4E}" type="parTrans" cxnId="{956A9FDE-4C36-5441-913C-2944680EE34A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8D702279-B072-BE41-8B74-E88DB5DFA9BD}" type="sibTrans" cxnId="{956A9FDE-4C36-5441-913C-2944680EE34A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E0056E4B-8ACB-724F-BDAD-85D5C5F064AF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Training-</a:t>
          </a:r>
          <a:r>
            <a:rPr lang="es-ES_tradnl" sz="1600" noProof="0" dirty="0" err="1">
              <a:latin typeface="Gill Sans Nova Light" panose="020B0302020104020203" pitchFamily="34" charset="0"/>
            </a:rPr>
            <a:t>Testing</a:t>
          </a:r>
          <a:r>
            <a:rPr lang="es-ES_tradnl" sz="1600" noProof="0" dirty="0">
              <a:latin typeface="Gill Sans Nova Light" panose="020B0302020104020203" pitchFamily="34" charset="0"/>
            </a:rPr>
            <a:t> </a:t>
          </a:r>
          <a:r>
            <a:rPr lang="es-ES_tradnl" sz="1600" noProof="0" dirty="0" err="1">
              <a:latin typeface="Gill Sans Nova Light" panose="020B0302020104020203" pitchFamily="34" charset="0"/>
            </a:rPr>
            <a:t>datasets</a:t>
          </a:r>
          <a:endParaRPr lang="es-ES_tradnl" sz="1600" noProof="0" dirty="0">
            <a:latin typeface="Gill Sans Nova Light" panose="020B0302020104020203" pitchFamily="34" charset="0"/>
          </a:endParaRPr>
        </a:p>
      </dgm:t>
    </dgm:pt>
    <dgm:pt modelId="{527175C8-8AF8-CC45-9FF1-D63223F04F2D}" type="parTrans" cxnId="{528BBA78-C629-A844-80CB-C14428F4095D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9B5DB3C3-3766-4348-8E63-CFF204EF4554}" type="sibTrans" cxnId="{528BBA78-C629-A844-80CB-C14428F4095D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E3A9F1EC-0DE4-4444-A45C-356F91B84DCB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Muestras</a:t>
          </a:r>
        </a:p>
      </dgm:t>
    </dgm:pt>
    <dgm:pt modelId="{BD950AF3-A809-7143-9311-79DEFED2FA80}" type="parTrans" cxnId="{20BA4BF6-514D-794F-8331-E4FB9660C586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4FC2C2DB-B394-6143-9616-8DF215A5B6BF}" type="sibTrans" cxnId="{20BA4BF6-514D-794F-8331-E4FB9660C586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CCFA7035-6F6F-3D4B-8B35-A16AD6A921E7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Tablas</a:t>
          </a:r>
        </a:p>
      </dgm:t>
    </dgm:pt>
    <dgm:pt modelId="{AB3F1680-3360-BE4D-A584-4042D38A7BA2}" type="parTrans" cxnId="{28408BF6-A79C-4143-A63D-6D814BBF52DB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79FCB476-72D0-A149-A9EB-DF7EAC0E0FF0}" type="sibTrans" cxnId="{28408BF6-A79C-4143-A63D-6D814BBF52DB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B3B5F46C-A648-504C-8AAC-30ED2BAFD987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Histogramas</a:t>
          </a:r>
        </a:p>
      </dgm:t>
    </dgm:pt>
    <dgm:pt modelId="{5869E246-DEFC-A04C-9534-AD6BA0C6DD45}" type="parTrans" cxnId="{18D9A791-6FFE-7F4A-8CFE-0FD70E0CF150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530DE0AB-2728-3C40-97FB-74BBF7BD6E3A}" type="sibTrans" cxnId="{18D9A791-6FFE-7F4A-8CFE-0FD70E0CF150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53B4BE51-48B6-9843-9F9C-B235F95E2542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Ajuste de modelos</a:t>
          </a:r>
        </a:p>
      </dgm:t>
    </dgm:pt>
    <dgm:pt modelId="{55D16910-2739-2E41-9255-053D324BB326}" type="parTrans" cxnId="{EC0799C8-0EDF-314A-911D-AD885A4B8C95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73E05C95-028B-7241-A19E-244D17A962E8}" type="sibTrans" cxnId="{EC0799C8-0EDF-314A-911D-AD885A4B8C95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A6C7C9D5-FB05-D844-9064-5C35550BACBB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Eliminar variables</a:t>
          </a:r>
        </a:p>
      </dgm:t>
    </dgm:pt>
    <dgm:pt modelId="{BA71D0E4-94A7-5C44-8402-856A315B5CAC}" type="parTrans" cxnId="{A3279BB0-CAE3-3140-86A8-3FF7D963165E}">
      <dgm:prSet/>
      <dgm:spPr/>
      <dgm:t>
        <a:bodyPr/>
        <a:lstStyle/>
        <a:p>
          <a:endParaRPr lang="en-US"/>
        </a:p>
      </dgm:t>
    </dgm:pt>
    <dgm:pt modelId="{7A3A7230-6DEC-364C-804E-09925F759DFC}" type="sibTrans" cxnId="{A3279BB0-CAE3-3140-86A8-3FF7D963165E}">
      <dgm:prSet/>
      <dgm:spPr/>
      <dgm:t>
        <a:bodyPr/>
        <a:lstStyle/>
        <a:p>
          <a:endParaRPr lang="en-US"/>
        </a:p>
      </dgm:t>
    </dgm:pt>
    <dgm:pt modelId="{366B1A80-632E-6A4A-8CBC-D3180F595C47}">
      <dgm:prSet phldrT="[Text]" custT="1"/>
      <dgm:spPr/>
      <dgm:t>
        <a:bodyPr/>
        <a:lstStyle/>
        <a:p>
          <a:r>
            <a:rPr lang="es-ES_tradnl" sz="1600" noProof="0" dirty="0" err="1">
              <a:latin typeface="Gill Sans Nova Light" panose="020B0302020104020203" pitchFamily="34" charset="0"/>
            </a:rPr>
            <a:t>Reshape</a:t>
          </a:r>
          <a:endParaRPr lang="es-ES_tradnl" sz="1600" noProof="0" dirty="0">
            <a:latin typeface="Gill Sans Nova Light" panose="020B0302020104020203" pitchFamily="34" charset="0"/>
          </a:endParaRPr>
        </a:p>
      </dgm:t>
    </dgm:pt>
    <dgm:pt modelId="{CCE81864-4AAB-EA48-8856-55FE2ECBA027}" type="parTrans" cxnId="{17A9DB82-D70C-3841-8231-65D0E616C61E}">
      <dgm:prSet/>
      <dgm:spPr/>
      <dgm:t>
        <a:bodyPr/>
        <a:lstStyle/>
        <a:p>
          <a:endParaRPr lang="en-US"/>
        </a:p>
      </dgm:t>
    </dgm:pt>
    <dgm:pt modelId="{C6964089-4F46-1D4A-A97A-E1789F64C6C0}" type="sibTrans" cxnId="{17A9DB82-D70C-3841-8231-65D0E616C61E}">
      <dgm:prSet/>
      <dgm:spPr/>
      <dgm:t>
        <a:bodyPr/>
        <a:lstStyle/>
        <a:p>
          <a:endParaRPr lang="en-US"/>
        </a:p>
      </dgm:t>
    </dgm:pt>
    <dgm:pt modelId="{09AF4F76-A191-3741-8104-35A15AC3511C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PCA, Clusters, …</a:t>
          </a:r>
        </a:p>
      </dgm:t>
    </dgm:pt>
    <dgm:pt modelId="{51F2639B-CB35-4646-A10A-8D1CA9C95B68}" type="parTrans" cxnId="{A777EBBD-66CE-7E4C-871A-30D56CA8C1F9}">
      <dgm:prSet/>
      <dgm:spPr/>
      <dgm:t>
        <a:bodyPr/>
        <a:lstStyle/>
        <a:p>
          <a:endParaRPr lang="en-US"/>
        </a:p>
      </dgm:t>
    </dgm:pt>
    <dgm:pt modelId="{5FAC6C8D-BF75-E04F-89A2-D19A3B97247C}" type="sibTrans" cxnId="{A777EBBD-66CE-7E4C-871A-30D56CA8C1F9}">
      <dgm:prSet/>
      <dgm:spPr/>
      <dgm:t>
        <a:bodyPr/>
        <a:lstStyle/>
        <a:p>
          <a:endParaRPr lang="en-US"/>
        </a:p>
      </dgm:t>
    </dgm:pt>
    <dgm:pt modelId="{AA2D7C07-E3AF-F44B-BDAC-C0B0A6124799}" type="pres">
      <dgm:prSet presAssocID="{07C43C6C-5135-BC4B-BD1E-02F38DA0ECBD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8CC346FA-4A14-A84C-9969-637AEC388AE2}" type="pres">
      <dgm:prSet presAssocID="{9D5834D3-DCBE-FE4A-9F3C-70C1F66B4852}" presName="gear1" presStyleLbl="node1" presStyleIdx="0" presStyleCnt="3">
        <dgm:presLayoutVars>
          <dgm:chMax val="1"/>
          <dgm:bulletEnabled val="1"/>
        </dgm:presLayoutVars>
      </dgm:prSet>
      <dgm:spPr/>
    </dgm:pt>
    <dgm:pt modelId="{6F1BA774-F9DF-BB46-90ED-1E58C5E3BBEC}" type="pres">
      <dgm:prSet presAssocID="{9D5834D3-DCBE-FE4A-9F3C-70C1F66B4852}" presName="gear1srcNode" presStyleLbl="node1" presStyleIdx="0" presStyleCnt="3"/>
      <dgm:spPr/>
    </dgm:pt>
    <dgm:pt modelId="{BFC858B6-67B8-4E46-B619-75745BF3BBE2}" type="pres">
      <dgm:prSet presAssocID="{9D5834D3-DCBE-FE4A-9F3C-70C1F66B4852}" presName="gear1dstNode" presStyleLbl="node1" presStyleIdx="0" presStyleCnt="3"/>
      <dgm:spPr/>
    </dgm:pt>
    <dgm:pt modelId="{4463CEEF-3FFD-2442-8720-91C26F81DA31}" type="pres">
      <dgm:prSet presAssocID="{9D5834D3-DCBE-FE4A-9F3C-70C1F66B4852}" presName="gear1ch" presStyleLbl="fgAcc1" presStyleIdx="0" presStyleCnt="3">
        <dgm:presLayoutVars>
          <dgm:chMax val="0"/>
          <dgm:bulletEnabled val="1"/>
        </dgm:presLayoutVars>
      </dgm:prSet>
      <dgm:spPr/>
    </dgm:pt>
    <dgm:pt modelId="{1256C406-6AA7-694B-A9CC-2C0E2709362F}" type="pres">
      <dgm:prSet presAssocID="{5C1D9BF3-4558-C441-8CDB-F5F25B657909}" presName="gear2" presStyleLbl="node1" presStyleIdx="1" presStyleCnt="3">
        <dgm:presLayoutVars>
          <dgm:chMax val="1"/>
          <dgm:bulletEnabled val="1"/>
        </dgm:presLayoutVars>
      </dgm:prSet>
      <dgm:spPr/>
    </dgm:pt>
    <dgm:pt modelId="{E9DF701F-09A1-2442-A083-139F4971AD2F}" type="pres">
      <dgm:prSet presAssocID="{5C1D9BF3-4558-C441-8CDB-F5F25B657909}" presName="gear2srcNode" presStyleLbl="node1" presStyleIdx="1" presStyleCnt="3"/>
      <dgm:spPr/>
    </dgm:pt>
    <dgm:pt modelId="{94050C01-7B6B-FD46-9980-ED2F5C8CE5C2}" type="pres">
      <dgm:prSet presAssocID="{5C1D9BF3-4558-C441-8CDB-F5F25B657909}" presName="gear2dstNode" presStyleLbl="node1" presStyleIdx="1" presStyleCnt="3"/>
      <dgm:spPr/>
    </dgm:pt>
    <dgm:pt modelId="{1B993F7D-C4FD-3F4A-B699-E7B45E6393E2}" type="pres">
      <dgm:prSet presAssocID="{5C1D9BF3-4558-C441-8CDB-F5F25B657909}" presName="gear2ch" presStyleLbl="fgAcc1" presStyleIdx="1" presStyleCnt="3">
        <dgm:presLayoutVars>
          <dgm:chMax val="0"/>
          <dgm:bulletEnabled val="1"/>
        </dgm:presLayoutVars>
      </dgm:prSet>
      <dgm:spPr/>
    </dgm:pt>
    <dgm:pt modelId="{F7C1E3D9-D3A5-F44F-A8AF-AF676044A6A0}" type="pres">
      <dgm:prSet presAssocID="{D037808B-2E47-824B-B2E4-91155269E95D}" presName="gear3" presStyleLbl="node1" presStyleIdx="2" presStyleCnt="3"/>
      <dgm:spPr/>
    </dgm:pt>
    <dgm:pt modelId="{97323462-AD88-094D-BDF2-9B255EA36A9E}" type="pres">
      <dgm:prSet presAssocID="{D037808B-2E47-824B-B2E4-91155269E95D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DD5B0E98-1C02-1540-888E-97BCC9AA2CD1}" type="pres">
      <dgm:prSet presAssocID="{D037808B-2E47-824B-B2E4-91155269E95D}" presName="gear3srcNode" presStyleLbl="node1" presStyleIdx="2" presStyleCnt="3"/>
      <dgm:spPr/>
    </dgm:pt>
    <dgm:pt modelId="{5FBD5706-7166-4D46-81FE-90C898869241}" type="pres">
      <dgm:prSet presAssocID="{D037808B-2E47-824B-B2E4-91155269E95D}" presName="gear3dstNode" presStyleLbl="node1" presStyleIdx="2" presStyleCnt="3"/>
      <dgm:spPr/>
    </dgm:pt>
    <dgm:pt modelId="{F2F70D71-1549-DA4C-AE52-1D67B5E60328}" type="pres">
      <dgm:prSet presAssocID="{D037808B-2E47-824B-B2E4-91155269E95D}" presName="gear3ch" presStyleLbl="fgAcc1" presStyleIdx="2" presStyleCnt="3">
        <dgm:presLayoutVars>
          <dgm:chMax val="0"/>
          <dgm:bulletEnabled val="1"/>
        </dgm:presLayoutVars>
      </dgm:prSet>
      <dgm:spPr/>
    </dgm:pt>
    <dgm:pt modelId="{64D6B4A8-6DAE-7C4F-82B8-34EC1578BDEB}" type="pres">
      <dgm:prSet presAssocID="{E1154557-80C0-D242-9F38-2AE22E6B7511}" presName="connector1" presStyleLbl="sibTrans2D1" presStyleIdx="0" presStyleCnt="3"/>
      <dgm:spPr/>
    </dgm:pt>
    <dgm:pt modelId="{7BF98CC3-BBCC-4240-989B-3CCA849F73EF}" type="pres">
      <dgm:prSet presAssocID="{A795D308-22A9-A146-9196-142AFCE44F43}" presName="connector2" presStyleLbl="sibTrans2D1" presStyleIdx="1" presStyleCnt="3"/>
      <dgm:spPr/>
    </dgm:pt>
    <dgm:pt modelId="{FEA64E1C-E48C-5A40-A1FB-B14A94E05F3E}" type="pres">
      <dgm:prSet presAssocID="{8D702279-B072-BE41-8B74-E88DB5DFA9BD}" presName="connector3" presStyleLbl="sibTrans2D1" presStyleIdx="2" presStyleCnt="3"/>
      <dgm:spPr/>
    </dgm:pt>
  </dgm:ptLst>
  <dgm:cxnLst>
    <dgm:cxn modelId="{4F309A07-4F60-2A47-977C-E78E44077623}" type="presOf" srcId="{53B4BE51-48B6-9843-9F9C-B235F95E2542}" destId="{4463CEEF-3FFD-2442-8720-91C26F81DA31}" srcOrd="0" destOrd="1" presId="urn:microsoft.com/office/officeart/2005/8/layout/gear1"/>
    <dgm:cxn modelId="{D0D18B12-F425-E946-8A22-910F484681BB}" type="presOf" srcId="{5C1D9BF3-4558-C441-8CDB-F5F25B657909}" destId="{1256C406-6AA7-694B-A9CC-2C0E2709362F}" srcOrd="0" destOrd="0" presId="urn:microsoft.com/office/officeart/2005/8/layout/gear1"/>
    <dgm:cxn modelId="{B4E6EA16-6E2A-F642-8B1E-F28566093231}" type="presOf" srcId="{D037808B-2E47-824B-B2E4-91155269E95D}" destId="{97323462-AD88-094D-BDF2-9B255EA36A9E}" srcOrd="1" destOrd="0" presId="urn:microsoft.com/office/officeart/2005/8/layout/gear1"/>
    <dgm:cxn modelId="{33E7C71C-B6EF-7241-B5F9-5CFF01F112A1}" type="presOf" srcId="{5C1D9BF3-4558-C441-8CDB-F5F25B657909}" destId="{94050C01-7B6B-FD46-9980-ED2F5C8CE5C2}" srcOrd="2" destOrd="0" presId="urn:microsoft.com/office/officeart/2005/8/layout/gear1"/>
    <dgm:cxn modelId="{FB2A3C33-0D71-9C4D-BC1C-42096B83FC77}" srcId="{07C43C6C-5135-BC4B-BD1E-02F38DA0ECBD}" destId="{9D5834D3-DCBE-FE4A-9F3C-70C1F66B4852}" srcOrd="0" destOrd="0" parTransId="{BCAE287E-ED9A-3E48-8722-8F6B9573D100}" sibTransId="{E1154557-80C0-D242-9F38-2AE22E6B7511}"/>
    <dgm:cxn modelId="{28666342-540D-4049-AF73-93598A0D2B61}" type="presOf" srcId="{9D5834D3-DCBE-FE4A-9F3C-70C1F66B4852}" destId="{BFC858B6-67B8-4E46-B619-75745BF3BBE2}" srcOrd="2" destOrd="0" presId="urn:microsoft.com/office/officeart/2005/8/layout/gear1"/>
    <dgm:cxn modelId="{78753C43-3836-D64D-AA89-2706B6FA58AB}" type="presOf" srcId="{A6C7C9D5-FB05-D844-9064-5C35550BACBB}" destId="{F2F70D71-1549-DA4C-AE52-1D67B5E60328}" srcOrd="0" destOrd="1" presId="urn:microsoft.com/office/officeart/2005/8/layout/gear1"/>
    <dgm:cxn modelId="{47A38C4B-8B27-124D-855A-3320B35AEFC4}" type="presOf" srcId="{D037808B-2E47-824B-B2E4-91155269E95D}" destId="{DD5B0E98-1C02-1540-888E-97BCC9AA2CD1}" srcOrd="2" destOrd="0" presId="urn:microsoft.com/office/officeart/2005/8/layout/gear1"/>
    <dgm:cxn modelId="{367D154E-C9A2-5144-A466-A2D321D4DF37}" type="presOf" srcId="{B3B5F46C-A648-504C-8AAC-30ED2BAFD987}" destId="{1B993F7D-C4FD-3F4A-B699-E7B45E6393E2}" srcOrd="0" destOrd="1" presId="urn:microsoft.com/office/officeart/2005/8/layout/gear1"/>
    <dgm:cxn modelId="{5E123A51-BF16-9242-8C51-E4F1458FADFD}" type="presOf" srcId="{5C1D9BF3-4558-C441-8CDB-F5F25B657909}" destId="{E9DF701F-09A1-2442-A083-139F4971AD2F}" srcOrd="1" destOrd="0" presId="urn:microsoft.com/office/officeart/2005/8/layout/gear1"/>
    <dgm:cxn modelId="{5DC3875F-DED9-E94A-918B-C932452DB4CE}" type="presOf" srcId="{E0056E4B-8ACB-724F-BDAD-85D5C5F064AF}" destId="{4463CEEF-3FFD-2442-8720-91C26F81DA31}" srcOrd="0" destOrd="0" presId="urn:microsoft.com/office/officeart/2005/8/layout/gear1"/>
    <dgm:cxn modelId="{5C00AB6E-CC84-D64D-B830-0443C2CA0BDE}" type="presOf" srcId="{A795D308-22A9-A146-9196-142AFCE44F43}" destId="{7BF98CC3-BBCC-4240-989B-3CCA849F73EF}" srcOrd="0" destOrd="0" presId="urn:microsoft.com/office/officeart/2005/8/layout/gear1"/>
    <dgm:cxn modelId="{528BBA78-C629-A844-80CB-C14428F4095D}" srcId="{9D5834D3-DCBE-FE4A-9F3C-70C1F66B4852}" destId="{E0056E4B-8ACB-724F-BDAD-85D5C5F064AF}" srcOrd="0" destOrd="0" parTransId="{527175C8-8AF8-CC45-9FF1-D63223F04F2D}" sibTransId="{9B5DB3C3-3766-4348-8E63-CFF204EF4554}"/>
    <dgm:cxn modelId="{17A9DB82-D70C-3841-8231-65D0E616C61E}" srcId="{D037808B-2E47-824B-B2E4-91155269E95D}" destId="{366B1A80-632E-6A4A-8CBC-D3180F595C47}" srcOrd="2" destOrd="0" parTransId="{CCE81864-4AAB-EA48-8856-55FE2ECBA027}" sibTransId="{C6964089-4F46-1D4A-A97A-E1789F64C6C0}"/>
    <dgm:cxn modelId="{BA1A178B-6B5D-DF41-9526-BE3200DB3305}" srcId="{07C43C6C-5135-BC4B-BD1E-02F38DA0ECBD}" destId="{5C1D9BF3-4558-C441-8CDB-F5F25B657909}" srcOrd="1" destOrd="0" parTransId="{881D90E0-E7C8-CC43-93B2-383911E0D2EB}" sibTransId="{A795D308-22A9-A146-9196-142AFCE44F43}"/>
    <dgm:cxn modelId="{18D9A791-6FFE-7F4A-8CFE-0FD70E0CF150}" srcId="{5C1D9BF3-4558-C441-8CDB-F5F25B657909}" destId="{B3B5F46C-A648-504C-8AAC-30ED2BAFD987}" srcOrd="1" destOrd="0" parTransId="{5869E246-DEFC-A04C-9534-AD6BA0C6DD45}" sibTransId="{530DE0AB-2728-3C40-97FB-74BBF7BD6E3A}"/>
    <dgm:cxn modelId="{5739C3A5-2A9F-C041-9AB9-DEF490963754}" type="presOf" srcId="{D037808B-2E47-824B-B2E4-91155269E95D}" destId="{5FBD5706-7166-4D46-81FE-90C898869241}" srcOrd="3" destOrd="0" presId="urn:microsoft.com/office/officeart/2005/8/layout/gear1"/>
    <dgm:cxn modelId="{A3279BB0-CAE3-3140-86A8-3FF7D963165E}" srcId="{D037808B-2E47-824B-B2E4-91155269E95D}" destId="{A6C7C9D5-FB05-D844-9064-5C35550BACBB}" srcOrd="1" destOrd="0" parTransId="{BA71D0E4-94A7-5C44-8402-856A315B5CAC}" sibTransId="{7A3A7230-6DEC-364C-804E-09925F759DFC}"/>
    <dgm:cxn modelId="{A777EBBD-66CE-7E4C-871A-30D56CA8C1F9}" srcId="{5C1D9BF3-4558-C441-8CDB-F5F25B657909}" destId="{09AF4F76-A191-3741-8104-35A15AC3511C}" srcOrd="2" destOrd="0" parTransId="{51F2639B-CB35-4646-A10A-8D1CA9C95B68}" sibTransId="{5FAC6C8D-BF75-E04F-89A2-D19A3B97247C}"/>
    <dgm:cxn modelId="{60BC14C1-6521-8941-8CA1-FCD2FB329A35}" type="presOf" srcId="{D037808B-2E47-824B-B2E4-91155269E95D}" destId="{F7C1E3D9-D3A5-F44F-A8AF-AF676044A6A0}" srcOrd="0" destOrd="0" presId="urn:microsoft.com/office/officeart/2005/8/layout/gear1"/>
    <dgm:cxn modelId="{82858EC2-F01F-5541-9E75-A0765CD6C9A0}" type="presOf" srcId="{8D702279-B072-BE41-8B74-E88DB5DFA9BD}" destId="{FEA64E1C-E48C-5A40-A1FB-B14A94E05F3E}" srcOrd="0" destOrd="0" presId="urn:microsoft.com/office/officeart/2005/8/layout/gear1"/>
    <dgm:cxn modelId="{EC0799C8-0EDF-314A-911D-AD885A4B8C95}" srcId="{9D5834D3-DCBE-FE4A-9F3C-70C1F66B4852}" destId="{53B4BE51-48B6-9843-9F9C-B235F95E2542}" srcOrd="1" destOrd="0" parTransId="{55D16910-2739-2E41-9255-053D324BB326}" sibTransId="{73E05C95-028B-7241-A19E-244D17A962E8}"/>
    <dgm:cxn modelId="{97736BCC-4F91-914F-85C5-9D0AE687FABE}" type="presOf" srcId="{E3A9F1EC-0DE4-4444-A45C-356F91B84DCB}" destId="{F2F70D71-1549-DA4C-AE52-1D67B5E60328}" srcOrd="0" destOrd="0" presId="urn:microsoft.com/office/officeart/2005/8/layout/gear1"/>
    <dgm:cxn modelId="{703AE9CC-B44A-EB4E-BAAE-A004D8A373E3}" type="presOf" srcId="{366B1A80-632E-6A4A-8CBC-D3180F595C47}" destId="{F2F70D71-1549-DA4C-AE52-1D67B5E60328}" srcOrd="0" destOrd="2" presId="urn:microsoft.com/office/officeart/2005/8/layout/gear1"/>
    <dgm:cxn modelId="{956A9FDE-4C36-5441-913C-2944680EE34A}" srcId="{07C43C6C-5135-BC4B-BD1E-02F38DA0ECBD}" destId="{D037808B-2E47-824B-B2E4-91155269E95D}" srcOrd="2" destOrd="0" parTransId="{ED8788D8-BEA6-C54B-993B-DA641453DD4E}" sibTransId="{8D702279-B072-BE41-8B74-E88DB5DFA9BD}"/>
    <dgm:cxn modelId="{E37F4BDF-32A2-8E4D-AD55-8CF5B78E3E9E}" type="presOf" srcId="{E1154557-80C0-D242-9F38-2AE22E6B7511}" destId="{64D6B4A8-6DAE-7C4F-82B8-34EC1578BDEB}" srcOrd="0" destOrd="0" presId="urn:microsoft.com/office/officeart/2005/8/layout/gear1"/>
    <dgm:cxn modelId="{3CD492DF-2863-FA4B-92D6-9251E4833D50}" type="presOf" srcId="{09AF4F76-A191-3741-8104-35A15AC3511C}" destId="{1B993F7D-C4FD-3F4A-B699-E7B45E6393E2}" srcOrd="0" destOrd="2" presId="urn:microsoft.com/office/officeart/2005/8/layout/gear1"/>
    <dgm:cxn modelId="{3ECE35E5-E077-CA4E-9DA8-143BA6040B67}" type="presOf" srcId="{07C43C6C-5135-BC4B-BD1E-02F38DA0ECBD}" destId="{AA2D7C07-E3AF-F44B-BDAC-C0B0A6124799}" srcOrd="0" destOrd="0" presId="urn:microsoft.com/office/officeart/2005/8/layout/gear1"/>
    <dgm:cxn modelId="{868B75ED-BB05-084F-B135-369EB7BCA925}" type="presOf" srcId="{9D5834D3-DCBE-FE4A-9F3C-70C1F66B4852}" destId="{8CC346FA-4A14-A84C-9969-637AEC388AE2}" srcOrd="0" destOrd="0" presId="urn:microsoft.com/office/officeart/2005/8/layout/gear1"/>
    <dgm:cxn modelId="{20BA4BF6-514D-794F-8331-E4FB9660C586}" srcId="{D037808B-2E47-824B-B2E4-91155269E95D}" destId="{E3A9F1EC-0DE4-4444-A45C-356F91B84DCB}" srcOrd="0" destOrd="0" parTransId="{BD950AF3-A809-7143-9311-79DEFED2FA80}" sibTransId="{4FC2C2DB-B394-6143-9616-8DF215A5B6BF}"/>
    <dgm:cxn modelId="{28408BF6-A79C-4143-A63D-6D814BBF52DB}" srcId="{5C1D9BF3-4558-C441-8CDB-F5F25B657909}" destId="{CCFA7035-6F6F-3D4B-8B35-A16AD6A921E7}" srcOrd="0" destOrd="0" parTransId="{AB3F1680-3360-BE4D-A584-4042D38A7BA2}" sibTransId="{79FCB476-72D0-A149-A9EB-DF7EAC0E0FF0}"/>
    <dgm:cxn modelId="{7A8248FD-BAB2-2345-95C2-6E49607D029B}" type="presOf" srcId="{CCFA7035-6F6F-3D4B-8B35-A16AD6A921E7}" destId="{1B993F7D-C4FD-3F4A-B699-E7B45E6393E2}" srcOrd="0" destOrd="0" presId="urn:microsoft.com/office/officeart/2005/8/layout/gear1"/>
    <dgm:cxn modelId="{0074AEFE-F3EE-0D4B-97CA-450BCADFBCB6}" type="presOf" srcId="{9D5834D3-DCBE-FE4A-9F3C-70C1F66B4852}" destId="{6F1BA774-F9DF-BB46-90ED-1E58C5E3BBEC}" srcOrd="1" destOrd="0" presId="urn:microsoft.com/office/officeart/2005/8/layout/gear1"/>
    <dgm:cxn modelId="{D04DCA91-A2A7-4F40-9FFC-6155B5C3945F}" type="presParOf" srcId="{AA2D7C07-E3AF-F44B-BDAC-C0B0A6124799}" destId="{8CC346FA-4A14-A84C-9969-637AEC388AE2}" srcOrd="0" destOrd="0" presId="urn:microsoft.com/office/officeart/2005/8/layout/gear1"/>
    <dgm:cxn modelId="{9D8FCAEE-51E8-8F46-9BEC-44968B145F21}" type="presParOf" srcId="{AA2D7C07-E3AF-F44B-BDAC-C0B0A6124799}" destId="{6F1BA774-F9DF-BB46-90ED-1E58C5E3BBEC}" srcOrd="1" destOrd="0" presId="urn:microsoft.com/office/officeart/2005/8/layout/gear1"/>
    <dgm:cxn modelId="{838704C0-235B-424A-84EE-8435F60C63C9}" type="presParOf" srcId="{AA2D7C07-E3AF-F44B-BDAC-C0B0A6124799}" destId="{BFC858B6-67B8-4E46-B619-75745BF3BBE2}" srcOrd="2" destOrd="0" presId="urn:microsoft.com/office/officeart/2005/8/layout/gear1"/>
    <dgm:cxn modelId="{D267E66A-1371-294D-B572-6EEF5201FE65}" type="presParOf" srcId="{AA2D7C07-E3AF-F44B-BDAC-C0B0A6124799}" destId="{4463CEEF-3FFD-2442-8720-91C26F81DA31}" srcOrd="3" destOrd="0" presId="urn:microsoft.com/office/officeart/2005/8/layout/gear1"/>
    <dgm:cxn modelId="{1B5B3604-5D58-6443-B036-AEB987877649}" type="presParOf" srcId="{AA2D7C07-E3AF-F44B-BDAC-C0B0A6124799}" destId="{1256C406-6AA7-694B-A9CC-2C0E2709362F}" srcOrd="4" destOrd="0" presId="urn:microsoft.com/office/officeart/2005/8/layout/gear1"/>
    <dgm:cxn modelId="{15E9B7F8-55D2-0343-B160-31C2A219DAA6}" type="presParOf" srcId="{AA2D7C07-E3AF-F44B-BDAC-C0B0A6124799}" destId="{E9DF701F-09A1-2442-A083-139F4971AD2F}" srcOrd="5" destOrd="0" presId="urn:microsoft.com/office/officeart/2005/8/layout/gear1"/>
    <dgm:cxn modelId="{09936EEB-A38E-7D43-8FCE-4DAE33EF1AD0}" type="presParOf" srcId="{AA2D7C07-E3AF-F44B-BDAC-C0B0A6124799}" destId="{94050C01-7B6B-FD46-9980-ED2F5C8CE5C2}" srcOrd="6" destOrd="0" presId="urn:microsoft.com/office/officeart/2005/8/layout/gear1"/>
    <dgm:cxn modelId="{C3B8F9FC-FB21-BE43-A66F-09CC9D70A9C0}" type="presParOf" srcId="{AA2D7C07-E3AF-F44B-BDAC-C0B0A6124799}" destId="{1B993F7D-C4FD-3F4A-B699-E7B45E6393E2}" srcOrd="7" destOrd="0" presId="urn:microsoft.com/office/officeart/2005/8/layout/gear1"/>
    <dgm:cxn modelId="{72E77A8E-30A8-4F45-9D8B-E762643C36C6}" type="presParOf" srcId="{AA2D7C07-E3AF-F44B-BDAC-C0B0A6124799}" destId="{F7C1E3D9-D3A5-F44F-A8AF-AF676044A6A0}" srcOrd="8" destOrd="0" presId="urn:microsoft.com/office/officeart/2005/8/layout/gear1"/>
    <dgm:cxn modelId="{43E51CD2-8C57-3A4C-AA05-0F41C09F3D7A}" type="presParOf" srcId="{AA2D7C07-E3AF-F44B-BDAC-C0B0A6124799}" destId="{97323462-AD88-094D-BDF2-9B255EA36A9E}" srcOrd="9" destOrd="0" presId="urn:microsoft.com/office/officeart/2005/8/layout/gear1"/>
    <dgm:cxn modelId="{030BF47A-6C03-404B-BC77-076EC764EAE2}" type="presParOf" srcId="{AA2D7C07-E3AF-F44B-BDAC-C0B0A6124799}" destId="{DD5B0E98-1C02-1540-888E-97BCC9AA2CD1}" srcOrd="10" destOrd="0" presId="urn:microsoft.com/office/officeart/2005/8/layout/gear1"/>
    <dgm:cxn modelId="{8FCEC252-5FE4-D246-B6E3-CA57CB704C72}" type="presParOf" srcId="{AA2D7C07-E3AF-F44B-BDAC-C0B0A6124799}" destId="{5FBD5706-7166-4D46-81FE-90C898869241}" srcOrd="11" destOrd="0" presId="urn:microsoft.com/office/officeart/2005/8/layout/gear1"/>
    <dgm:cxn modelId="{29725EE9-F892-5A42-BECC-BD61085A5586}" type="presParOf" srcId="{AA2D7C07-E3AF-F44B-BDAC-C0B0A6124799}" destId="{F2F70D71-1549-DA4C-AE52-1D67B5E60328}" srcOrd="12" destOrd="0" presId="urn:microsoft.com/office/officeart/2005/8/layout/gear1"/>
    <dgm:cxn modelId="{11AB5EB7-B478-CA43-98B7-B0B016BA3A50}" type="presParOf" srcId="{AA2D7C07-E3AF-F44B-BDAC-C0B0A6124799}" destId="{64D6B4A8-6DAE-7C4F-82B8-34EC1578BDEB}" srcOrd="13" destOrd="0" presId="urn:microsoft.com/office/officeart/2005/8/layout/gear1"/>
    <dgm:cxn modelId="{4CB19FF0-42E1-DA4F-B977-AE11F8A22A5A}" type="presParOf" srcId="{AA2D7C07-E3AF-F44B-BDAC-C0B0A6124799}" destId="{7BF98CC3-BBCC-4240-989B-3CCA849F73EF}" srcOrd="14" destOrd="0" presId="urn:microsoft.com/office/officeart/2005/8/layout/gear1"/>
    <dgm:cxn modelId="{29D62AAC-D80D-A748-A23D-C2186F267364}" type="presParOf" srcId="{AA2D7C07-E3AF-F44B-BDAC-C0B0A6124799}" destId="{FEA64E1C-E48C-5A40-A1FB-B14A94E05F3E}" srcOrd="15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C346FA-4A14-A84C-9969-637AEC388AE2}">
      <dsp:nvSpPr>
        <dsp:cNvPr id="0" name=""/>
        <dsp:cNvSpPr/>
      </dsp:nvSpPr>
      <dsp:spPr>
        <a:xfrm>
          <a:off x="5340715" y="2496776"/>
          <a:ext cx="3051616" cy="3051616"/>
        </a:xfrm>
        <a:prstGeom prst="gear9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800" kern="1200" noProof="0" dirty="0">
              <a:latin typeface="Gill Sans Nova Light" panose="020B0302020104020203" pitchFamily="34" charset="0"/>
            </a:rPr>
            <a:t>Modelos y Predicción</a:t>
          </a:r>
        </a:p>
      </dsp:txBody>
      <dsp:txXfrm>
        <a:off x="5954226" y="3211602"/>
        <a:ext cx="1824594" cy="1568594"/>
      </dsp:txXfrm>
    </dsp:sp>
    <dsp:sp modelId="{4463CEEF-3FFD-2442-8720-91C26F81DA31}">
      <dsp:nvSpPr>
        <dsp:cNvPr id="0" name=""/>
        <dsp:cNvSpPr/>
      </dsp:nvSpPr>
      <dsp:spPr>
        <a:xfrm>
          <a:off x="4952328" y="4383230"/>
          <a:ext cx="1941937" cy="11651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Training-</a:t>
          </a:r>
          <a:r>
            <a:rPr lang="es-ES_tradnl" sz="1600" kern="1200" noProof="0" dirty="0" err="1">
              <a:latin typeface="Gill Sans Nova Light" panose="020B0302020104020203" pitchFamily="34" charset="0"/>
            </a:rPr>
            <a:t>Testing</a:t>
          </a:r>
          <a:r>
            <a:rPr lang="es-ES_tradnl" sz="1600" kern="1200" noProof="0" dirty="0">
              <a:latin typeface="Gill Sans Nova Light" panose="020B0302020104020203" pitchFamily="34" charset="0"/>
            </a:rPr>
            <a:t> </a:t>
          </a:r>
          <a:r>
            <a:rPr lang="es-ES_tradnl" sz="1600" kern="1200" noProof="0" dirty="0" err="1">
              <a:latin typeface="Gill Sans Nova Light" panose="020B0302020104020203" pitchFamily="34" charset="0"/>
            </a:rPr>
            <a:t>datasets</a:t>
          </a:r>
          <a:endParaRPr lang="es-ES_tradnl" sz="1600" kern="1200" noProof="0" dirty="0">
            <a:latin typeface="Gill Sans Nova Light" panose="020B0302020104020203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Ajuste de modelos</a:t>
          </a:r>
        </a:p>
      </dsp:txBody>
      <dsp:txXfrm>
        <a:off x="4986454" y="4417356"/>
        <a:ext cx="1873685" cy="1096910"/>
      </dsp:txXfrm>
    </dsp:sp>
    <dsp:sp modelId="{1256C406-6AA7-694B-A9CC-2C0E2709362F}">
      <dsp:nvSpPr>
        <dsp:cNvPr id="0" name=""/>
        <dsp:cNvSpPr/>
      </dsp:nvSpPr>
      <dsp:spPr>
        <a:xfrm>
          <a:off x="3565230" y="1775485"/>
          <a:ext cx="2219357" cy="2219357"/>
        </a:xfrm>
        <a:prstGeom prst="gear6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noProof="0" dirty="0">
              <a:latin typeface="Gill Sans Nova Light" panose="020B0302020104020203" pitchFamily="34" charset="0"/>
            </a:rPr>
            <a:t>Análisis Descriptivo</a:t>
          </a:r>
        </a:p>
      </dsp:txBody>
      <dsp:txXfrm>
        <a:off x="4123960" y="2337592"/>
        <a:ext cx="1101897" cy="1095143"/>
      </dsp:txXfrm>
    </dsp:sp>
    <dsp:sp modelId="{1B993F7D-C4FD-3F4A-B699-E7B45E6393E2}">
      <dsp:nvSpPr>
        <dsp:cNvPr id="0" name=""/>
        <dsp:cNvSpPr/>
      </dsp:nvSpPr>
      <dsp:spPr>
        <a:xfrm>
          <a:off x="2843938" y="3218067"/>
          <a:ext cx="1941937" cy="11651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1355300"/>
              <a:satOff val="50000"/>
              <a:lumOff val="-7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Tablas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Histogramas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PCA, Clusters, …</a:t>
          </a:r>
        </a:p>
      </dsp:txBody>
      <dsp:txXfrm>
        <a:off x="2878064" y="3252193"/>
        <a:ext cx="1873685" cy="1096910"/>
      </dsp:txXfrm>
    </dsp:sp>
    <dsp:sp modelId="{F7C1E3D9-D3A5-F44F-A8AF-AF676044A6A0}">
      <dsp:nvSpPr>
        <dsp:cNvPr id="0" name=""/>
        <dsp:cNvSpPr/>
      </dsp:nvSpPr>
      <dsp:spPr>
        <a:xfrm rot="20700000">
          <a:off x="4808296" y="244355"/>
          <a:ext cx="2174517" cy="2174517"/>
        </a:xfrm>
        <a:prstGeom prst="gear6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noProof="0" dirty="0">
              <a:latin typeface="Gill Sans Nova Light" panose="020B0302020104020203" pitchFamily="34" charset="0"/>
            </a:rPr>
            <a:t>Limpieza de Datos</a:t>
          </a:r>
        </a:p>
      </dsp:txBody>
      <dsp:txXfrm rot="-20700000">
        <a:off x="5285231" y="721291"/>
        <a:ext cx="1220646" cy="1220646"/>
      </dsp:txXfrm>
    </dsp:sp>
    <dsp:sp modelId="{F2F70D71-1549-DA4C-AE52-1D67B5E60328}">
      <dsp:nvSpPr>
        <dsp:cNvPr id="0" name=""/>
        <dsp:cNvSpPr/>
      </dsp:nvSpPr>
      <dsp:spPr>
        <a:xfrm>
          <a:off x="6450394" y="721291"/>
          <a:ext cx="1941937" cy="11651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710599"/>
              <a:satOff val="100000"/>
              <a:lumOff val="-1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Muestras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Eliminar variables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 err="1">
              <a:latin typeface="Gill Sans Nova Light" panose="020B0302020104020203" pitchFamily="34" charset="0"/>
            </a:rPr>
            <a:t>Reshape</a:t>
          </a:r>
          <a:endParaRPr lang="es-ES_tradnl" sz="1600" kern="1200" noProof="0" dirty="0">
            <a:latin typeface="Gill Sans Nova Light" panose="020B0302020104020203" pitchFamily="34" charset="0"/>
          </a:endParaRPr>
        </a:p>
      </dsp:txBody>
      <dsp:txXfrm>
        <a:off x="6484520" y="755417"/>
        <a:ext cx="1873685" cy="1096910"/>
      </dsp:txXfrm>
    </dsp:sp>
    <dsp:sp modelId="{64D6B4A8-6DAE-7C4F-82B8-34EC1578BDEB}">
      <dsp:nvSpPr>
        <dsp:cNvPr id="0" name=""/>
        <dsp:cNvSpPr/>
      </dsp:nvSpPr>
      <dsp:spPr>
        <a:xfrm>
          <a:off x="5121213" y="2027627"/>
          <a:ext cx="3906068" cy="3906068"/>
        </a:xfrm>
        <a:prstGeom prst="circularArrow">
          <a:avLst>
            <a:gd name="adj1" fmla="val 4687"/>
            <a:gd name="adj2" fmla="val 299029"/>
            <a:gd name="adj3" fmla="val 2541201"/>
            <a:gd name="adj4" fmla="val 15808362"/>
            <a:gd name="adj5" fmla="val 5469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98CC3-BBCC-4240-989B-3CCA849F73EF}">
      <dsp:nvSpPr>
        <dsp:cNvPr id="0" name=""/>
        <dsp:cNvSpPr/>
      </dsp:nvSpPr>
      <dsp:spPr>
        <a:xfrm>
          <a:off x="3172186" y="1278614"/>
          <a:ext cx="2838003" cy="2838003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A64E1C-E48C-5A40-A1FB-B14A94E05F3E}">
      <dsp:nvSpPr>
        <dsp:cNvPr id="0" name=""/>
        <dsp:cNvSpPr/>
      </dsp:nvSpPr>
      <dsp:spPr>
        <a:xfrm>
          <a:off x="4305308" y="-237756"/>
          <a:ext cx="3059938" cy="3059938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C64025-9F1C-B54C-874D-6AE83D7874AF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412AF-8B30-1C4A-9486-8B7EE1FDFB1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422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966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89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862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05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698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7846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476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077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55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6385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1941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51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560382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53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90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FFB85-B129-774D-93A0-F57B9B2B4D03}" type="datetime1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A6702-BFF0-234C-B592-E8C1FA6F1806}" type="datetime1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16A00-60F7-B64E-8A28-BD6FD4FB0293}" type="datetime1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FB3B-061B-F144-A5FA-F3EAD484BB68}" type="datetime1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B2EF4-12EB-9A4D-9238-2D7527A162A6}" type="datetime1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B8114-FA9D-8D4A-A67F-A4701DAC90FA}" type="datetime1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4410B-B86C-2848-BC8C-F46E39ADEFA3}" type="datetime1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A655F-D0D7-B249-A22B-B443D0B3B154}" type="datetime1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43CFB-0197-A049-9F9E-574CE0E6949D}" type="datetime1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6737-1BBC-544D-9FC3-DA3274CF8698}" type="datetime1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E60E5-F23C-764C-AA70-1ED90C06A3A1}" type="datetime1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5C89D66A-6B48-BE47-8B10-C9113B69D385}" type="datetime1">
              <a:rPr lang="en-US" noProof="0" smtClean="0"/>
              <a:t>7/27/26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" Target="slide5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0.png"/><Relationship Id="rId4" Type="http://schemas.openxmlformats.org/officeDocument/2006/relationships/image" Target="../media/image16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mailto:25RO35480961@campus.economicas.uba.ar" TargetMode="Externa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Introducción a Métodos Supervisados:</a:t>
            </a:r>
            <a:b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Regresión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5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31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En la clase de hoy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s-ES_tradnl" dirty="0"/>
              <a:t>Introducción a Métodos Supervisados</a:t>
            </a: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s-ES_tradnl" dirty="0"/>
              <a:t>Revisión de Regresión</a:t>
            </a: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s-ES_tradnl" dirty="0"/>
              <a:t>ECM</a:t>
            </a: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s-ES_tradnl" dirty="0"/>
              <a:t>Problemas de Predicción y Consideraciones</a:t>
            </a: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endParaRPr lang="es-ES_tradnl" dirty="0"/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4FB9B-5244-FCBC-3E87-89A4490B0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880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8CDA9-EC41-2312-3939-2A1FFC5B4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Orden de Temas: </a:t>
            </a:r>
            <a:r>
              <a:rPr lang="es-ES_tradnl" sz="3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Secuencia de Trabajo con Datos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ABD0DE-D47B-BE72-9389-1B9C88CB6F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9451" y="1100380"/>
          <a:ext cx="11236271" cy="5548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42FF7C-6F94-55CC-F31A-3FC6C600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52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9A790-8125-0419-9C63-AD7B89D79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 la Etapa Explorativa a la Predicción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08559E05-DBC3-8301-D584-275312741E4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31141794"/>
                  </p:ext>
                </p:extLst>
              </p:nvPr>
            </p:nvGraphicFramePr>
            <p:xfrm>
              <a:off x="617621" y="1496447"/>
              <a:ext cx="10956757" cy="47244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1540043">
                      <a:extLst>
                        <a:ext uri="{9D8B030D-6E8A-4147-A177-3AD203B41FA5}">
                          <a16:colId xmlns:a16="http://schemas.microsoft.com/office/drawing/2014/main" val="1029663632"/>
                        </a:ext>
                      </a:extLst>
                    </a:gridCol>
                    <a:gridCol w="1915804">
                      <a:extLst>
                        <a:ext uri="{9D8B030D-6E8A-4147-A177-3AD203B41FA5}">
                          <a16:colId xmlns:a16="http://schemas.microsoft.com/office/drawing/2014/main" val="3989478329"/>
                        </a:ext>
                      </a:extLst>
                    </a:gridCol>
                    <a:gridCol w="5265262">
                      <a:extLst>
                        <a:ext uri="{9D8B030D-6E8A-4147-A177-3AD203B41FA5}">
                          <a16:colId xmlns:a16="http://schemas.microsoft.com/office/drawing/2014/main" val="1368382703"/>
                        </a:ext>
                      </a:extLst>
                    </a:gridCol>
                    <a:gridCol w="2235648">
                      <a:extLst>
                        <a:ext uri="{9D8B030D-6E8A-4147-A177-3AD203B41FA5}">
                          <a16:colId xmlns:a16="http://schemas.microsoft.com/office/drawing/2014/main" val="995975348"/>
                        </a:ext>
                      </a:extLst>
                    </a:gridCol>
                  </a:tblGrid>
                  <a:tr h="749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Etapas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Tipo de Aprendizaje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Idea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Métodos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67572"/>
                      </a:ext>
                    </a:extLst>
                  </a:tr>
                  <a:tr h="899255">
                    <a:tc rowSpan="2"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Explorativa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No Supervisado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No hay un </a:t>
                          </a:r>
                          <a:r>
                            <a:rPr lang="es-ES_tradnl" sz="2200" dirty="0">
                              <a:solidFill>
                                <a:srgbClr val="002060"/>
                              </a:solidFill>
                              <a:latin typeface="Gill Sans Nova Light" panose="020B0302020104020203" pitchFamily="34" charset="0"/>
                            </a:rPr>
                            <a:t>output</a:t>
                          </a: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que se busca predecir</a:t>
                          </a:r>
                        </a:p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N observaciones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200" b="0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, …,</m:t>
                                  </m:r>
                                  <m:sSub>
                                    <m:sSubPr>
                                      <m:ctrlPr>
                                        <a:rPr lang="en-US" sz="22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200" b="0" dirty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PCA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Clusters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145790582"/>
                      </a:ext>
                    </a:extLst>
                  </a:tr>
                  <a:tr h="1039834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Explorativa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Supervisado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Predecir distribución de un variable de interés 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variable de interés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n-US" sz="2200" b="0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_tradnl" sz="2200" b="0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</m:oMath>
                          </a14:m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distribución de </a:t>
                          </a:r>
                          <a14:m>
                            <m:oMath xmlns:m="http://schemas.openxmlformats.org/officeDocument/2006/math">
                              <m:r>
                                <a:rPr lang="es-ES_tradnl" sz="2200" dirty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Histogramas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Kernels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3332684"/>
                      </a:ext>
                    </a:extLst>
                  </a:tr>
                  <a:tr h="1723164"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Modelos y Predicción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Supervisado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b="1" dirty="0">
                              <a:latin typeface="Gill Sans Nova Light" panose="020B0302020104020203" pitchFamily="34" charset="0"/>
                            </a:rPr>
                            <a:t>Predecir</a:t>
                          </a: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: </a:t>
                          </a:r>
                          <a14:m>
                            <m:oMath xmlns:m="http://schemas.openxmlformats.org/officeDocument/2006/math"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= (</m:t>
                              </m:r>
                              <m:sSub>
                                <m:sSubPr>
                                  <m:ctrlPr>
                                    <a:rPr lang="en-US" sz="2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sz="2200" b="0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200" b="0" dirty="0" smtClean="0">
                                  <a:latin typeface="Cambria Math" panose="02040503050406030204" pitchFamily="18" charset="0"/>
                                </a:rPr>
                                <m:t>,…, </m:t>
                              </m:r>
                              <m:sSub>
                                <m:sSubPr>
                                  <m:ctrlPr>
                                    <a:rPr lang="en-US" sz="2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Inputs: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= (</m:t>
                              </m:r>
                              <m:sSub>
                                <m:sSubPr>
                                  <m:ctrlPr>
                                    <a:rPr lang="en-US" sz="2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200" b="0" dirty="0" smtClean="0">
                                  <a:latin typeface="Cambria Math" panose="02040503050406030204" pitchFamily="18" charset="0"/>
                                </a:rPr>
                                <m:t>,…, </m:t>
                              </m:r>
                              <m:sSub>
                                <m:sSubPr>
                                  <m:ctrlPr>
                                    <a:rPr lang="en-US" sz="2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  <a:p>
                          <a:endParaRPr lang="es-ES_tradnl" sz="1200" dirty="0">
                            <a:latin typeface="Gill Sans Nova Light" panose="020B0302020104020203" pitchFamily="34" charset="0"/>
                          </a:endParaRPr>
                        </a:p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cuantitativo -&gt;</a:t>
                          </a:r>
                          <a:r>
                            <a:rPr lang="es-ES_tradnl" sz="2200" baseline="0" dirty="0">
                              <a:latin typeface="Gill Sans Nova Light" panose="020B0302020104020203" pitchFamily="34" charset="0"/>
                            </a:rPr>
                            <a:t> Regresión</a:t>
                          </a:r>
                        </a:p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binaria</a:t>
                          </a:r>
                          <a:r>
                            <a:rPr lang="es-ES_tradnl" sz="2200" baseline="0" dirty="0">
                              <a:latin typeface="Gill Sans Nova Light" panose="020B0302020104020203" pitchFamily="34" charset="0"/>
                            </a:rPr>
                            <a:t> o categórica -&gt; Clasificación</a:t>
                          </a:r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MCO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 err="1">
                              <a:latin typeface="Gill Sans Nova Light" panose="020B0302020104020203" pitchFamily="34" charset="0"/>
                            </a:rPr>
                            <a:t>Logit</a:t>
                          </a: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, LDA, QDA, KNN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Y otros…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54157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08559E05-DBC3-8301-D584-275312741E4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31141794"/>
                  </p:ext>
                </p:extLst>
              </p:nvPr>
            </p:nvGraphicFramePr>
            <p:xfrm>
              <a:off x="617621" y="1496447"/>
              <a:ext cx="10956757" cy="47244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1540043">
                      <a:extLst>
                        <a:ext uri="{9D8B030D-6E8A-4147-A177-3AD203B41FA5}">
                          <a16:colId xmlns:a16="http://schemas.microsoft.com/office/drawing/2014/main" val="1029663632"/>
                        </a:ext>
                      </a:extLst>
                    </a:gridCol>
                    <a:gridCol w="1915804">
                      <a:extLst>
                        <a:ext uri="{9D8B030D-6E8A-4147-A177-3AD203B41FA5}">
                          <a16:colId xmlns:a16="http://schemas.microsoft.com/office/drawing/2014/main" val="3989478329"/>
                        </a:ext>
                      </a:extLst>
                    </a:gridCol>
                    <a:gridCol w="5265262">
                      <a:extLst>
                        <a:ext uri="{9D8B030D-6E8A-4147-A177-3AD203B41FA5}">
                          <a16:colId xmlns:a16="http://schemas.microsoft.com/office/drawing/2014/main" val="1368382703"/>
                        </a:ext>
                      </a:extLst>
                    </a:gridCol>
                    <a:gridCol w="2235648">
                      <a:extLst>
                        <a:ext uri="{9D8B030D-6E8A-4147-A177-3AD203B41FA5}">
                          <a16:colId xmlns:a16="http://schemas.microsoft.com/office/drawing/2014/main" val="995975348"/>
                        </a:ext>
                      </a:extLst>
                    </a:gridCol>
                  </a:tblGrid>
                  <a:tr h="76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Etapas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Tipo de Aprendizaje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Idea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Métodos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67572"/>
                      </a:ext>
                    </a:extLst>
                  </a:tr>
                  <a:tr h="1097280">
                    <a:tc rowSpan="2"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Explorativa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No Supervisado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5783" t="-72414" r="-42651" b="-26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PCA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Clusters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145790582"/>
                      </a:ext>
                    </a:extLst>
                  </a:tr>
                  <a:tr h="1097280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Explorativa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Supervisado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5783" t="-174419" r="-42651" b="-1686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Histogramas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Kernels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3332684"/>
                      </a:ext>
                    </a:extLst>
                  </a:tr>
                  <a:tr h="1767840"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Modelos y Predicción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Supervisado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5783" t="-168571" r="-42651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MCO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 err="1">
                              <a:latin typeface="Gill Sans Nova Light" panose="020B0302020104020203" pitchFamily="34" charset="0"/>
                            </a:rPr>
                            <a:t>Logit</a:t>
                          </a: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, LDA, QDA, KNN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Y otros…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54157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B742BB-420A-39A8-1250-F8C947C8F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411E09-9C93-2937-FA98-0414F500111B}"/>
              </a:ext>
            </a:extLst>
          </p:cNvPr>
          <p:cNvSpPr/>
          <p:nvPr/>
        </p:nvSpPr>
        <p:spPr>
          <a:xfrm>
            <a:off x="4058653" y="5358063"/>
            <a:ext cx="4812631" cy="4170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51059B-F693-3AB2-5ECB-B9BC8A48F24B}"/>
              </a:ext>
            </a:extLst>
          </p:cNvPr>
          <p:cNvSpPr/>
          <p:nvPr/>
        </p:nvSpPr>
        <p:spPr>
          <a:xfrm>
            <a:off x="9630697" y="4478076"/>
            <a:ext cx="1502007" cy="4170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9472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Regresión Lineal: Motivación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95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EE1F3-E7BC-01A0-5596-15730A6A4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Fortalezas del “Modelo Madre”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AF647-59D4-CF9B-B4BF-65923B071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_tradnl" dirty="0"/>
              <a:t>Hay otros métodos modernos de aprendizaje estadístico que </a:t>
            </a:r>
            <a:r>
              <a:rPr lang="es-ES_tradnl" dirty="0">
                <a:solidFill>
                  <a:srgbClr val="002060"/>
                </a:solidFill>
              </a:rPr>
              <a:t>predicen mejor</a:t>
            </a:r>
            <a:r>
              <a:rPr lang="es-ES_tradnl" dirty="0"/>
              <a:t>: ¿Por qué ver regresión lineal?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_tradnl" dirty="0"/>
              <a:t>Método más usado y útil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_tradnl" dirty="0"/>
              <a:t>Simple de computar y </a:t>
            </a:r>
            <a:r>
              <a:rPr lang="es-ES_tradnl" dirty="0">
                <a:solidFill>
                  <a:srgbClr val="00B050"/>
                </a:solidFill>
              </a:rPr>
              <a:t>fácil de interpretar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_tradnl" dirty="0"/>
              <a:t>Arrancamos con lo </a:t>
            </a:r>
            <a:r>
              <a:rPr lang="es-ES_tradnl" dirty="0">
                <a:solidFill>
                  <a:srgbClr val="002060"/>
                </a:solidFill>
              </a:rPr>
              <a:t>conocido</a:t>
            </a:r>
            <a:r>
              <a:rPr lang="es-ES_tradnl" dirty="0"/>
              <a:t> -&gt; Punto de partida 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_tradnl" dirty="0">
                <a:solidFill>
                  <a:srgbClr val="002060"/>
                </a:solidFill>
              </a:rPr>
              <a:t>Base de comparación</a:t>
            </a:r>
            <a:r>
              <a:rPr lang="es-ES_tradnl" dirty="0"/>
              <a:t>: ¿contra qué </a:t>
            </a:r>
            <a:r>
              <a:rPr lang="es-ES_tradnl" dirty="0">
                <a:solidFill>
                  <a:srgbClr val="002060"/>
                </a:solidFill>
              </a:rPr>
              <a:t>comparas</a:t>
            </a:r>
            <a:r>
              <a:rPr lang="es-ES_tradnl" dirty="0"/>
              <a:t> los otros métodos? 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_tradnl" dirty="0"/>
              <a:t>Los demás métodos son una extensión o generalización -&gt; De lo simple a lo más complejo</a:t>
            </a:r>
          </a:p>
          <a:p>
            <a:pPr marL="971550" lvl="1" indent="-514350">
              <a:buFont typeface="+mj-lt"/>
              <a:buAutoNum type="arabicPeriod"/>
            </a:pPr>
            <a:endParaRPr lang="es-ES_tradnl" dirty="0"/>
          </a:p>
          <a:p>
            <a:pPr marL="971550" lvl="1" indent="-514350">
              <a:buFont typeface="+mj-lt"/>
              <a:buAutoNum type="arabicPeriod"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4A5C3-08C5-6C2C-DE82-7B4A7C81B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5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C6900-620D-CC58-2DEC-799EA8434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Mas Fortalezas del Modelo de Regresión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1205CE-CE25-AF0E-8937-FD3543E817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s-ES_tradnl" dirty="0"/>
                  <a:t>Determinar si hay </a:t>
                </a:r>
                <a:r>
                  <a:rPr lang="es-ES_tradnl" dirty="0">
                    <a:solidFill>
                      <a:srgbClr val="002060"/>
                    </a:solidFill>
                  </a:rPr>
                  <a:t>relación o no </a:t>
                </a:r>
                <a:r>
                  <a:rPr lang="es-ES_tradnl" dirty="0"/>
                  <a:t>entre </a:t>
                </a:r>
                <a14:m>
                  <m:oMath xmlns:m="http://schemas.openxmlformats.org/officeDocument/2006/math">
                    <m:r>
                      <a:rPr lang="es-ES_tradnl" sz="3200" b="0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s-ES_tradnl" dirty="0">
                        <a:latin typeface="Cambria Math" panose="02040503050406030204" pitchFamily="18" charset="0"/>
                      </a:rPr>
                      <m:t>= 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s-ES_tradnl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ES_tradnl" dirty="0">
                  <a:latin typeface="Gill Sans Nova Light" panose="020B0302020104020203" pitchFamily="34" charset="0"/>
                </a:endParaRPr>
              </a:p>
              <a:p>
                <a:r>
                  <a:rPr lang="es-ES_tradnl" dirty="0"/>
                  <a:t>Si hay una relación, determinamos </a:t>
                </a:r>
                <a:r>
                  <a:rPr lang="es-ES_tradnl" dirty="0">
                    <a:solidFill>
                      <a:srgbClr val="002060"/>
                    </a:solidFill>
                  </a:rPr>
                  <a:t>qué tan grande</a:t>
                </a:r>
                <a:r>
                  <a:rPr lang="es-ES_tradnl" dirty="0"/>
                  <a:t> es dicha relación</a:t>
                </a:r>
              </a:p>
              <a:p>
                <a:r>
                  <a:rPr lang="es-ES_tradnl" dirty="0"/>
                  <a:t>Podemos evaluar </a:t>
                </a:r>
                <a:r>
                  <a:rPr lang="es-ES_tradnl" dirty="0">
                    <a:solidFill>
                      <a:srgbClr val="002060"/>
                    </a:solidFill>
                  </a:rPr>
                  <a:t>qué tan buenos </a:t>
                </a:r>
                <a:r>
                  <a:rPr lang="es-ES_tradnl" dirty="0"/>
                  <a:t>somos prediciendo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endParaRPr lang="es-ES_tradnl" dirty="0"/>
              </a:p>
              <a:p>
                <a:r>
                  <a:rPr lang="es-ES_tradnl" dirty="0"/>
                  <a:t>Podemos transformar los predictores para considerar </a:t>
                </a:r>
                <a:r>
                  <a:rPr lang="es-ES_tradnl" dirty="0">
                    <a:solidFill>
                      <a:srgbClr val="002060"/>
                    </a:solidFill>
                  </a:rPr>
                  <a:t>relaciones no lineales</a:t>
                </a:r>
              </a:p>
              <a:p>
                <a:endParaRPr lang="es-ES_tradnl" dirty="0"/>
              </a:p>
              <a:p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1205CE-CE25-AF0E-8937-FD3543E817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r="-8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DEE4E-1FB8-B62A-F83A-B7663B1B0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097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35D3-D2D8-8CE9-7E34-71C2EDF3D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Regresión Formalmente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237D6-CECF-D918-3787-01AC784B8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3.1</a:t>
            </a:r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182F3-43B5-E9FA-3D46-B91FB310F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97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Regresión Lineal: Motivación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s-ES_tradnl" sz="3600" dirty="0"/>
                  <a:t>Modelo</a:t>
                </a:r>
                <a:endParaRPr lang="en-US" sz="3600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s-ES_tradnl" sz="3600" dirty="0"/>
                  <a:t>	</a:t>
                </a:r>
              </a:p>
              <a:p>
                <a:pPr marL="0" indent="0" algn="ctr">
                  <a:lnSpc>
                    <a:spcPct val="110000"/>
                  </a:lnSpc>
                  <a:buNone/>
                </a:pPr>
                <a:endParaRPr lang="es-ES_tradnl" sz="3600" dirty="0"/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s-ES_tradnl" sz="3200" dirty="0"/>
                  <a:t> es la parte </a:t>
                </a:r>
                <a:r>
                  <a:rPr lang="es-ES_tradnl" sz="3200" dirty="0">
                    <a:solidFill>
                      <a:srgbClr val="002060"/>
                    </a:solidFill>
                  </a:rPr>
                  <a:t>sistemática</a:t>
                </a:r>
                <a:r>
                  <a:rPr lang="es-ES_tradnl" sz="3200" dirty="0"/>
                  <a:t> y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s-ES_tradnl" sz="3200" dirty="0"/>
                  <a:t> la </a:t>
                </a:r>
                <a:r>
                  <a:rPr lang="es-ES_tradnl" sz="3200" dirty="0">
                    <a:solidFill>
                      <a:srgbClr val="002060"/>
                    </a:solidFill>
                  </a:rPr>
                  <a:t>no</a:t>
                </a:r>
                <a:r>
                  <a:rPr lang="es-ES_tradnl" sz="3200" dirty="0"/>
                  <a:t> </a:t>
                </a:r>
                <a:r>
                  <a:rPr lang="es-ES_tradnl" sz="3200" dirty="0">
                    <a:solidFill>
                      <a:srgbClr val="002060"/>
                    </a:solidFill>
                  </a:rPr>
                  <a:t>sistemática</a:t>
                </a:r>
              </a:p>
              <a:p>
                <a:pPr lvl="1">
                  <a:lnSpc>
                    <a:spcPct val="110000"/>
                  </a:lnSpc>
                </a:pPr>
                <a:endParaRPr lang="es-ES_tradnl" sz="3200" dirty="0"/>
              </a:p>
              <a:p>
                <a:pPr>
                  <a:lnSpc>
                    <a:spcPct val="110000"/>
                  </a:lnSpc>
                </a:pPr>
                <a:r>
                  <a:rPr lang="es-ES_tradnl" sz="3600" dirty="0">
                    <a:solidFill>
                      <a:srgbClr val="00B050"/>
                    </a:solidFill>
                  </a:rPr>
                  <a:t>Objetivo</a:t>
                </a:r>
                <a:r>
                  <a:rPr lang="es-ES_tradnl" sz="3600" dirty="0"/>
                  <a:t>: </a:t>
                </a:r>
                <a:r>
                  <a:rPr lang="es-ES_tradnl" sz="3600" dirty="0">
                    <a:solidFill>
                      <a:srgbClr val="002060"/>
                    </a:solidFill>
                  </a:rPr>
                  <a:t>Aproximar</a:t>
                </a:r>
                <a:r>
                  <a:rPr lang="es-ES_tradnl" sz="3600" dirty="0"/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3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sz="3600" dirty="0"/>
                  <a:t>con la regresión lineal</a:t>
                </a:r>
              </a:p>
              <a:p>
                <a:pPr>
                  <a:lnSpc>
                    <a:spcPct val="110000"/>
                  </a:lnSpc>
                </a:pPr>
                <a:endParaRPr lang="es-ES_tradnl" sz="36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s-ES_tradnl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689" t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C8C73-0819-CD2B-9E56-7AD38050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048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1F47E-9B81-7B68-9312-78BD99951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Modelo de Regresión Múltiple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E6D0FB-B8CE-722E-6C53-3E1BA873C5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6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4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4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4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4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4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4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4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4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4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+…</m:t>
                      </m:r>
                      <m:r>
                        <a:rPr lang="en-US" sz="4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4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4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4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4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𝜈</m:t>
                      </m:r>
                    </m:oMath>
                  </m:oMathPara>
                </a14:m>
                <a:endParaRPr lang="es-ES_tradnl" sz="4400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E6D0FB-B8CE-722E-6C53-3E1BA873C5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23880-E60E-C0C2-3523-DFDACE074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57230F9-F822-742F-8D76-A44FB48C79AE}"/>
              </a:ext>
            </a:extLst>
          </p:cNvPr>
          <p:cNvGrpSpPr/>
          <p:nvPr/>
        </p:nvGrpSpPr>
        <p:grpSpPr>
          <a:xfrm>
            <a:off x="838200" y="2181661"/>
            <a:ext cx="1947864" cy="1247339"/>
            <a:chOff x="838200" y="2181661"/>
            <a:chExt cx="1947864" cy="124733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BD88732-0CA8-8BD9-7E92-AA7DA8DF5B04}"/>
                </a:ext>
              </a:extLst>
            </p:cNvPr>
            <p:cNvSpPr txBox="1"/>
            <p:nvPr/>
          </p:nvSpPr>
          <p:spPr>
            <a:xfrm>
              <a:off x="838200" y="2181661"/>
              <a:ext cx="1947864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2600" dirty="0">
                  <a:latin typeface="Gill Sans Nova Light" panose="020B0302020104020203" pitchFamily="34" charset="0"/>
                </a:rPr>
                <a:t>Variable Dependiente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A619685-D86E-8FEC-A35D-FA57BCA45618}"/>
                </a:ext>
              </a:extLst>
            </p:cNvPr>
            <p:cNvCxnSpPr/>
            <p:nvPr/>
          </p:nvCxnSpPr>
          <p:spPr>
            <a:xfrm>
              <a:off x="1700213" y="3074213"/>
              <a:ext cx="0" cy="354787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814872-4360-37BD-40B5-300F18563D3F}"/>
              </a:ext>
            </a:extLst>
          </p:cNvPr>
          <p:cNvGrpSpPr/>
          <p:nvPr/>
        </p:nvGrpSpPr>
        <p:grpSpPr>
          <a:xfrm>
            <a:off x="4748209" y="2124971"/>
            <a:ext cx="4395791" cy="1397036"/>
            <a:chOff x="4748209" y="2124971"/>
            <a:chExt cx="4395791" cy="139703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1A1025D-0113-1D38-A4A7-B003ECDAF16D}"/>
                </a:ext>
              </a:extLst>
            </p:cNvPr>
            <p:cNvSpPr txBox="1"/>
            <p:nvPr/>
          </p:nvSpPr>
          <p:spPr>
            <a:xfrm>
              <a:off x="4931568" y="2124971"/>
              <a:ext cx="2881313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2600" dirty="0">
                  <a:latin typeface="Gill Sans Nova Light" panose="020B0302020104020203" pitchFamily="34" charset="0"/>
                </a:rPr>
                <a:t>Variable Independientes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712019C-8BFF-9D05-B7C8-1C097D646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48209" y="3017523"/>
              <a:ext cx="1101333" cy="411477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1AB4259-8020-B9CF-A51E-AB3A69037BB2}"/>
                </a:ext>
              </a:extLst>
            </p:cNvPr>
            <p:cNvCxnSpPr>
              <a:cxnSpLocks/>
            </p:cNvCxnSpPr>
            <p:nvPr/>
          </p:nvCxnSpPr>
          <p:spPr>
            <a:xfrm>
              <a:off x="6372224" y="3017523"/>
              <a:ext cx="0" cy="504484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5C9B43B-9A28-8F18-2342-000FD18BEEC5}"/>
                </a:ext>
              </a:extLst>
            </p:cNvPr>
            <p:cNvCxnSpPr>
              <a:cxnSpLocks/>
            </p:cNvCxnSpPr>
            <p:nvPr/>
          </p:nvCxnSpPr>
          <p:spPr>
            <a:xfrm>
              <a:off x="6765131" y="3017523"/>
              <a:ext cx="2378869" cy="381958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2C6E460-7613-E242-C8BD-F4EA8451D369}"/>
              </a:ext>
            </a:extLst>
          </p:cNvPr>
          <p:cNvGrpSpPr/>
          <p:nvPr/>
        </p:nvGrpSpPr>
        <p:grpSpPr>
          <a:xfrm>
            <a:off x="1812132" y="4043360"/>
            <a:ext cx="1947864" cy="1283515"/>
            <a:chOff x="1812132" y="4043360"/>
            <a:chExt cx="1947864" cy="128351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D051CB7-DD73-0E5F-BD7E-6B59EFF0AFCD}"/>
                </a:ext>
              </a:extLst>
            </p:cNvPr>
            <p:cNvSpPr txBox="1"/>
            <p:nvPr/>
          </p:nvSpPr>
          <p:spPr>
            <a:xfrm>
              <a:off x="1812132" y="4434323"/>
              <a:ext cx="1947864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2600" dirty="0">
                  <a:latin typeface="Gill Sans Nova Light" panose="020B0302020104020203" pitchFamily="34" charset="0"/>
                </a:rPr>
                <a:t>Constante</a:t>
              </a:r>
            </a:p>
            <a:p>
              <a:pPr algn="ctr"/>
              <a:r>
                <a:rPr lang="es-ES_tradnl" sz="2600" dirty="0">
                  <a:latin typeface="Gill Sans Nova Light" panose="020B0302020104020203" pitchFamily="34" charset="0"/>
                </a:rPr>
                <a:t>(intercepto)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8699295-34C9-FA88-C73D-5B484DA3BB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6064" y="4043360"/>
              <a:ext cx="9525" cy="491332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2A8D231-B939-F4AE-0DD1-CEFEFBB25671}"/>
              </a:ext>
            </a:extLst>
          </p:cNvPr>
          <p:cNvGrpSpPr/>
          <p:nvPr/>
        </p:nvGrpSpPr>
        <p:grpSpPr>
          <a:xfrm>
            <a:off x="4103492" y="4009270"/>
            <a:ext cx="4507108" cy="1432070"/>
            <a:chOff x="4103492" y="4009270"/>
            <a:chExt cx="4507108" cy="143207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6BF23F6-5980-ACFB-801C-976DE35E9543}"/>
                </a:ext>
              </a:extLst>
            </p:cNvPr>
            <p:cNvSpPr txBox="1"/>
            <p:nvPr/>
          </p:nvSpPr>
          <p:spPr>
            <a:xfrm>
              <a:off x="4986335" y="4548788"/>
              <a:ext cx="1947864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2600" dirty="0">
                  <a:latin typeface="Gill Sans Nova Light" panose="020B0302020104020203" pitchFamily="34" charset="0"/>
                </a:rPr>
                <a:t>Coeficientes de pendiente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F133B3E-1FBF-C938-A50A-DBFFCDA753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40017" y="4009270"/>
              <a:ext cx="9525" cy="491332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DEF8048-4872-BD0B-F2BE-7384407319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03492" y="4043360"/>
              <a:ext cx="1604371" cy="467352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A33E50D-47EE-ECE1-825C-F7104A47E8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9633" y="4043360"/>
              <a:ext cx="2530967" cy="445483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DE215FF-23F6-A447-04D2-E81427FBEBB2}"/>
              </a:ext>
            </a:extLst>
          </p:cNvPr>
          <p:cNvGrpSpPr/>
          <p:nvPr/>
        </p:nvGrpSpPr>
        <p:grpSpPr>
          <a:xfrm>
            <a:off x="8972549" y="2181661"/>
            <a:ext cx="2881313" cy="1397036"/>
            <a:chOff x="8972549" y="2181661"/>
            <a:chExt cx="2881313" cy="139703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CD9530D-EBE1-C6F7-CEC8-0C7C67A4C163}"/>
                </a:ext>
              </a:extLst>
            </p:cNvPr>
            <p:cNvSpPr txBox="1"/>
            <p:nvPr/>
          </p:nvSpPr>
          <p:spPr>
            <a:xfrm>
              <a:off x="8972549" y="2181661"/>
              <a:ext cx="2881313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2600" dirty="0">
                  <a:latin typeface="Gill Sans Nova Light" panose="020B0302020104020203" pitchFamily="34" charset="0"/>
                </a:rPr>
                <a:t>Error </a:t>
              </a:r>
            </a:p>
            <a:p>
              <a:pPr algn="ctr"/>
              <a:r>
                <a:rPr lang="es-ES_tradnl" sz="2600" dirty="0">
                  <a:latin typeface="Gill Sans Nova Light" panose="020B0302020104020203" pitchFamily="34" charset="0"/>
                </a:rPr>
                <a:t>idiosincrático 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BB44852-FEE9-116B-B773-FB90F3113C2A}"/>
                </a:ext>
              </a:extLst>
            </p:cNvPr>
            <p:cNvCxnSpPr>
              <a:cxnSpLocks/>
            </p:cNvCxnSpPr>
            <p:nvPr/>
          </p:nvCxnSpPr>
          <p:spPr>
            <a:xfrm>
              <a:off x="10413205" y="3074213"/>
              <a:ext cx="0" cy="504484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82822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Regresión Lineal con Un predictor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s-ES_tradnl" dirty="0"/>
                  <a:t>Modelo: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s-ES_tradnl" dirty="0"/>
                  <a:t>	</a:t>
                </a:r>
              </a:p>
              <a:p>
                <a:pPr lvl="1"/>
                <a:r>
                  <a:rPr lang="es-ES_tradnl" dirty="0">
                    <a:solidFill>
                      <a:srgbClr val="002060"/>
                    </a:solidFill>
                  </a:rPr>
                  <a:t>Aproximar</a:t>
                </a:r>
                <a:r>
                  <a:rPr lang="es-ES_tradnl" dirty="0"/>
                  <a:t> con regresión lineal: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9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9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9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2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s-ES_tradnl" sz="4000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s-ES_tradnl" dirty="0"/>
                  <a:t>Estimación: por MCO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s-ES_tradnl" dirty="0"/>
                  <a:t> 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s-ES_tradnl" dirty="0"/>
                  <a:t>minimiza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pPr>
                  <a:lnSpc>
                    <a:spcPct val="11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Solución</a:t>
                </a:r>
                <a:r>
                  <a:rPr lang="es-ES_tradnl" dirty="0"/>
                  <a:t>: </a:t>
                </a:r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_tradnl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s-ES_tradnl" dirty="0"/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10000"/>
                  </a:lnSpc>
                </a:pPr>
                <a:endParaRPr lang="es-ES_tradnl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907" b="-2558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C8C73-0819-CD2B-9E56-7AD38050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70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Regresión Lineal en Notación Matricial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s-ES_tradnl" dirty="0"/>
                  <a:t>Modelo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s-ES_tradnl" dirty="0"/>
                  <a:t>	</a:t>
                </a:r>
              </a:p>
              <a:p>
                <a:pPr lvl="1"/>
                <a:r>
                  <a:rPr lang="es-ES_tradnl" dirty="0">
                    <a:solidFill>
                      <a:srgbClr val="002060"/>
                    </a:solidFill>
                  </a:rPr>
                  <a:t>Aproximar</a:t>
                </a:r>
                <a:r>
                  <a:rPr lang="es-ES_tradnl" dirty="0"/>
                  <a:t> con regresión lineal: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9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9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9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2900" b="0" dirty="0">
                  <a:solidFill>
                    <a:schemeClr val="tx1"/>
                  </a:solidFill>
                </a:endParaRPr>
              </a:p>
              <a:p>
                <a:r>
                  <a:rPr lang="es-ES_tradnl" dirty="0"/>
                  <a:t>Estimación: por MCO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s-ES_tradnl" dirty="0"/>
                  <a:t> 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s-ES_tradnl" dirty="0"/>
                  <a:t>minimiza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pPr>
                  <a:lnSpc>
                    <a:spcPct val="11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Solución</a:t>
                </a:r>
                <a:r>
                  <a:rPr lang="es-ES_tradnl" dirty="0"/>
                  <a:t>: </a:t>
                </a:r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	</a:t>
                </a:r>
              </a:p>
              <a:p>
                <a:pPr>
                  <a:lnSpc>
                    <a:spcPct val="110000"/>
                  </a:lnSpc>
                </a:pPr>
                <a:endParaRPr lang="es-ES_tradnl" dirty="0"/>
              </a:p>
              <a:p>
                <a:pPr>
                  <a:lnSpc>
                    <a:spcPct val="110000"/>
                  </a:lnSpc>
                </a:pPr>
                <a:endParaRPr lang="es-ES_tradnl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1453" b="-17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C8C73-0819-CD2B-9E56-7AD38050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847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DF5AA-0837-26C5-6FAE-2FB8EA130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Representación Gráfica de MCO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B3966-B35C-7586-65AC-68834CFAD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13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CBE63DE-11B8-2CD4-0B44-AACDA7EB2B62}"/>
              </a:ext>
            </a:extLst>
          </p:cNvPr>
          <p:cNvCxnSpPr>
            <a:cxnSpLocks/>
          </p:cNvCxnSpPr>
          <p:nvPr/>
        </p:nvCxnSpPr>
        <p:spPr>
          <a:xfrm>
            <a:off x="3252866" y="5456420"/>
            <a:ext cx="581618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CF5D4C6-A333-2068-759D-7801378ADB63}"/>
              </a:ext>
            </a:extLst>
          </p:cNvPr>
          <p:cNvCxnSpPr>
            <a:cxnSpLocks/>
          </p:cNvCxnSpPr>
          <p:nvPr/>
        </p:nvCxnSpPr>
        <p:spPr>
          <a:xfrm flipV="1">
            <a:off x="3255365" y="1825052"/>
            <a:ext cx="0" cy="36750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67FA42C-59CF-6313-6A07-84DE7F19BA5D}"/>
              </a:ext>
            </a:extLst>
          </p:cNvPr>
          <p:cNvSpPr txBox="1"/>
          <p:nvPr/>
        </p:nvSpPr>
        <p:spPr>
          <a:xfrm>
            <a:off x="1379094" y="1948721"/>
            <a:ext cx="16788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latin typeface="Gill Sans Nova Light" panose="020B0302020104020203" pitchFamily="34" charset="0"/>
              </a:rPr>
              <a:t>Ad </a:t>
            </a:r>
            <a:r>
              <a:rPr lang="es-ES_tradnl" sz="2800" dirty="0" err="1">
                <a:latin typeface="Gill Sans Nova Light" panose="020B0302020104020203" pitchFamily="34" charset="0"/>
              </a:rPr>
              <a:t>Spending</a:t>
            </a:r>
            <a:endParaRPr lang="es-ES_tradnl" sz="2800" dirty="0">
              <a:latin typeface="Gill Sans Nova Light" panose="020B03020201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1CB399-6399-A67C-F3F6-8FCEFA941CB9}"/>
              </a:ext>
            </a:extLst>
          </p:cNvPr>
          <p:cNvSpPr txBox="1"/>
          <p:nvPr/>
        </p:nvSpPr>
        <p:spPr>
          <a:xfrm>
            <a:off x="8334530" y="5721719"/>
            <a:ext cx="1678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latin typeface="Gill Sans Nova Light" panose="020B0302020104020203" pitchFamily="34" charset="0"/>
              </a:rPr>
              <a:t>Población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B9098C8-8781-D9C3-CF4F-AF52083E4A95}"/>
              </a:ext>
            </a:extLst>
          </p:cNvPr>
          <p:cNvSpPr/>
          <p:nvPr/>
        </p:nvSpPr>
        <p:spPr>
          <a:xfrm>
            <a:off x="4107064" y="4709471"/>
            <a:ext cx="74950" cy="8994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98D6B6E-C5CD-ADC3-8C6F-93E96867162F}"/>
              </a:ext>
            </a:extLst>
          </p:cNvPr>
          <p:cNvSpPr/>
          <p:nvPr/>
        </p:nvSpPr>
        <p:spPr>
          <a:xfrm>
            <a:off x="5007949" y="4227050"/>
            <a:ext cx="74950" cy="8994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2471145-C4A6-A41A-37BE-EB7DE05C09F0}"/>
              </a:ext>
            </a:extLst>
          </p:cNvPr>
          <p:cNvSpPr/>
          <p:nvPr/>
        </p:nvSpPr>
        <p:spPr>
          <a:xfrm>
            <a:off x="5082899" y="3065168"/>
            <a:ext cx="74950" cy="8994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05654B5-3858-4E55-B896-67666567E9EB}"/>
              </a:ext>
            </a:extLst>
          </p:cNvPr>
          <p:cNvSpPr/>
          <p:nvPr/>
        </p:nvSpPr>
        <p:spPr>
          <a:xfrm>
            <a:off x="4571837" y="4052464"/>
            <a:ext cx="74950" cy="8994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5FDA3CA-58E3-EEF4-9BE2-C483A20B5701}"/>
              </a:ext>
            </a:extLst>
          </p:cNvPr>
          <p:cNvSpPr/>
          <p:nvPr/>
        </p:nvSpPr>
        <p:spPr>
          <a:xfrm>
            <a:off x="6298286" y="2797282"/>
            <a:ext cx="74950" cy="8994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680D50A-5165-23BD-2E73-5A26A1E114DE}"/>
              </a:ext>
            </a:extLst>
          </p:cNvPr>
          <p:cNvSpPr/>
          <p:nvPr/>
        </p:nvSpPr>
        <p:spPr>
          <a:xfrm>
            <a:off x="5730515" y="3384029"/>
            <a:ext cx="74950" cy="8994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EC9295-6FDE-5E58-C25F-BEDE093EF932}"/>
              </a:ext>
            </a:extLst>
          </p:cNvPr>
          <p:cNvSpPr/>
          <p:nvPr/>
        </p:nvSpPr>
        <p:spPr>
          <a:xfrm>
            <a:off x="4144538" y="4009951"/>
            <a:ext cx="74950" cy="8994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1D65CBF-8BE6-9081-9E43-6AC0447693D3}"/>
              </a:ext>
            </a:extLst>
          </p:cNvPr>
          <p:cNvSpPr/>
          <p:nvPr/>
        </p:nvSpPr>
        <p:spPr>
          <a:xfrm>
            <a:off x="4931439" y="3647049"/>
            <a:ext cx="74950" cy="8994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A0473FE-EB86-81F4-762C-A792E9743EC4}"/>
              </a:ext>
            </a:extLst>
          </p:cNvPr>
          <p:cNvSpPr/>
          <p:nvPr/>
        </p:nvSpPr>
        <p:spPr>
          <a:xfrm>
            <a:off x="6052986" y="2510305"/>
            <a:ext cx="74950" cy="8994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6ED3737-157C-F6EC-23D6-11052159D67E}"/>
              </a:ext>
            </a:extLst>
          </p:cNvPr>
          <p:cNvSpPr/>
          <p:nvPr/>
        </p:nvSpPr>
        <p:spPr>
          <a:xfrm>
            <a:off x="5617521" y="3177563"/>
            <a:ext cx="74950" cy="8994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7AA94F6-C0B1-DB0D-53C8-142EAC86AA0C}"/>
              </a:ext>
            </a:extLst>
          </p:cNvPr>
          <p:cNvSpPr/>
          <p:nvPr/>
        </p:nvSpPr>
        <p:spPr>
          <a:xfrm>
            <a:off x="5348990" y="3365147"/>
            <a:ext cx="74950" cy="8994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36C1E4A-7DB5-A795-0DE2-1375F61B67BD}"/>
              </a:ext>
            </a:extLst>
          </p:cNvPr>
          <p:cNvSpPr/>
          <p:nvPr/>
        </p:nvSpPr>
        <p:spPr>
          <a:xfrm>
            <a:off x="5927359" y="2887223"/>
            <a:ext cx="74950" cy="8994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46572D2-E52F-5334-8D84-E452BE42A2FD}"/>
              </a:ext>
            </a:extLst>
          </p:cNvPr>
          <p:cNvSpPr/>
          <p:nvPr/>
        </p:nvSpPr>
        <p:spPr>
          <a:xfrm>
            <a:off x="5654996" y="4101907"/>
            <a:ext cx="74950" cy="8994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0124DF9-AAD6-5596-9EA2-692E1F28B44F}"/>
              </a:ext>
            </a:extLst>
          </p:cNvPr>
          <p:cNvSpPr/>
          <p:nvPr/>
        </p:nvSpPr>
        <p:spPr>
          <a:xfrm>
            <a:off x="5542571" y="3692019"/>
            <a:ext cx="74950" cy="8994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0B79CC4-A600-2833-841B-D36E3BFC69BB}"/>
              </a:ext>
            </a:extLst>
          </p:cNvPr>
          <p:cNvCxnSpPr>
            <a:cxnSpLocks/>
          </p:cNvCxnSpPr>
          <p:nvPr/>
        </p:nvCxnSpPr>
        <p:spPr>
          <a:xfrm flipV="1">
            <a:off x="3800475" y="2228850"/>
            <a:ext cx="2914650" cy="2570562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40B1BD9-C880-3B11-B35D-8D01264876C5}"/>
              </a:ext>
            </a:extLst>
          </p:cNvPr>
          <p:cNvSpPr txBox="1"/>
          <p:nvPr/>
        </p:nvSpPr>
        <p:spPr>
          <a:xfrm>
            <a:off x="7316225" y="4077279"/>
            <a:ext cx="1493077" cy="57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ES_tradnl" sz="2800" dirty="0">
                <a:latin typeface="Gill Sans Nova Light" panose="020B0302020104020203" pitchFamily="34" charset="0"/>
              </a:rPr>
              <a:t>¿Y PCA?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CFBB3BF-67F0-2054-312A-C134E5FD2B90}"/>
              </a:ext>
            </a:extLst>
          </p:cNvPr>
          <p:cNvCxnSpPr>
            <a:cxnSpLocks/>
          </p:cNvCxnSpPr>
          <p:nvPr/>
        </p:nvCxnSpPr>
        <p:spPr>
          <a:xfrm>
            <a:off x="5581899" y="3267504"/>
            <a:ext cx="0" cy="430599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B3F611-FD18-4EF2-305E-A8680EA5D4D3}"/>
              </a:ext>
            </a:extLst>
          </p:cNvPr>
          <p:cNvCxnSpPr>
            <a:cxnSpLocks/>
          </p:cNvCxnSpPr>
          <p:nvPr/>
        </p:nvCxnSpPr>
        <p:spPr>
          <a:xfrm>
            <a:off x="5041829" y="3736990"/>
            <a:ext cx="0" cy="46584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6C458E5-AB97-75B9-3D15-EE036B250E7C}"/>
              </a:ext>
            </a:extLst>
          </p:cNvPr>
          <p:cNvCxnSpPr>
            <a:cxnSpLocks/>
          </p:cNvCxnSpPr>
          <p:nvPr/>
        </p:nvCxnSpPr>
        <p:spPr>
          <a:xfrm>
            <a:off x="5122409" y="3168729"/>
            <a:ext cx="0" cy="430599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422D50-31B3-5E65-FC7A-1A8B4E796E8C}"/>
              </a:ext>
            </a:extLst>
          </p:cNvPr>
          <p:cNvGrpSpPr/>
          <p:nvPr/>
        </p:nvGrpSpPr>
        <p:grpSpPr>
          <a:xfrm>
            <a:off x="3919911" y="2927057"/>
            <a:ext cx="1116879" cy="771046"/>
            <a:chOff x="3919911" y="2927057"/>
            <a:chExt cx="1116879" cy="7710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D9DF6CE-3308-B9BC-85E8-2AAD8E96CC81}"/>
                    </a:ext>
                  </a:extLst>
                </p:cNvPr>
                <p:cNvSpPr txBox="1"/>
                <p:nvPr/>
              </p:nvSpPr>
              <p:spPr>
                <a:xfrm>
                  <a:off x="3919911" y="2927057"/>
                  <a:ext cx="1116879" cy="707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s-ES_tradnl" sz="4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4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s-ES_tradnl" sz="40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D9DF6CE-3308-B9BC-85E8-2AAD8E96CC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9911" y="2927057"/>
                  <a:ext cx="1116879" cy="707886"/>
                </a:xfrm>
                <a:prstGeom prst="rect">
                  <a:avLst/>
                </a:prstGeom>
                <a:blipFill>
                  <a:blip r:embed="rId2"/>
                  <a:stretch>
                    <a:fillRect t="-5263" b="-7018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Left Brace 28">
              <a:extLst>
                <a:ext uri="{FF2B5EF4-FFF2-40B4-BE49-F238E27FC236}">
                  <a16:creationId xmlns:a16="http://schemas.microsoft.com/office/drawing/2014/main" id="{833DE157-B41B-DE6F-53C9-FC17E8603310}"/>
                </a:ext>
              </a:extLst>
            </p:cNvPr>
            <p:cNvSpPr/>
            <p:nvPr/>
          </p:nvSpPr>
          <p:spPr>
            <a:xfrm>
              <a:off x="4756094" y="3065169"/>
              <a:ext cx="254075" cy="632934"/>
            </a:xfrm>
            <a:prstGeom prst="leftBrace">
              <a:avLst/>
            </a:prstGeom>
            <a:noFill/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1DE58C5-1679-A8C0-78D8-C32F5A066280}"/>
              </a:ext>
            </a:extLst>
          </p:cNvPr>
          <p:cNvSpPr txBox="1"/>
          <p:nvPr/>
        </p:nvSpPr>
        <p:spPr>
          <a:xfrm>
            <a:off x="7316225" y="1703338"/>
            <a:ext cx="3124947" cy="1096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ES_tradnl" sz="2800" dirty="0">
                <a:latin typeface="Gill Sans Nova Light" panose="020B0302020104020203" pitchFamily="34" charset="0"/>
              </a:rPr>
              <a:t>MCO: </a:t>
            </a:r>
            <a:r>
              <a:rPr lang="es-ES_tradnl" sz="2800" dirty="0">
                <a:solidFill>
                  <a:srgbClr val="002060"/>
                </a:solidFill>
                <a:latin typeface="Gill Sans Nova Light" panose="020B0302020104020203" pitchFamily="34" charset="0"/>
              </a:rPr>
              <a:t>Distancia vertical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6C0E5B-CA3D-8940-1E36-40B01C42CCA8}"/>
              </a:ext>
            </a:extLst>
          </p:cNvPr>
          <p:cNvSpPr txBox="1"/>
          <p:nvPr/>
        </p:nvSpPr>
        <p:spPr>
          <a:xfrm>
            <a:off x="7316567" y="2965812"/>
            <a:ext cx="38754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800" dirty="0">
                <a:solidFill>
                  <a:srgbClr val="00B050"/>
                </a:solidFill>
                <a:latin typeface="Gill Sans Nova Light" panose="020B0302020104020203" pitchFamily="34" charset="0"/>
              </a:rPr>
              <a:t>Línea verde</a:t>
            </a:r>
            <a:r>
              <a:rPr lang="es-ES_tradnl" sz="2800" dirty="0">
                <a:latin typeface="Gill Sans Nova Light" panose="020B0302020104020203" pitchFamily="34" charset="0"/>
              </a:rPr>
              <a:t>: regresión lineal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7FF9718-74E3-AA62-1E36-55682A2CEF76}"/>
                  </a:ext>
                </a:extLst>
              </p:cNvPr>
              <p:cNvSpPr txBox="1"/>
              <p:nvPr/>
            </p:nvSpPr>
            <p:spPr>
              <a:xfrm>
                <a:off x="4935732" y="3451723"/>
                <a:ext cx="734519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sz="40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40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40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s-ES_tradnl" sz="4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7FF9718-74E3-AA62-1E36-55682A2CE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732" y="3451723"/>
                <a:ext cx="734519" cy="707886"/>
              </a:xfrm>
              <a:prstGeom prst="rect">
                <a:avLst/>
              </a:prstGeom>
              <a:blipFill>
                <a:blip r:embed="rId3"/>
                <a:stretch>
                  <a:fillRect l="-3390" t="-5263" b="-1578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E7B8CFE-45EA-81EE-A2F4-2324211BA7B9}"/>
                  </a:ext>
                </a:extLst>
              </p:cNvPr>
              <p:cNvSpPr txBox="1"/>
              <p:nvPr/>
            </p:nvSpPr>
            <p:spPr>
              <a:xfrm>
                <a:off x="4840475" y="2269278"/>
                <a:ext cx="734519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ES_tradnl" sz="40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E7B8CFE-45EA-81EE-A2F4-2324211BA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0475" y="2269278"/>
                <a:ext cx="734519" cy="707886"/>
              </a:xfrm>
              <a:prstGeom prst="rect">
                <a:avLst/>
              </a:prstGeom>
              <a:blipFill>
                <a:blip r:embed="rId4"/>
                <a:stretch>
                  <a:fillRect l="-5085" b="-1578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8050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47656-2E3C-C961-8115-F6AAFBF28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la minimización de residuos I</a:t>
            </a:r>
          </a:p>
        </p:txBody>
      </p:sp>
      <p:pic>
        <p:nvPicPr>
          <p:cNvPr id="6" name="Content Placeholder 5" descr="A diagram of 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E321A5D9-9728-4EAF-4E86-E05345609F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4974" y="1825625"/>
            <a:ext cx="8382051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DB24E-7A79-5BF3-CD7A-926A28E37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0F665E-532F-21A3-EB24-0B427E89BA34}"/>
              </a:ext>
            </a:extLst>
          </p:cNvPr>
          <p:cNvSpPr txBox="1"/>
          <p:nvPr/>
        </p:nvSpPr>
        <p:spPr>
          <a:xfrm>
            <a:off x="10290654" y="5494945"/>
            <a:ext cx="1120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ISLP p.73</a:t>
            </a:r>
          </a:p>
        </p:txBody>
      </p:sp>
    </p:spTree>
    <p:extLst>
      <p:ext uri="{BB962C8B-B14F-4D97-AF65-F5344CB8AC3E}">
        <p14:creationId xmlns:p14="http://schemas.microsoft.com/office/powerpoint/2010/main" val="4222313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616" y="365125"/>
            <a:ext cx="10769184" cy="1325563"/>
          </a:xfrm>
        </p:spPr>
        <p:txBody>
          <a:bodyPr/>
          <a:lstStyle/>
          <a:p>
            <a:r>
              <a:rPr lang="es-ES_tradnl" dirty="0"/>
              <a:t>Evaluación de la precisión de los coeficientes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s-ES_tradnl" dirty="0"/>
                  <a:t>Modelo poblacional: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s-ES_tradnl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Mejor aproximación lineal </a:t>
                </a:r>
                <a:r>
                  <a:rPr lang="es-ES_tradnl" dirty="0"/>
                  <a:t>de </a:t>
                </a:r>
                <a:r>
                  <a:rPr lang="es-ES_tradnl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s-ES_tradnl" i="1" dirty="0">
                    <a:latin typeface="Cambria Math" panose="02040503050406030204" pitchFamily="18" charset="0"/>
                  </a:rPr>
                  <a:t> </a:t>
                </a:r>
                <a:r>
                  <a:rPr lang="es-ES_tradnl" dirty="0"/>
                  <a:t>(</a:t>
                </a:r>
                <a:r>
                  <a:rPr lang="es-ES_tradnl" dirty="0">
                    <a:solidFill>
                      <a:srgbClr val="002060"/>
                    </a:solidFill>
                  </a:rPr>
                  <a:t>Sec. 3.1.2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Angrist</a:t>
                </a:r>
                <a:r>
                  <a:rPr lang="es-ES_tradnl" dirty="0">
                    <a:solidFill>
                      <a:srgbClr val="002060"/>
                    </a:solidFill>
                  </a:rPr>
                  <a:t> &amp;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Pischke</a:t>
                </a:r>
                <a:r>
                  <a:rPr lang="es-ES_tradnl" dirty="0"/>
                  <a:t>)</a:t>
                </a:r>
                <a:endParaRPr lang="es-ES_tradnl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60000"/>
                  </a:lnSpc>
                </a:pPr>
                <a:r>
                  <a:rPr lang="es-ES_tradnl" dirty="0"/>
                  <a:t>Suponemos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s-ES_tradnl" i="1" dirty="0">
                    <a:latin typeface="Cambria Math" panose="02040503050406030204" pitchFamily="18" charset="0"/>
                  </a:rPr>
                  <a:t> </a:t>
                </a:r>
                <a:r>
                  <a:rPr lang="es-ES_tradnl" dirty="0"/>
                  <a:t>independiente de </a:t>
                </a:r>
                <a:r>
                  <a:rPr lang="es-ES_tradnl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60000"/>
                  </a:lnSpc>
                </a:pPr>
                <a:r>
                  <a:rPr lang="es-ES_tradnl" dirty="0"/>
                  <a:t>Ejemplo: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=2+3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s-ES_tradnl" i="1" dirty="0">
                    <a:latin typeface="Cambria Math" panose="02040503050406030204" pitchFamily="18" charset="0"/>
                  </a:rPr>
                  <a:t>, </a:t>
                </a:r>
                <a:r>
                  <a:rPr lang="es-ES_tradnl" dirty="0"/>
                  <a:t>100 obs aleatorias</a:t>
                </a:r>
                <a:endParaRPr lang="es-ES_tradnl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60000"/>
                  </a:lnSpc>
                </a:pPr>
                <a:endParaRPr lang="es-ES_tradnl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60000"/>
                  </a:lnSpc>
                  <a:buNone/>
                </a:pPr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  <a:p>
                <a:pPr marL="0" indent="0">
                  <a:lnSpc>
                    <a:spcPct val="16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C8C73-0819-CD2B-9E56-7AD38050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794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7D52E-DBC4-21CA-AD16-8C84A0DF7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Mejor Aproximación Lineal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B541EA-462B-1235-C8EE-64D8BC928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9D5DF6-01C6-5E27-16CA-6A65F7EF4665}"/>
              </a:ext>
            </a:extLst>
          </p:cNvPr>
          <p:cNvSpPr txBox="1"/>
          <p:nvPr/>
        </p:nvSpPr>
        <p:spPr>
          <a:xfrm>
            <a:off x="10614249" y="5563871"/>
            <a:ext cx="833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p.74</a:t>
            </a:r>
          </a:p>
        </p:txBody>
      </p:sp>
      <p:pic>
        <p:nvPicPr>
          <p:cNvPr id="15" name="Content Placeholder 14" descr="A comparison of graphs with red and blue lines&#10;&#10;Description automatically generated">
            <a:extLst>
              <a:ext uri="{FF2B5EF4-FFF2-40B4-BE49-F238E27FC236}">
                <a16:creationId xmlns:a16="http://schemas.microsoft.com/office/drawing/2014/main" id="{83C4C433-5EED-F18B-B087-FF636D5AC4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9351" y="1274863"/>
            <a:ext cx="9264040" cy="4946055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FB16929-5CB8-4A0A-F208-7D854AB822C8}"/>
                  </a:ext>
                </a:extLst>
              </p:cNvPr>
              <p:cNvSpPr txBox="1"/>
              <p:nvPr/>
            </p:nvSpPr>
            <p:spPr>
              <a:xfrm>
                <a:off x="2788170" y="4557011"/>
                <a:ext cx="29380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s-ES_tradnl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=2+3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s-ES_tradnl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_tradnl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s-ES_tradnl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FB16929-5CB8-4A0A-F208-7D854AB82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8170" y="4557011"/>
                <a:ext cx="293807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D5ED3A7-0FE9-EF2A-B306-BE2F842999E7}"/>
                  </a:ext>
                </a:extLst>
              </p:cNvPr>
              <p:cNvSpPr txBox="1"/>
              <p:nvPr/>
            </p:nvSpPr>
            <p:spPr>
              <a:xfrm>
                <a:off x="6688110" y="2041317"/>
                <a:ext cx="2938073" cy="4816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s-ES_tradnl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_tradnl" sz="24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_tradnl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_tradnl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s-ES_tradnl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D5ED3A7-0FE9-EF2A-B306-BE2F84299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8110" y="2041317"/>
                <a:ext cx="2938073" cy="481670"/>
              </a:xfrm>
              <a:prstGeom prst="rect">
                <a:avLst/>
              </a:prstGeom>
              <a:blipFill>
                <a:blip r:embed="rId4"/>
                <a:stretch>
                  <a:fillRect t="-10256" b="-1538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3213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Evaluación de la precisión de los coeficientes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 algn="ctr">
                  <a:lnSpc>
                    <a:spcPct val="160000"/>
                  </a:lnSpc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	</a:t>
                </a:r>
              </a:p>
              <a:p>
                <a:pPr marL="0" indent="0" algn="ctr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V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60000"/>
                  </a:lnSpc>
                </a:pPr>
                <a:r>
                  <a:rPr lang="es-ES_tradnl" dirty="0"/>
                  <a:t>De estadística, bajo los supuestos clásicos (caso ideal)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Teorema de Gauss/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Markov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s-ES_tradnl" dirty="0"/>
                  <a:t> es </a:t>
                </a:r>
                <a:r>
                  <a:rPr lang="es-ES_tradnl" dirty="0">
                    <a:solidFill>
                      <a:srgbClr val="002060"/>
                    </a:solidFill>
                  </a:rPr>
                  <a:t>MELI</a:t>
                </a:r>
                <a:r>
                  <a:rPr lang="es-ES_tradnl" dirty="0"/>
                  <a:t> 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s-ES_tradnl" dirty="0"/>
                  <a:t>Con estimaciones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se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</m:d>
                  </m:oMath>
                </a14:m>
                <a:r>
                  <a:rPr lang="es-ES_tradnl" dirty="0"/>
                  <a:t>, hacemos inferencia y testamos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s-ES_tradnl" dirty="0"/>
              </a:p>
              <a:p>
                <a:pPr marL="0" indent="0">
                  <a:lnSpc>
                    <a:spcPct val="16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C8C73-0819-CD2B-9E56-7AD38050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782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10E4FD-2DBC-AAD4-5AD2-71B1A7DA0CE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Predictor óptimo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10E4FD-2DBC-AAD4-5AD2-71B1A7DA0C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 vector columna igual a la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ES_tradnl" dirty="0"/>
                  <a:t>-ésima fila de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                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=1, …, 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Sup>
                      <m:sSubSup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acc>
                      <m:accPr>
                        <m:chr m:val="̂"/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)=</m:t>
                    </m:r>
                    <m:sSubSup>
                      <m:sSubSup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s-ES_tradnl" b="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)=</m:t>
                    </m:r>
                    <m:sSubSup>
                      <m:sSubSup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</m:d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sSubSup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p>
                      <m:sSup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s-ES_tradnl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_tradnl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s-ES_tradnl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s-ES_tradnl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s-ES_tradnl" b="0" dirty="0"/>
              </a:p>
              <a:p>
                <a:r>
                  <a:rPr lang="es-ES_tradnl" dirty="0">
                    <a:solidFill>
                      <a:srgbClr val="7030A0"/>
                    </a:solidFill>
                  </a:rPr>
                  <a:t>Resultado 1</a:t>
                </a:r>
                <a:r>
                  <a:rPr lang="es-ES_tradnl" dirty="0"/>
                  <a:t>: si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s-ES_tradnl" b="0" dirty="0"/>
                  <a:t> es insesgado y de varianza mínima, entonces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b="0" dirty="0"/>
                  <a:t>es un </a:t>
                </a:r>
                <a:r>
                  <a:rPr lang="es-ES_tradnl" b="0" dirty="0">
                    <a:solidFill>
                      <a:srgbClr val="002060"/>
                    </a:solidFill>
                  </a:rPr>
                  <a:t>predictor insesgado </a:t>
                </a:r>
                <a:r>
                  <a:rPr lang="es-ES_tradnl" b="0" dirty="0"/>
                  <a:t>de </a:t>
                </a:r>
                <a:r>
                  <a:rPr lang="es-ES_tradnl" b="0" dirty="0">
                    <a:solidFill>
                      <a:srgbClr val="002060"/>
                    </a:solidFill>
                  </a:rPr>
                  <a:t>varianza mínima</a:t>
                </a:r>
                <a:r>
                  <a:rPr lang="es-ES_tradnl" b="0" dirty="0"/>
                  <a:t>, ambos en la </a:t>
                </a:r>
                <a:r>
                  <a:rPr lang="es-ES_tradnl" b="0" dirty="0">
                    <a:solidFill>
                      <a:srgbClr val="002060"/>
                    </a:solidFill>
                  </a:rPr>
                  <a:t>clase de estimadores</a:t>
                </a:r>
                <a:r>
                  <a:rPr lang="es-ES_tradnl" dirty="0">
                    <a:solidFill>
                      <a:srgbClr val="002060"/>
                    </a:solidFill>
                  </a:rPr>
                  <a:t>/predictores lineales e insesgados</a:t>
                </a:r>
                <a:r>
                  <a:rPr lang="es-ES_tradnl" dirty="0"/>
                  <a:t>. (</a:t>
                </a:r>
                <a:r>
                  <a:rPr lang="es-ES_tradnl" dirty="0">
                    <a:hlinkClick r:id="rId3" action="ppaction://hlinksldjump"/>
                  </a:rPr>
                  <a:t>Apéndice</a:t>
                </a:r>
                <a:r>
                  <a:rPr lang="es-ES_tradnl" dirty="0"/>
                  <a:t>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b="0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603" r="-36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4FF6B-51BF-F700-3A94-38DDEDC2B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597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73B99-3D7E-3E84-6DC1-2CB9E720B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 la Práctica, evaluamos la predicción con…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F3A00-E5F7-EB3B-7E9A-E9C6312040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s-ES_tradnl" dirty="0"/>
                  <a:t>RSE (residual standard error)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li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𝑅𝑆𝑆</m:t>
                        </m:r>
                      </m:e>
                    </m:rad>
                  </m:oMath>
                </a14:m>
                <a:endParaRPr lang="es-ES_tradnl" dirty="0"/>
              </a:p>
              <a:p>
                <a:pPr lvl="1"/>
                <a:r>
                  <a:rPr lang="es-ES_tradnl" dirty="0"/>
                  <a:t>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𝑅𝑆𝑆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s-ES_tradnl" dirty="0"/>
              </a:p>
              <a:p>
                <a:pPr lvl="1"/>
                <a:r>
                  <a:rPr lang="es-ES_tradnl" dirty="0"/>
                  <a:t>¿Interpretamos? Los verdaderos valores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 se desvían de la </a:t>
                </a:r>
                <a:r>
                  <a:rPr lang="es-ES_tradnl" dirty="0">
                    <a:solidFill>
                      <a:srgbClr val="002060"/>
                    </a:solidFill>
                  </a:rPr>
                  <a:t>verdadera línea de regresión </a:t>
                </a:r>
                <a:r>
                  <a:rPr lang="es-ES_tradnl" dirty="0"/>
                  <a:t>en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 en promedio (unidades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_tradnl" dirty="0"/>
                  <a:t>)</a:t>
                </a:r>
              </a:p>
              <a:p>
                <a:pPr lvl="1"/>
                <a:r>
                  <a:rPr lang="es-ES_tradnl" dirty="0"/>
                  <a:t>Medida de la falta de ajuste del modelo a los datos (</a:t>
                </a:r>
                <a:r>
                  <a:rPr lang="es-ES_tradnl" i="1" dirty="0" err="1"/>
                  <a:t>lack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of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fit</a:t>
                </a:r>
                <a:r>
                  <a:rPr lang="es-ES_tradnl" dirty="0"/>
                  <a:t>)</a:t>
                </a:r>
              </a:p>
              <a:p>
                <a:pPr lvl="2"/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, entonces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FF0000"/>
                    </a:solidFill>
                  </a:rPr>
                  <a:t>pequeño</a:t>
                </a:r>
              </a:p>
              <a:p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F3A00-E5F7-EB3B-7E9A-E9C6312040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125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8FC2F-F97A-DC13-C495-9F0572B5E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88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2D2BE23-8A82-477F-431B-D8A3704C3E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Ilustración de la predicción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s-ES_tradnl" dirty="0"/>
                  <a:t> y varianza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2D2BE23-8A82-477F-431B-D8A3704C3E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diagram of a graph&#10;&#10;Description automatically generated">
            <a:extLst>
              <a:ext uri="{FF2B5EF4-FFF2-40B4-BE49-F238E27FC236}">
                <a16:creationId xmlns:a16="http://schemas.microsoft.com/office/drawing/2014/main" id="{125876B2-15C3-8F46-79B6-52B59B74CA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93199" y="1690688"/>
            <a:ext cx="7771843" cy="448627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F10F3-AE07-AA79-9430-089233D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065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73B99-3D7E-3E84-6DC1-2CB9E720B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 la Práctica, evaluamos la predicción con…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F3A00-E5F7-EB3B-7E9A-E9C6312040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/>
                  <a:t>Conocido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𝑇𝑆𝑆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𝑅𝑆𝑆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𝑇𝑆𝑆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𝑅𝑆𝑆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𝑇𝑆𝑆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s-ES_tradnl" dirty="0"/>
              </a:p>
              <a:p>
                <a:r>
                  <a:rPr lang="es-ES_tradnl" dirty="0"/>
                  <a:t>¿Interpretación?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F3A00-E5F7-EB3B-7E9A-E9C6312040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8FC2F-F97A-DC13-C495-9F0572B5E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3440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35D3-D2D8-8CE9-7E34-71C2EDF3D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Predicción y</a:t>
            </a:r>
            <a:br>
              <a:rPr lang="es-ES_tradnl" dirty="0"/>
            </a:b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Error cuadrático medio (ECM)</a:t>
            </a:r>
            <a:endParaRPr lang="es-ES_trad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237D6-CECF-D918-3787-01AC784B8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References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Chapter 2.2. </a:t>
            </a:r>
            <a:r>
              <a:rPr lang="en-US" dirty="0" err="1"/>
              <a:t>en</a:t>
            </a:r>
            <a:r>
              <a:rPr lang="en-US" dirty="0"/>
              <a:t> JAMES, G., WITTEN, D., HASTIE, T. U TIBSHIRANI, T. (2014) </a:t>
            </a:r>
            <a:r>
              <a:rPr lang="en-US" i="1" dirty="0"/>
              <a:t>An Introduction to Statistical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Chapter 2.9 </a:t>
            </a:r>
            <a:r>
              <a:rPr lang="en-US" dirty="0" err="1"/>
              <a:t>en</a:t>
            </a:r>
            <a:r>
              <a:rPr lang="en-US" dirty="0"/>
              <a:t>  HASTIE, T., TIBSHIRANI, T. Y FREEDMAN, J. (2013) </a:t>
            </a:r>
            <a:r>
              <a:rPr lang="en-US" i="1" dirty="0"/>
              <a:t>The Elements of Statistical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i="1" dirty="0"/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8A8F5-B881-1349-5E0E-463B56DE4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5505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Error Cuadrático Medio (ECM)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s-ES_tradnl" dirty="0"/>
                  <a:t>Modelo poblacional: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s-ES_tradnl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s-ES_tradnl" dirty="0">
                    <a:solidFill>
                      <a:srgbClr val="FF0000"/>
                    </a:solidFill>
                  </a:rPr>
                  <a:t>Idea</a:t>
                </a:r>
                <a:r>
                  <a:rPr lang="es-ES_tradnl" dirty="0"/>
                  <a:t>: predecir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requiere estimar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s-ES_tradnl" dirty="0"/>
              </a:p>
              <a:p>
                <a:r>
                  <a:rPr lang="es-ES_tradnl" dirty="0"/>
                  <a:t>Error cuadrático medio: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𝐸𝐶𝑀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(1)</m:t>
                      </m:r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Quien es variable aleatoria en (1)</a:t>
                </a:r>
                <a:r>
                  <a:rPr lang="en-US" dirty="0"/>
                  <a:t>?</a:t>
                </a:r>
                <a:endParaRPr lang="es-ES_tradnl" dirty="0"/>
              </a:p>
              <a:p>
                <a:r>
                  <a:rPr lang="es-ES_tradnl" dirty="0"/>
                  <a:t>Recordar: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𝑆𝑒𝑠𝑔𝑜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b="-29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89711-C709-D516-FEC2-675E29EC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585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EA01A-A9C2-F50E-2E94-C02409B51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5EAEC-074C-8F63-B37B-762BEDBB9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Descomposición sesgo-varianza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14EF8-9A10-DEE7-2100-9893374825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𝐸𝐶𝑀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𝑆𝑒𝑠𝑔</m:t>
                      </m:r>
                      <m:sSup>
                        <m:sSup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p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(2)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200000"/>
                  </a:lnSpc>
                  <a:buNone/>
                </a:pPr>
                <a:endParaRPr lang="es-ES_tradnl" sz="1200" dirty="0"/>
              </a:p>
              <a:p>
                <a:pPr>
                  <a:lnSpc>
                    <a:spcPct val="100000"/>
                  </a:lnSpc>
                </a:pPr>
                <a:r>
                  <a:rPr lang="es-ES_tradnl" dirty="0">
                    <a:solidFill>
                      <a:srgbClr val="7030A0"/>
                    </a:solidFill>
                  </a:rPr>
                  <a:t>Tarea: </a:t>
                </a:r>
                <a:r>
                  <a:rPr lang="es-ES_tradnl" dirty="0"/>
                  <a:t>Obtener la expresión (2)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s-ES_tradnl" i="1" dirty="0"/>
                  <a:t>Hint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𝑆𝑒𝑠𝑔𝑜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s-ES_tradnl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Intuición</a:t>
                </a:r>
                <a:r>
                  <a:rPr lang="es-ES_tradnl" dirty="0"/>
                  <a:t>: </a:t>
                </a:r>
              </a:p>
              <a:p>
                <a:pPr marL="457200" lvl="1" indent="0" algn="ctr">
                  <a:lnSpc>
                    <a:spcPct val="100000"/>
                  </a:lnSpc>
                  <a:buNone/>
                </a:pPr>
                <a:r>
                  <a:rPr lang="es-ES_tradnl" dirty="0"/>
                  <a:t>Cuán mal predice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s-ES_tradnl" dirty="0"/>
                  <a:t> depende de cuán </a:t>
                </a:r>
                <a:r>
                  <a:rPr lang="es-ES_tradnl" dirty="0">
                    <a:solidFill>
                      <a:srgbClr val="0070C0"/>
                    </a:solidFill>
                  </a:rPr>
                  <a:t>descentrado</a:t>
                </a:r>
                <a:r>
                  <a:rPr lang="es-ES_tradnl" dirty="0"/>
                  <a:t> está en relación a la verdad (</a:t>
                </a:r>
                <a:r>
                  <a:rPr lang="es-ES_tradnl" dirty="0">
                    <a:solidFill>
                      <a:srgbClr val="002060"/>
                    </a:solidFill>
                  </a:rPr>
                  <a:t>sesgo</a:t>
                </a:r>
                <a:r>
                  <a:rPr lang="es-ES_tradnl" dirty="0"/>
                  <a:t>) y cuán </a:t>
                </a:r>
                <a:r>
                  <a:rPr lang="es-ES_tradnl" dirty="0">
                    <a:solidFill>
                      <a:srgbClr val="0070C0"/>
                    </a:solidFill>
                  </a:rPr>
                  <a:t>disperso</a:t>
                </a:r>
                <a:r>
                  <a:rPr lang="es-ES_tradnl" dirty="0"/>
                  <a:t> es relación a su propio centro (varianza)</a:t>
                </a:r>
              </a:p>
              <a:p>
                <a:pPr>
                  <a:lnSpc>
                    <a:spcPct val="100000"/>
                  </a:lnSpc>
                </a:pPr>
                <a:r>
                  <a:rPr lang="es-ES_tradnl" dirty="0"/>
                  <a:t>¿Escenarios posibles?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14EF8-9A10-DEE7-2100-9893374825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b="-232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124EFC-836B-A496-5BE4-79C29675C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4941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E65CE-3653-8912-0E4D-181B4B3D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Visualización de escenarios posibles</a:t>
            </a:r>
          </a:p>
        </p:txBody>
      </p:sp>
      <p:pic>
        <p:nvPicPr>
          <p:cNvPr id="7" name="Content Placeholder 6" descr="A diagram of a diagram of a high bias&#10;&#10;Description automatically generated with medium confidence">
            <a:extLst>
              <a:ext uri="{FF2B5EF4-FFF2-40B4-BE49-F238E27FC236}">
                <a16:creationId xmlns:a16="http://schemas.microsoft.com/office/drawing/2014/main" id="{21175D07-9AE9-4AA6-A6E1-120E770E7F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71184" y="1371600"/>
            <a:ext cx="6775187" cy="50292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879FA3-2F13-4199-C194-41D3C186BFF6}"/>
              </a:ext>
            </a:extLst>
          </p:cNvPr>
          <p:cNvSpPr txBox="1"/>
          <p:nvPr/>
        </p:nvSpPr>
        <p:spPr>
          <a:xfrm>
            <a:off x="2610777" y="6293078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effectLst/>
                <a:latin typeface="CMSS8"/>
              </a:rPr>
              <a:t>Fuente: https://</a:t>
            </a:r>
            <a:r>
              <a:rPr lang="en-US" sz="800" dirty="0" err="1">
                <a:effectLst/>
                <a:latin typeface="CMSS8"/>
              </a:rPr>
              <a:t>medium.com</a:t>
            </a:r>
            <a:r>
              <a:rPr lang="en-US" sz="800" dirty="0">
                <a:effectLst/>
                <a:latin typeface="CMSS8"/>
              </a:rPr>
              <a:t>/@</a:t>
            </a:r>
            <a:r>
              <a:rPr lang="en-US" sz="800" dirty="0" err="1">
                <a:effectLst/>
                <a:latin typeface="CMSS8"/>
              </a:rPr>
              <a:t>aymantidy</a:t>
            </a:r>
            <a:r>
              <a:rPr lang="en-US" sz="800" dirty="0">
                <a:effectLst/>
                <a:latin typeface="CMSS8"/>
              </a:rPr>
              <a:t>/bias-variance-decomposition-the-story-behind </a:t>
            </a:r>
            <a:endParaRPr lang="en-US" dirty="0">
              <a:effectLst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32A55-D92D-E216-862B-7494F115C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2721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Descomposición sesgo-varianza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200000"/>
                  </a:lnSpc>
                  <a:buNone/>
                </a:pPr>
                <a:r>
                  <a:rPr lang="es-ES_tradnl" dirty="0"/>
                  <a:t>Modelo poblacional: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s-ES_tradnl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𝐸𝐶𝑀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𝑆𝑒𝑠𝑔</m:t>
                      </m:r>
                      <m:sSup>
                        <m:sSup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p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(2)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200000"/>
                  </a:lnSpc>
                  <a:buNone/>
                </a:pPr>
                <a:r>
                  <a:rPr lang="es-ES_tradnl" dirty="0"/>
                  <a:t>Modelo poblacional general: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s-ES_tradnl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200000"/>
                  </a:lnSpc>
                  <a:buNone/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𝐸𝐶𝑀</m:t>
                    </m:r>
                    <m:d>
                      <m:d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</m:d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𝑆𝑒𝑠𝑔</m:t>
                    </m:r>
                    <m:sSup>
                      <m:sSup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p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</m:d>
                    <m:r>
                      <a:rPr lang="es-ES_tradnl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(3)</m:t>
                    </m:r>
                  </m:oMath>
                </a14:m>
                <a:r>
                  <a:rPr lang="es-ES_tradnl" i="1" dirty="0">
                    <a:latin typeface="Cambria Math" panose="02040503050406030204" pitchFamily="18" charset="0"/>
                  </a:rPr>
                  <a:t> </a:t>
                </a: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5A721-AD65-8FCE-A752-0B45AB10A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6819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Error de predicción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Error de pronóstico: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¿Diferencias 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𝐸𝐶𝑀</m:t>
                    </m:r>
                  </m:oMath>
                </a14:m>
                <a:r>
                  <a:rPr lang="es-ES_tradnl" dirty="0"/>
                  <a:t>?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Modelo: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s-ES_tradnl" dirty="0"/>
                  <a:t>,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b="0" dirty="0" err="1">
                    <a:ea typeface="Cambria Math" panose="02040503050406030204" pitchFamily="18" charset="0"/>
                  </a:rPr>
                  <a:t>Suponemos</a:t>
                </a:r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7030A0"/>
                    </a:solidFill>
                  </a:rPr>
                  <a:t>Resultado 2</a:t>
                </a:r>
                <a:r>
                  <a:rPr lang="es-ES_tradnl" dirty="0"/>
                  <a:t>: el escalar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 que </a:t>
                </a:r>
                <a:r>
                  <a:rPr lang="es-ES_tradnl" dirty="0">
                    <a:solidFill>
                      <a:srgbClr val="00B050"/>
                    </a:solidFill>
                  </a:rPr>
                  <a:t>mejor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predice</a:t>
                </a: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es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ES_trad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s-ES_tradnl" dirty="0"/>
                  <a:t>(</a:t>
                </a:r>
                <a:r>
                  <a:rPr lang="es-ES_tradnl" dirty="0">
                    <a:hlinkClick r:id="rId2" action="ppaction://hlinksldjump"/>
                  </a:rPr>
                  <a:t>Apéndice</a:t>
                </a:r>
                <a:r>
                  <a:rPr lang="es-ES_tradnl" dirty="0"/>
                  <a:t>)</a:t>
                </a:r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s-ES_tradnl" i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5D835-8479-C9F8-17EA-27A2CD61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7290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B2EA1-43B9-289B-6E00-41311F6C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Del ECM al Error de predicción I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833EB-FEB7-F0E3-3E5C-B0D1D96578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Modelo: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endParaRPr lang="es-ES_tradnl" i="1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Error de pronóstico: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reemplazar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con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s-ES_tradnl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_tradnl" dirty="0"/>
                  <a:t> (una VA).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𝐸𝑟𝑟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Expresión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𝐸𝐶𝑀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833EB-FEB7-F0E3-3E5C-B0D1D96578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2A1B7-A208-B685-DBFC-937A022E2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6742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B2EA1-43B9-289B-6E00-41311F6C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Del ECM al Error de predicción II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833EB-FEB7-F0E3-3E5C-B0D1D96578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𝐸𝐶𝑀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sz="17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𝐸𝐶𝑀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𝐸𝑟𝑟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𝑆𝑒𝑠𝑔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>
                  <a:highlight>
                    <a:srgbClr val="FFFF00"/>
                  </a:highlight>
                </a:endParaRPr>
              </a:p>
              <a:p>
                <a:pPr marL="4635500" indent="0" algn="ctr">
                  <a:lnSpc>
                    <a:spcPct val="120000"/>
                  </a:lnSpc>
                  <a:buNone/>
                </a:pPr>
                <a:r>
                  <a:rPr lang="es-ES_tradnl" dirty="0"/>
                  <a:t>Error</a:t>
                </a:r>
                <a:r>
                  <a:rPr lang="es-ES_tradnl" dirty="0">
                    <a:solidFill>
                      <a:srgbClr val="002060"/>
                    </a:solidFill>
                  </a:rPr>
                  <a:t> reducible </a:t>
                </a:r>
                <a:r>
                  <a:rPr lang="es-ES_tradnl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𝐸𝐶𝑀</m:t>
                    </m:r>
                  </m:oMath>
                </a14:m>
                <a:r>
                  <a:rPr lang="es-ES_tradnl" dirty="0"/>
                  <a:t>)     Error </a:t>
                </a:r>
                <a:r>
                  <a:rPr lang="es-ES_tradnl" dirty="0">
                    <a:solidFill>
                      <a:srgbClr val="002060"/>
                    </a:solidFill>
                  </a:rPr>
                  <a:t>irreducible</a:t>
                </a:r>
                <a:r>
                  <a:rPr lang="es-ES_tradnl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)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Link predicción y estimación: </a:t>
                </a:r>
                <a:r>
                  <a:rPr lang="es-ES_tradnl" dirty="0">
                    <a:solidFill>
                      <a:srgbClr val="002060"/>
                    </a:solidFill>
                  </a:rPr>
                  <a:t>Predecir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B050"/>
                    </a:solidFill>
                  </a:rPr>
                  <a:t>correctamente</a:t>
                </a:r>
                <a:r>
                  <a:rPr lang="es-ES_tradnl" dirty="0"/>
                  <a:t> requiere </a:t>
                </a:r>
                <a:r>
                  <a:rPr lang="es-ES_tradnl" dirty="0">
                    <a:solidFill>
                      <a:srgbClr val="002060"/>
                    </a:solidFill>
                  </a:rPr>
                  <a:t>estimar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B050"/>
                    </a:solidFill>
                  </a:rPr>
                  <a:t>correctamente</a:t>
                </a:r>
                <a:r>
                  <a:rPr lang="es-ES_tradnl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833EB-FEB7-F0E3-3E5C-B0D1D96578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2A1B7-A208-B685-DBFC-937A022E2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29</a:t>
            </a:fld>
            <a:endParaRPr lang="en-US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B6722B83-7113-090D-0F79-E94930E89C54}"/>
              </a:ext>
            </a:extLst>
          </p:cNvPr>
          <p:cNvSpPr/>
          <p:nvPr/>
        </p:nvSpPr>
        <p:spPr>
          <a:xfrm rot="5400000">
            <a:off x="6938207" y="3649584"/>
            <a:ext cx="240638" cy="2470484"/>
          </a:xfrm>
          <a:prstGeom prst="righ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16122195-B473-DE6C-F13A-CF9F90C0A645}"/>
              </a:ext>
            </a:extLst>
          </p:cNvPr>
          <p:cNvSpPr/>
          <p:nvPr/>
        </p:nvSpPr>
        <p:spPr>
          <a:xfrm rot="5400000">
            <a:off x="8792369" y="4589346"/>
            <a:ext cx="234030" cy="597568"/>
          </a:xfrm>
          <a:prstGeom prst="righ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344820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0A84F-B2D0-4A31-59B9-19CBA4D56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Visualización del Trade-off Sesgo-varianza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7CD1B5-4F53-5DAB-42F2-7ECBC1A00E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Underfitting </a:t>
            </a:r>
            <a:r>
              <a:rPr lang="en-US" dirty="0"/>
              <a:t>(</a:t>
            </a:r>
            <a:r>
              <a:rPr lang="en-US" dirty="0" err="1"/>
              <a:t>lado</a:t>
            </a:r>
            <a:r>
              <a:rPr lang="en-US" dirty="0"/>
              <a:t> </a:t>
            </a:r>
            <a:r>
              <a:rPr lang="en-US" dirty="0" err="1"/>
              <a:t>izquierdo</a:t>
            </a:r>
            <a:r>
              <a:rPr lang="en-US" dirty="0"/>
              <a:t>)</a:t>
            </a:r>
          </a:p>
          <a:p>
            <a:pPr lvl="1"/>
            <a:r>
              <a:rPr lang="es-ES_tradnl" dirty="0">
                <a:solidFill>
                  <a:srgbClr val="FF0000"/>
                </a:solidFill>
              </a:rPr>
              <a:t>Alto</a:t>
            </a:r>
            <a:r>
              <a:rPr lang="es-ES_tradnl" dirty="0"/>
              <a:t> sesgo</a:t>
            </a:r>
          </a:p>
          <a:p>
            <a:pPr lvl="1"/>
            <a:r>
              <a:rPr lang="es-ES_tradnl" dirty="0">
                <a:solidFill>
                  <a:srgbClr val="00B050"/>
                </a:solidFill>
              </a:rPr>
              <a:t>Baja</a:t>
            </a:r>
            <a:r>
              <a:rPr lang="es-ES_tradnl" dirty="0"/>
              <a:t> varianza: poco robustos</a:t>
            </a:r>
          </a:p>
          <a:p>
            <a:endParaRPr lang="es-ES_tradnl" sz="1700" dirty="0">
              <a:solidFill>
                <a:srgbClr val="002060"/>
              </a:solidFill>
            </a:endParaRPr>
          </a:p>
          <a:p>
            <a:r>
              <a:rPr lang="es-ES_tradnl" dirty="0">
                <a:solidFill>
                  <a:srgbClr val="002060"/>
                </a:solidFill>
              </a:rPr>
              <a:t>Overfitting </a:t>
            </a:r>
            <a:r>
              <a:rPr lang="en-US" dirty="0"/>
              <a:t>(</a:t>
            </a:r>
            <a:r>
              <a:rPr lang="en-US" dirty="0" err="1"/>
              <a:t>lado</a:t>
            </a:r>
            <a:r>
              <a:rPr lang="en-US" dirty="0"/>
              <a:t> derecho)</a:t>
            </a:r>
            <a:endParaRPr lang="es-ES_tradnl" dirty="0">
              <a:solidFill>
                <a:srgbClr val="002060"/>
              </a:solidFill>
            </a:endParaRPr>
          </a:p>
          <a:p>
            <a:pPr lvl="1"/>
            <a:r>
              <a:rPr lang="es-ES_tradnl" dirty="0">
                <a:solidFill>
                  <a:srgbClr val="00B050"/>
                </a:solidFill>
              </a:rPr>
              <a:t>Bajo</a:t>
            </a:r>
            <a:r>
              <a:rPr lang="es-ES_tradnl" dirty="0"/>
              <a:t> sesgo</a:t>
            </a:r>
          </a:p>
          <a:p>
            <a:pPr lvl="1"/>
            <a:r>
              <a:rPr lang="es-ES_tradnl" dirty="0">
                <a:solidFill>
                  <a:srgbClr val="FF0000"/>
                </a:solidFill>
              </a:rPr>
              <a:t>Alta</a:t>
            </a:r>
            <a:r>
              <a:rPr lang="es-ES_tradnl" dirty="0"/>
              <a:t> varianza: poco robustos</a:t>
            </a:r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85155-831E-B0EA-9100-D8661D08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30</a:t>
            </a:fld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E6DA853-1984-400D-7CB2-A16813F60331}"/>
              </a:ext>
            </a:extLst>
          </p:cNvPr>
          <p:cNvCxnSpPr/>
          <p:nvPr/>
        </p:nvCxnSpPr>
        <p:spPr>
          <a:xfrm>
            <a:off x="6705600" y="5486400"/>
            <a:ext cx="445008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0B8DD8-9A82-AA54-4B8A-4AFC8B633164}"/>
              </a:ext>
            </a:extLst>
          </p:cNvPr>
          <p:cNvCxnSpPr>
            <a:cxnSpLocks/>
          </p:cNvCxnSpPr>
          <p:nvPr/>
        </p:nvCxnSpPr>
        <p:spPr>
          <a:xfrm flipV="1">
            <a:off x="6705600" y="1538288"/>
            <a:ext cx="0" cy="39481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 10">
            <a:extLst>
              <a:ext uri="{FF2B5EF4-FFF2-40B4-BE49-F238E27FC236}">
                <a16:creationId xmlns:a16="http://schemas.microsoft.com/office/drawing/2014/main" id="{F941C055-2ED5-AEAD-5A10-841467C2DF0D}"/>
              </a:ext>
            </a:extLst>
          </p:cNvPr>
          <p:cNvSpPr/>
          <p:nvPr/>
        </p:nvSpPr>
        <p:spPr>
          <a:xfrm>
            <a:off x="6979920" y="1844040"/>
            <a:ext cx="3749040" cy="1584959"/>
          </a:xfrm>
          <a:custGeom>
            <a:avLst/>
            <a:gdLst>
              <a:gd name="connsiteX0" fmla="*/ 0 w 3749040"/>
              <a:gd name="connsiteY0" fmla="*/ 0 h 1829151"/>
              <a:gd name="connsiteX1" fmla="*/ 1783080 w 3749040"/>
              <a:gd name="connsiteY1" fmla="*/ 1828800 h 1829151"/>
              <a:gd name="connsiteX2" fmla="*/ 3749040 w 3749040"/>
              <a:gd name="connsiteY2" fmla="*/ 121920 h 182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49040" h="1829151">
                <a:moveTo>
                  <a:pt x="0" y="0"/>
                </a:moveTo>
                <a:cubicBezTo>
                  <a:pt x="579120" y="904240"/>
                  <a:pt x="1158240" y="1808480"/>
                  <a:pt x="1783080" y="1828800"/>
                </a:cubicBezTo>
                <a:cubicBezTo>
                  <a:pt x="2407920" y="1849120"/>
                  <a:pt x="3078480" y="985520"/>
                  <a:pt x="3749040" y="121920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3D1FFB6-78D8-0EBB-A6DF-0507A7381969}"/>
              </a:ext>
            </a:extLst>
          </p:cNvPr>
          <p:cNvSpPr/>
          <p:nvPr/>
        </p:nvSpPr>
        <p:spPr>
          <a:xfrm>
            <a:off x="6979920" y="3428999"/>
            <a:ext cx="4053835" cy="1615442"/>
          </a:xfrm>
          <a:custGeom>
            <a:avLst/>
            <a:gdLst>
              <a:gd name="connsiteX0" fmla="*/ 0 w 4373880"/>
              <a:gd name="connsiteY0" fmla="*/ 0 h 3517945"/>
              <a:gd name="connsiteX1" fmla="*/ 1859280 w 4373880"/>
              <a:gd name="connsiteY1" fmla="*/ 3078480 h 3517945"/>
              <a:gd name="connsiteX2" fmla="*/ 4373880 w 4373880"/>
              <a:gd name="connsiteY2" fmla="*/ 3429000 h 3517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73880" h="3517945">
                <a:moveTo>
                  <a:pt x="0" y="0"/>
                </a:moveTo>
                <a:cubicBezTo>
                  <a:pt x="565150" y="1253490"/>
                  <a:pt x="1130300" y="2506980"/>
                  <a:pt x="1859280" y="3078480"/>
                </a:cubicBezTo>
                <a:cubicBezTo>
                  <a:pt x="2588260" y="3649980"/>
                  <a:pt x="3481070" y="3539490"/>
                  <a:pt x="4373880" y="3429000"/>
                </a:cubicBezTo>
              </a:path>
            </a:pathLst>
          </a:cu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DA11F7B-5EC0-9BA4-8D35-5F4F702E8CD6}"/>
              </a:ext>
            </a:extLst>
          </p:cNvPr>
          <p:cNvCxnSpPr>
            <a:cxnSpLocks/>
            <a:stCxn id="11" idx="1"/>
          </p:cNvCxnSpPr>
          <p:nvPr/>
        </p:nvCxnSpPr>
        <p:spPr>
          <a:xfrm>
            <a:off x="8763000" y="3428695"/>
            <a:ext cx="15240" cy="2057705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15">
            <a:extLst>
              <a:ext uri="{FF2B5EF4-FFF2-40B4-BE49-F238E27FC236}">
                <a16:creationId xmlns:a16="http://schemas.microsoft.com/office/drawing/2014/main" id="{E14D739F-C089-340F-AAA9-ADA7A8C1B6DB}"/>
              </a:ext>
            </a:extLst>
          </p:cNvPr>
          <p:cNvSpPr/>
          <p:nvPr/>
        </p:nvSpPr>
        <p:spPr>
          <a:xfrm>
            <a:off x="7018030" y="3428999"/>
            <a:ext cx="3749035" cy="1688456"/>
          </a:xfrm>
          <a:custGeom>
            <a:avLst/>
            <a:gdLst>
              <a:gd name="connsiteX0" fmla="*/ 0 w 3810000"/>
              <a:gd name="connsiteY0" fmla="*/ 2971800 h 2983857"/>
              <a:gd name="connsiteX1" fmla="*/ 1752600 w 3810000"/>
              <a:gd name="connsiteY1" fmla="*/ 2529840 h 2983857"/>
              <a:gd name="connsiteX2" fmla="*/ 3810000 w 3810000"/>
              <a:gd name="connsiteY2" fmla="*/ 0 h 2983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0000" h="2983857">
                <a:moveTo>
                  <a:pt x="0" y="2971800"/>
                </a:moveTo>
                <a:cubicBezTo>
                  <a:pt x="558800" y="2998470"/>
                  <a:pt x="1117600" y="3025140"/>
                  <a:pt x="1752600" y="2529840"/>
                </a:cubicBezTo>
                <a:cubicBezTo>
                  <a:pt x="2387600" y="2034540"/>
                  <a:pt x="3098800" y="1017270"/>
                  <a:pt x="3810000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8A6B7A-BAD0-ECD3-09A2-EE33D8FCC149}"/>
              </a:ext>
            </a:extLst>
          </p:cNvPr>
          <p:cNvSpPr txBox="1"/>
          <p:nvPr/>
        </p:nvSpPr>
        <p:spPr>
          <a:xfrm>
            <a:off x="10012675" y="5661199"/>
            <a:ext cx="20421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800" dirty="0">
                <a:latin typeface="Gill Sans Nova Light" panose="020B0302020104020203" pitchFamily="34" charset="0"/>
              </a:rPr>
              <a:t>Complejidad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BFE23A-DA7E-430C-88F1-B7C5E60044EB}"/>
              </a:ext>
            </a:extLst>
          </p:cNvPr>
          <p:cNvSpPr txBox="1"/>
          <p:nvPr/>
        </p:nvSpPr>
        <p:spPr>
          <a:xfrm>
            <a:off x="6736082" y="1213484"/>
            <a:ext cx="12344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800" dirty="0">
                <a:latin typeface="Gill Sans Nova Light" panose="020B0302020104020203" pitchFamily="34" charset="0"/>
              </a:rPr>
              <a:t>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DDEC20C-7A1C-6A1B-5FD5-2C27A226DECE}"/>
                  </a:ext>
                </a:extLst>
              </p:cNvPr>
              <p:cNvSpPr txBox="1"/>
              <p:nvPr/>
            </p:nvSpPr>
            <p:spPr>
              <a:xfrm>
                <a:off x="9791695" y="1429078"/>
                <a:ext cx="2263139" cy="6671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s-ES_tradnl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DDEC20C-7A1C-6A1B-5FD5-2C27A226D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1695" y="1429078"/>
                <a:ext cx="2263139" cy="667106"/>
              </a:xfrm>
              <a:prstGeom prst="rect">
                <a:avLst/>
              </a:prstGeom>
              <a:blipFill>
                <a:blip r:embed="rId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D214FED-C5FA-C3EC-4B4E-8A6747CFC389}"/>
                  </a:ext>
                </a:extLst>
              </p:cNvPr>
              <p:cNvSpPr txBox="1"/>
              <p:nvPr/>
            </p:nvSpPr>
            <p:spPr>
              <a:xfrm>
                <a:off x="9871709" y="2760308"/>
                <a:ext cx="2263139" cy="5820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800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D214FED-C5FA-C3EC-4B4E-8A6747CFC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1709" y="2760308"/>
                <a:ext cx="2263139" cy="582019"/>
              </a:xfrm>
              <a:prstGeom prst="rect">
                <a:avLst/>
              </a:prstGeom>
              <a:blipFill>
                <a:blip r:embed="rId4"/>
                <a:stretch>
                  <a:fillRect t="-6383" b="-1276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DD28084-1807-DBF9-75B3-37645E5D3D7F}"/>
                  </a:ext>
                </a:extLst>
              </p:cNvPr>
              <p:cNvSpPr txBox="1"/>
              <p:nvPr/>
            </p:nvSpPr>
            <p:spPr>
              <a:xfrm>
                <a:off x="9959335" y="4353196"/>
                <a:ext cx="2263139" cy="5820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𝑆𝑒𝑠𝑔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800" b="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DD28084-1807-DBF9-75B3-37645E5D3D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9335" y="4353196"/>
                <a:ext cx="2263139" cy="582019"/>
              </a:xfrm>
              <a:prstGeom prst="rect">
                <a:avLst/>
              </a:prstGeom>
              <a:blipFill>
                <a:blip r:embed="rId5"/>
                <a:stretch>
                  <a:fillRect t="-6383" b="-1276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72450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D075D-CB3E-691A-FEFF-CDBCD3DAA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Trade Off Sesgo Varianza: Escenarios posibles</a:t>
            </a:r>
          </a:p>
        </p:txBody>
      </p:sp>
      <p:pic>
        <p:nvPicPr>
          <p:cNvPr id="6" name="Content Placeholder 5" descr="A group of graphs showing different sizes and colors&#10;&#10;Description automatically generated with medium confidence">
            <a:extLst>
              <a:ext uri="{FF2B5EF4-FFF2-40B4-BE49-F238E27FC236}">
                <a16:creationId xmlns:a16="http://schemas.microsoft.com/office/drawing/2014/main" id="{86B0B414-1312-E6E9-BAE5-103B624B81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2267" y="1461933"/>
            <a:ext cx="9432286" cy="489441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F2433-41DA-B239-564B-B9764AB67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8D18B8-6826-F411-21FB-56684A6CE187}"/>
              </a:ext>
            </a:extLst>
          </p:cNvPr>
          <p:cNvSpPr txBox="1"/>
          <p:nvPr/>
        </p:nvSpPr>
        <p:spPr>
          <a:xfrm>
            <a:off x="10634553" y="5396067"/>
            <a:ext cx="833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p.32</a:t>
            </a:r>
          </a:p>
        </p:txBody>
      </p:sp>
    </p:spTree>
    <p:extLst>
      <p:ext uri="{BB962C8B-B14F-4D97-AF65-F5344CB8AC3E}">
        <p14:creationId xmlns:p14="http://schemas.microsoft.com/office/powerpoint/2010/main" val="24369417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4055-51F6-CB70-063D-5660896CB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Aprendizaje Automático reduce la varianza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8CA0E5-63BE-F29D-0F71-81D41423AC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s-ES_tradnl" dirty="0"/>
                  <a:t>Usando la descomposición</a:t>
                </a:r>
              </a:p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𝐸𝑟𝑟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𝑆𝑒𝑠𝑔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i="1" dirty="0"/>
              </a:p>
              <a:p>
                <a:pPr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Econometría</a:t>
                </a:r>
                <a:r>
                  <a:rPr lang="es-ES_tradnl" i="1" dirty="0"/>
                  <a:t>: </a:t>
                </a:r>
              </a:p>
              <a:p>
                <a:pPr lvl="1">
                  <a:lnSpc>
                    <a:spcPct val="16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70C0"/>
                    </a:solidFill>
                  </a:rPr>
                  <a:t>insesgado</a:t>
                </a:r>
                <a:r>
                  <a:rPr lang="es-ES_tradnl" dirty="0"/>
                  <a:t>, minimizar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𝐸𝑟𝑟</m:t>
                    </m:r>
                  </m:oMath>
                </a14:m>
                <a:r>
                  <a:rPr lang="es-ES_tradnl" dirty="0"/>
                  <a:t> es minimizar la varianza.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s-ES_tradnl" dirty="0"/>
                  <a:t>Preferencia lexicográfica por la insesgadez</a:t>
                </a:r>
              </a:p>
              <a:p>
                <a:pPr>
                  <a:lnSpc>
                    <a:spcPct val="16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Machine Learning</a:t>
                </a:r>
                <a:r>
                  <a:rPr lang="es-ES_tradnl" dirty="0"/>
                  <a:t>: estrategias </a:t>
                </a:r>
                <a:r>
                  <a:rPr lang="es-ES_tradnl" dirty="0">
                    <a:solidFill>
                      <a:srgbClr val="002060"/>
                    </a:solidFill>
                  </a:rPr>
                  <a:t>sesgadas</a:t>
                </a:r>
                <a:r>
                  <a:rPr lang="es-ES_tradnl" dirty="0"/>
                  <a:t> pueden implicar </a:t>
                </a:r>
                <a:r>
                  <a:rPr lang="es-ES_tradnl" dirty="0">
                    <a:solidFill>
                      <a:srgbClr val="002060"/>
                    </a:solidFill>
                  </a:rPr>
                  <a:t>reducción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drástica</a:t>
                </a:r>
                <a:r>
                  <a:rPr lang="es-ES_tradnl" dirty="0"/>
                  <a:t> en la </a:t>
                </a:r>
                <a:r>
                  <a:rPr lang="es-ES_tradnl" dirty="0">
                    <a:solidFill>
                      <a:srgbClr val="002060"/>
                    </a:solidFill>
                  </a:rPr>
                  <a:t>varianza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s-ES_tradnl" dirty="0"/>
                  <a:t>Puede ser que el mínimo error de pronóstico ocurra para predictores sesgados</a:t>
                </a:r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8CA0E5-63BE-F29D-0F71-81D41423AC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56136-3CFE-14D9-9CA3-C9DD99B5B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0754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E1F3B-DFBC-4E4D-68C3-2B93ECDF0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EA5D7-7DC3-A1C1-BF88-F9D56DB5C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Error de Pronóstico y MSE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156F88-A459-7313-B391-FBD52C8C9D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En la práctica, usamos Error Cuadrático Promedio (MSE):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(1)</m:t>
                      </m:r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Ideal</a:t>
                </a:r>
                <a:r>
                  <a:rPr lang="es-ES_tradnl" dirty="0"/>
                  <a:t>: Ser buenos prediciendo con </a:t>
                </a:r>
                <a:r>
                  <a:rPr lang="es-ES_tradnl" dirty="0">
                    <a:solidFill>
                      <a:srgbClr val="002060"/>
                    </a:solidFill>
                  </a:rPr>
                  <a:t>nuevos datos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Ejemplo: predicción de retorno de acciones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Entrenamiento -&gt; uso datos de las ultimas 6 semanas para estimar</a:t>
                </a:r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endParaRPr lang="es-ES_tradnl" dirty="0"/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Testeo -&gt; ¿seremos buenos para predecir el precio de mañana?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156F88-A459-7313-B391-FBD52C8C9D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2093" b="-232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96238-8FF2-ABD2-29D0-AF9C144C4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764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35D3-D2D8-8CE9-7E34-71C2EDF3D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Regresión: Consideraciones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237D6-CECF-D918-3787-01AC784B8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3.2.2.</a:t>
            </a:r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182F3-43B5-E9FA-3D46-B91FB310F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2404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4FB3359-0F42-8D8C-3B9A-3A9C0621E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¿Hay relación entre la respuesta y los predictores?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C148BA9-4BD5-C48C-16CC-AD730E82C7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s-ES_tradnl" dirty="0"/>
                  <a:t>Test de hipótesis conjunto -&gt; Test F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=…=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s-ES_tradnl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s-ES_tradnl" dirty="0"/>
                  <a:t>: al menos un coeficiente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es distinto de cero</a:t>
                </a:r>
              </a:p>
              <a:p>
                <a:r>
                  <a:rPr lang="es-ES_tradnl" dirty="0"/>
                  <a:t>Estadístico F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𝑇𝑆𝑆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𝑅𝑆𝑆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𝑅𝑆𝑆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C148BA9-4BD5-C48C-16CC-AD730E82C7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1ACA7-3B7D-2CEF-68EB-D042E09CF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3095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3DD3D-F4FC-CEDC-5575-8E9328725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¿Hay relación entre la respuesta y los predictores?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B689D3-2CE9-0302-8436-DF107F87FC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Bajo los supuestos del modelo lineal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𝑅𝑆𝑆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Bajo la hipótesis nula: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𝑇𝑆𝑆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𝑅𝑆𝑆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Intuición: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Si no hay relación -&gt; estadístico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s-ES_tradnl" dirty="0"/>
                  <a:t> es verdadera -&gt;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𝑇𝑆𝑆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𝑅𝑆𝑆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 -&gt; estadístico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B689D3-2CE9-0302-8436-DF107F87FC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897A2-0EF6-749A-CA33-F31B45667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8975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3DD3D-F4FC-CEDC-5575-8E9328725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¿Hay relación entre la respuesta y los predictores? III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B689D3-2CE9-0302-8436-DF107F87FC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𝑇𝑆𝑆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𝑅𝑆𝑆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𝑅𝑆𝑆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¿Cuán grande tiene que ser F para concluir que hay una relación?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Depende</a:t>
                </a:r>
                <a:r>
                  <a:rPr lang="en-US" dirty="0"/>
                  <a:t>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Cuando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es </a:t>
                </a:r>
                <a:r>
                  <a:rPr lang="es-ES_tradnl" dirty="0">
                    <a:solidFill>
                      <a:srgbClr val="00B050"/>
                    </a:solidFill>
                  </a:rPr>
                  <a:t>grande</a:t>
                </a:r>
                <a:r>
                  <a:rPr lang="es-ES_tradnl" dirty="0"/>
                  <a:t>, un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s-ES_tradnl" dirty="0"/>
                  <a:t> a penas por arriba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s-ES_tradnl" dirty="0"/>
                  <a:t> puede ser suficiente para rechazar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Cuando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es </a:t>
                </a:r>
                <a:r>
                  <a:rPr lang="es-ES_tradnl" dirty="0">
                    <a:solidFill>
                      <a:srgbClr val="FF0000"/>
                    </a:solidFill>
                  </a:rPr>
                  <a:t>pequeño</a:t>
                </a:r>
                <a:r>
                  <a:rPr lang="es-ES_tradnl" dirty="0"/>
                  <a:t>, necesitamos un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s-ES_tradnl" dirty="0"/>
                  <a:t> grande. ¿En la práctica? </a:t>
                </a:r>
              </a:p>
              <a:p>
                <a:pPr lvl="1"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B689D3-2CE9-0302-8436-DF107F87FC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b="-58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897A2-0EF6-749A-CA33-F31B45667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698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176B6-6230-C2EF-A2D7-FD6D626A1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 Método Cuasi-Experimental ¿A qué nos recuerda?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A0417E-05C7-5BAA-D6E5-09033AD235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s-ES_tradnl" dirty="0"/>
                  <a:t>Modelo: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s-ES_tradnl" dirty="0"/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Variables Instrumentales</a:t>
                </a:r>
                <a:r>
                  <a:rPr lang="es-ES_tradnl" dirty="0"/>
                  <a:t>:</a:t>
                </a:r>
              </a:p>
              <a:p>
                <a:pPr lvl="1"/>
                <a:r>
                  <a:rPr lang="es-ES_tradnl" dirty="0"/>
                  <a:t> Instrumento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s-ES_tradnl" dirty="0"/>
                  <a:t> para predecir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y poder estimar causalmente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s-ES_tradnl" dirty="0"/>
              </a:p>
              <a:p>
                <a:pPr lvl="1"/>
                <a:r>
                  <a:rPr lang="es-ES_tradnl" dirty="0"/>
                  <a:t>Condiciones:</a:t>
                </a:r>
              </a:p>
              <a:p>
                <a:pPr lvl="2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s-ES_tradnl" dirty="0"/>
                  <a:t> independiente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s-ES_tradnl" dirty="0"/>
                  <a:t> (Restricción de exclusión) </a:t>
                </a:r>
              </a:p>
              <a:p>
                <a:pPr lvl="2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s-ES_tradnl" dirty="0"/>
                  <a:t> relacionado con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(Restricción de relevancia) </a:t>
                </a:r>
              </a:p>
              <a:p>
                <a:r>
                  <a:rPr lang="es-ES_tradnl" dirty="0"/>
                  <a:t>En la primera etapa (</a:t>
                </a:r>
                <a:r>
                  <a:rPr lang="es-ES_tradnl" i="1" dirty="0" err="1"/>
                  <a:t>first-stage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estimates</a:t>
                </a:r>
                <a:r>
                  <a:rPr lang="es-ES_tradnl" dirty="0"/>
                  <a:t>) rule </a:t>
                </a:r>
                <a:r>
                  <a:rPr lang="es-ES_tradnl" dirty="0" err="1"/>
                  <a:t>of</a:t>
                </a:r>
                <a:r>
                  <a:rPr lang="es-ES_tradnl" dirty="0"/>
                  <a:t> </a:t>
                </a:r>
                <a:r>
                  <a:rPr lang="es-ES_tradnl" dirty="0" err="1"/>
                  <a:t>thumb</a:t>
                </a:r>
                <a:r>
                  <a:rPr lang="es-ES_tradnl" dirty="0"/>
                  <a:t>:  </a:t>
                </a:r>
                <a:r>
                  <a:rPr lang="es-ES_tradnl" dirty="0">
                    <a:solidFill>
                      <a:srgbClr val="FF0000"/>
                    </a:solidFill>
                  </a:rPr>
                  <a:t>F&gt;50 </a:t>
                </a:r>
              </a:p>
              <a:p>
                <a:pPr lvl="1"/>
                <a:r>
                  <a:rPr lang="es-ES_tradnl" dirty="0"/>
                  <a:t>Si F&lt;50 -&gt; instrumentos débiles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A0417E-05C7-5BAA-D6E5-09033AD235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b="-145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D30B1-7246-DBF0-0B8E-9B36F680D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381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DE34E-FBA6-5566-8E70-5708DC608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Selección de variables (no automático)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353677-2DEB-29FC-C522-ABA18C230E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s-ES_tradnl" dirty="0"/>
                  <a:t>A veces interesa si un conjunto de predictores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s-ES_tradnl" dirty="0"/>
                  <a:t> es relevante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=…=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Se estima un segundo modelo con todos los predictores excepto los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s-ES_tradnl" dirty="0"/>
                  <a:t> de interés, su suma de los residuos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𝑅𝑆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 y estimamos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𝑅𝑆𝑆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𝑅𝑆𝑆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  <a:p>
                <a:endParaRPr lang="es-ES_tradnl" dirty="0"/>
              </a:p>
              <a:p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353677-2DEB-29FC-C522-ABA18C230E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7974C-0626-D0B9-467B-1912CDB0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986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6894-A0B2-1347-0C56-4D21E159C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Relación test </a:t>
            </a:r>
            <a:r>
              <a:rPr lang="es-ES_tradnl" i="1" dirty="0"/>
              <a:t>t</a:t>
            </a:r>
            <a:r>
              <a:rPr lang="es-ES_tradnl" dirty="0"/>
              <a:t> y test </a:t>
            </a:r>
            <a:r>
              <a:rPr lang="es-ES_tradnl" i="1" dirty="0"/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ECF2D8-CF74-8744-060F-B57D9F5909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s-ES_tradnl" dirty="0">
                    <a:solidFill>
                      <a:srgbClr val="FF0000"/>
                    </a:solidFill>
                  </a:rPr>
                  <a:t>Resultado</a:t>
                </a:r>
                <a:r>
                  <a:rPr lang="es-ES_tradnl" dirty="0"/>
                  <a:t>: Cada estadístico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s-ES_tradnl" dirty="0"/>
                  <a:t> del coeficiente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es </a:t>
                </a:r>
                <a:r>
                  <a:rPr lang="es-ES_tradnl" dirty="0">
                    <a:solidFill>
                      <a:srgbClr val="002060"/>
                    </a:solidFill>
                  </a:rPr>
                  <a:t>equivalente</a:t>
                </a:r>
                <a:r>
                  <a:rPr lang="es-ES_tradnl" dirty="0"/>
                  <a:t> 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del segundo modelo sin el predictor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/>
                <a:r>
                  <a:rPr lang="es-ES_tradnl" dirty="0">
                    <a:solidFill>
                      <a:srgbClr val="002060"/>
                    </a:solidFill>
                  </a:rPr>
                  <a:t>Intuición</a:t>
                </a:r>
                <a:r>
                  <a:rPr lang="es-ES_tradnl" dirty="0"/>
                  <a:t>: reportan el efecto parcial de sumar la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al modelo</a:t>
                </a:r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Pregunta del millón</a:t>
                </a:r>
                <a:r>
                  <a:rPr lang="es-ES_tradnl" dirty="0"/>
                  <a:t>: </a:t>
                </a:r>
              </a:p>
              <a:p>
                <a:pPr marL="0" indent="0" algn="ctr">
                  <a:buNone/>
                </a:pPr>
                <a:r>
                  <a:rPr lang="es-ES_tradnl" dirty="0"/>
                  <a:t>¿Por qué necesitamos ver el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s-ES_tradnl" dirty="0"/>
                  <a:t> estadístico y no nos quedamos solo con el estadistco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s-ES_tradnl" dirty="0"/>
                  <a:t> de los test de hipótesis individuales 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ECF2D8-CF74-8744-060F-B57D9F5909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b="-203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04363-AB1D-65BB-C6F2-6593C4C0C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179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B30D6-77BE-F44D-8C26-6314738F1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del problema lógico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9B0787-61D4-7658-7198-03F385EE48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s-ES_tradnl" dirty="0"/>
                  <a:t>Tenemos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=…=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_tradnl" dirty="0"/>
                  <a:t> es verdadera</a:t>
                </a:r>
              </a:p>
              <a:p>
                <a:r>
                  <a:rPr lang="es-ES_tradnl" dirty="0"/>
                  <a:t> 5% de los p-valores del estadístico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s-ES_tradnl" dirty="0"/>
                  <a:t> pueden estar debajo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r>
                  <a:rPr lang="es-ES_tradnl" dirty="0"/>
                  <a:t> por coincidencia</a:t>
                </a:r>
              </a:p>
              <a:p>
                <a:pPr lvl="1"/>
                <a:r>
                  <a:rPr lang="es-ES_tradnl" dirty="0"/>
                  <a:t>5 predictores que son “significativos estadísticamente” pero en realidad no tienen una asociación 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_tradnl" dirty="0"/>
              </a:p>
              <a:p>
                <a:r>
                  <a:rPr lang="es-ES_tradnl" dirty="0"/>
                  <a:t>Test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s-ES_tradnl" dirty="0"/>
                  <a:t> ajusta por número de predictores y observaciones</a:t>
                </a:r>
              </a:p>
              <a:p>
                <a:pPr marL="0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9B0787-61D4-7658-7198-03F385EE48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r="-24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6FB7A-B59B-0AEE-D0CA-FA93064E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2429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FE06C-EA1D-8414-202D-CE53CBFB6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Precisión del Modelo en la Practica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4E499-31F2-A7D7-3529-3E2612F3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E317FB6-2E12-3E05-2D53-335BCABA421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65472" y="1690688"/>
              <a:ext cx="10388327" cy="4437396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019404">
                      <a:extLst>
                        <a:ext uri="{9D8B030D-6E8A-4147-A177-3AD203B41FA5}">
                          <a16:colId xmlns:a16="http://schemas.microsoft.com/office/drawing/2014/main" val="4285278606"/>
                        </a:ext>
                      </a:extLst>
                    </a:gridCol>
                    <a:gridCol w="7368923">
                      <a:extLst>
                        <a:ext uri="{9D8B030D-6E8A-4147-A177-3AD203B41FA5}">
                          <a16:colId xmlns:a16="http://schemas.microsoft.com/office/drawing/2014/main" val="2964276620"/>
                        </a:ext>
                      </a:extLst>
                    </a:gridCol>
                  </a:tblGrid>
                  <a:tr h="82846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800" dirty="0">
                              <a:latin typeface="Gill Sans Nova Light" panose="020B0302020104020203" pitchFamily="34" charset="0"/>
                            </a:rPr>
                            <a:t>Medidas</a:t>
                          </a:r>
                        </a:p>
                      </a:txBody>
                      <a:tcPr anchor="ctr"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800" dirty="0">
                              <a:latin typeface="Gill Sans Nova Light" panose="020B0302020104020203" pitchFamily="34" charset="0"/>
                            </a:rPr>
                            <a:t>Formulas</a:t>
                          </a:r>
                        </a:p>
                      </a:txBody>
                      <a:tcPr anchor="ctr"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3594413"/>
                      </a:ext>
                    </a:extLst>
                  </a:tr>
                  <a:tr h="1518365">
                    <a:tc>
                      <a:txBody>
                        <a:bodyPr/>
                        <a:lstStyle/>
                        <a:p>
                          <a:r>
                            <a:rPr lang="es-ES_tradnl" sz="2800" dirty="0">
                              <a:latin typeface="Gill Sans Nova Light" panose="020B0302020104020203" pitchFamily="34" charset="0"/>
                            </a:rPr>
                            <a:t>Error residual (RSE, residual standard error)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den>
                                    </m:f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𝑅𝑆𝑆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s-ES_tradnl" sz="28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4739801"/>
                      </a:ext>
                    </a:extLst>
                  </a:tr>
                  <a:tr h="98883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ES_tradnl" sz="28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𝑇𝑆𝑆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𝑅𝑆𝑆</m:t>
                                    </m:r>
                                  </m:num>
                                  <m:den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𝑇𝑆𝑆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_tradnl" sz="28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9600469"/>
                      </a:ext>
                    </a:extLst>
                  </a:tr>
                  <a:tr h="1101729">
                    <a:tc>
                      <a:txBody>
                        <a:bodyPr/>
                        <a:lstStyle/>
                        <a:p>
                          <a:r>
                            <a:rPr lang="es-ES_tradnl" sz="2800" dirty="0">
                              <a:latin typeface="Gill Sans Nova Light" panose="020B0302020104020203" pitchFamily="34" charset="0"/>
                            </a:rPr>
                            <a:t>Estadístico 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𝑇𝑆𝑆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𝑅𝑆𝑆</m:t>
                                        </m:r>
                                      </m:e>
                                    </m:d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num>
                                  <m:den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𝑅𝑆𝑆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/(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−1)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_tradnl" sz="28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85260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E317FB6-2E12-3E05-2D53-335BCABA42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609844"/>
                  </p:ext>
                </p:extLst>
              </p:nvPr>
            </p:nvGraphicFramePr>
            <p:xfrm>
              <a:off x="965472" y="1690688"/>
              <a:ext cx="10388327" cy="4437396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019404">
                      <a:extLst>
                        <a:ext uri="{9D8B030D-6E8A-4147-A177-3AD203B41FA5}">
                          <a16:colId xmlns:a16="http://schemas.microsoft.com/office/drawing/2014/main" val="4285278606"/>
                        </a:ext>
                      </a:extLst>
                    </a:gridCol>
                    <a:gridCol w="7368923">
                      <a:extLst>
                        <a:ext uri="{9D8B030D-6E8A-4147-A177-3AD203B41FA5}">
                          <a16:colId xmlns:a16="http://schemas.microsoft.com/office/drawing/2014/main" val="2964276620"/>
                        </a:ext>
                      </a:extLst>
                    </a:gridCol>
                  </a:tblGrid>
                  <a:tr h="82846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800" dirty="0">
                              <a:latin typeface="Gill Sans Nova Light" panose="020B0302020104020203" pitchFamily="34" charset="0"/>
                            </a:rPr>
                            <a:t>Medidas</a:t>
                          </a:r>
                        </a:p>
                      </a:txBody>
                      <a:tcPr anchor="ctr"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800" dirty="0">
                              <a:latin typeface="Gill Sans Nova Light" panose="020B0302020104020203" pitchFamily="34" charset="0"/>
                            </a:rPr>
                            <a:t>Formulas</a:t>
                          </a:r>
                        </a:p>
                      </a:txBody>
                      <a:tcPr anchor="ctr"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3594413"/>
                      </a:ext>
                    </a:extLst>
                  </a:tr>
                  <a:tr h="1518365">
                    <a:tc>
                      <a:txBody>
                        <a:bodyPr/>
                        <a:lstStyle/>
                        <a:p>
                          <a:r>
                            <a:rPr lang="es-ES_tradnl" sz="2800" dirty="0">
                              <a:latin typeface="Gill Sans Nova Light" panose="020B0302020104020203" pitchFamily="34" charset="0"/>
                            </a:rPr>
                            <a:t>Error residual (RSE, residual standard error)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1207" t="-55000" r="-172" b="-13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4739801"/>
                      </a:ext>
                    </a:extLst>
                  </a:tr>
                  <a:tr h="9888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0" t="-238462" r="-244118" b="-112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1207" t="-238462" r="-172" b="-1128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9600469"/>
                      </a:ext>
                    </a:extLst>
                  </a:tr>
                  <a:tr h="1101729">
                    <a:tc>
                      <a:txBody>
                        <a:bodyPr/>
                        <a:lstStyle/>
                        <a:p>
                          <a:r>
                            <a:rPr lang="es-ES_tradnl" sz="2800" dirty="0">
                              <a:latin typeface="Gill Sans Nova Light" panose="020B0302020104020203" pitchFamily="34" charset="0"/>
                            </a:rPr>
                            <a:t>Estadístico 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1207" t="-303448" r="-172" b="-11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85260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193936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35D3-D2D8-8CE9-7E34-71C2EDF3D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Regresión: Problemas y soluciones practicas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237D6-CECF-D918-3787-01AC784B8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3.3</a:t>
            </a:r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182F3-43B5-E9FA-3D46-B91FB310F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313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136D81-D220-F7C4-3ED2-07E82A4DD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 Extensiones del Modelo Lineal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95A943A-28F2-5A6F-848C-CA663CC2D4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s-ES_tradnl" dirty="0"/>
                  <a:t>Supuestos del modelo regresión lineal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s-ES_tradnl" dirty="0"/>
              </a:p>
              <a:p>
                <a:pPr lvl="1"/>
                <a:r>
                  <a:rPr lang="es-ES_tradnl" dirty="0">
                    <a:solidFill>
                      <a:srgbClr val="002060"/>
                    </a:solidFill>
                  </a:rPr>
                  <a:t>Aditivita</a:t>
                </a:r>
                <a:r>
                  <a:rPr lang="es-ES_tradnl" dirty="0"/>
                  <a:t>: asociación entre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no depende de los otros predictores</a:t>
                </a:r>
              </a:p>
              <a:p>
                <a:pPr lvl="2"/>
                <a:r>
                  <a:rPr lang="es-ES_tradnl" dirty="0">
                    <a:solidFill>
                      <a:srgbClr val="00B050"/>
                    </a:solidFill>
                  </a:rPr>
                  <a:t>Solución</a:t>
                </a:r>
                <a:r>
                  <a:rPr lang="es-ES_tradnl" dirty="0"/>
                  <a:t>: Incluimos interacciones (¿Ejemplo?)</a:t>
                </a:r>
              </a:p>
              <a:p>
                <a:pPr lvl="1"/>
                <a:r>
                  <a:rPr lang="es-ES_tradnl" dirty="0">
                    <a:solidFill>
                      <a:srgbClr val="002060"/>
                    </a:solidFill>
                  </a:rPr>
                  <a:t>Linealidad</a:t>
                </a:r>
                <a:r>
                  <a:rPr lang="es-ES_tradnl" dirty="0"/>
                  <a:t>: cambios 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y asociados con cambios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son constantes y no dependen del valor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2"/>
                <a:r>
                  <a:rPr lang="es-ES_tradnl" dirty="0">
                    <a:solidFill>
                      <a:srgbClr val="00B050"/>
                    </a:solidFill>
                  </a:rPr>
                  <a:t>Solución</a:t>
                </a:r>
                <a:r>
                  <a:rPr lang="es-ES_tradnl" dirty="0"/>
                  <a:t>: Incluimos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de mayor grado -&gt; Regresión de polinomios (¿Ejemplo?)</a:t>
                </a:r>
              </a:p>
              <a:p>
                <a:pPr lvl="2"/>
                <a:endParaRPr lang="es-ES_tradnl" dirty="0"/>
              </a:p>
              <a:p>
                <a:endParaRPr lang="es-ES_tradnl" dirty="0"/>
              </a:p>
              <a:p>
                <a:pPr lvl="1"/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95A943A-28F2-5A6F-848C-CA663CC2D4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6F35E-74BB-7EE2-03E3-8465F776C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5109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CCE09-439C-054B-4A83-00470F83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2. No linealidad de los datos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FBD868-920E-E22C-4FC8-F7F8328C8D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983708"/>
                <a:ext cx="10515600" cy="1193254"/>
              </a:xfrm>
            </p:spPr>
            <p:txBody>
              <a:bodyPr numCol="2">
                <a:normAutofit fontScale="9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Modelo: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Ver</a:t>
                </a:r>
                <a:r>
                  <a:rPr lang="es-ES_tradnl" dirty="0"/>
                  <a:t>: Residual plots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Solución</a:t>
                </a:r>
                <a:r>
                  <a:rPr lang="es-ES_tradnl" dirty="0"/>
                  <a:t>: Transformaciones no lineales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, </a:t>
                </a:r>
                <a:r>
                  <a:rPr lang="es-ES_tradnl" dirty="0" err="1"/>
                  <a:t>ect</a:t>
                </a: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FBD868-920E-E22C-4FC8-F7F8328C8D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983708"/>
                <a:ext cx="10515600" cy="1193254"/>
              </a:xfrm>
              <a:blipFill>
                <a:blip r:embed="rId2"/>
                <a:stretch>
                  <a:fillRect l="-1206" t="-6316" b="-1052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56C15-06E5-E08D-1857-1232F85F9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45</a:t>
            </a:fld>
            <a:endParaRPr lang="en-US"/>
          </a:p>
        </p:txBody>
      </p:sp>
      <p:pic>
        <p:nvPicPr>
          <p:cNvPr id="10" name="Picture 9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F5CB5BCC-AC60-312E-1D5F-FA61E2B4C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005" y="1292180"/>
            <a:ext cx="7539990" cy="38043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178CFE1-CE5A-F88E-F546-0A87F7AC487F}"/>
                  </a:ext>
                </a:extLst>
              </p:cNvPr>
              <p:cNvSpPr txBox="1"/>
              <p:nvPr/>
            </p:nvSpPr>
            <p:spPr>
              <a:xfrm>
                <a:off x="-289560" y="1646138"/>
                <a:ext cx="32918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_tradnl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ES_tradnl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178CFE1-CE5A-F88E-F546-0A87F7AC4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89560" y="1646138"/>
                <a:ext cx="3291840" cy="523220"/>
              </a:xfrm>
              <a:prstGeom prst="rect">
                <a:avLst/>
              </a:prstGeom>
              <a:blipFill>
                <a:blip r:embed="rId4"/>
                <a:stretch>
                  <a:fillRect t="-4762" b="-95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4A546D9-C41F-BB46-3C6F-8A1E5523388B}"/>
                  </a:ext>
                </a:extLst>
              </p:cNvPr>
              <p:cNvSpPr txBox="1"/>
              <p:nvPr/>
            </p:nvSpPr>
            <p:spPr>
              <a:xfrm>
                <a:off x="4587240" y="4561175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ES_tradnl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4A546D9-C41F-BB46-3C6F-8A1E55233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7240" y="4561175"/>
                <a:ext cx="1219200" cy="523220"/>
              </a:xfrm>
              <a:prstGeom prst="rect">
                <a:avLst/>
              </a:prstGeom>
              <a:blipFill>
                <a:blip r:embed="rId5"/>
                <a:stretch>
                  <a:fillRect t="-7143" b="-95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32372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1EC9C-2D48-F868-F77F-3360915C7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3. Autocorrelación de los errores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F22C948-E45F-DF19-67AE-130BCEFEF97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s-ES_tradnl" dirty="0"/>
                  <a:t>Puede pasar que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  <a:p>
                <a:r>
                  <a:rPr lang="es-ES_tradnl" dirty="0">
                    <a:solidFill>
                      <a:srgbClr val="FF0000"/>
                    </a:solidFill>
                  </a:rPr>
                  <a:t>Problema</a:t>
                </a:r>
                <a:r>
                  <a:rPr lang="es-ES_tradnl" dirty="0"/>
                  <a:t>: En general, subestimamos los verdaderos errores estándar -&gt; sobre rechazamos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dirty="0"/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Ver</a:t>
                </a:r>
                <a:r>
                  <a:rPr lang="es-ES_tradnl" dirty="0"/>
                  <a:t>: </a:t>
                </a:r>
                <a:r>
                  <a:rPr lang="es-ES_tradnl" dirty="0" err="1"/>
                  <a:t>Correlogramas</a:t>
                </a:r>
                <a:endParaRPr lang="es-ES_tradnl" dirty="0"/>
              </a:p>
              <a:p>
                <a:r>
                  <a:rPr lang="es-ES_tradnl" dirty="0">
                    <a:solidFill>
                      <a:srgbClr val="00B050"/>
                    </a:solidFill>
                  </a:rPr>
                  <a:t>Solución</a:t>
                </a:r>
                <a:r>
                  <a:rPr lang="es-ES_tradnl" dirty="0"/>
                  <a:t>: Modelos de series de tiempo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F22C948-E45F-DF19-67AE-130BCEFEF9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711" r="-146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 descr="A line graph of different types of data&#10;&#10;Description automatically generated with medium confidence">
            <a:extLst>
              <a:ext uri="{FF2B5EF4-FFF2-40B4-BE49-F238E27FC236}">
                <a16:creationId xmlns:a16="http://schemas.microsoft.com/office/drawing/2014/main" id="{20B9232A-3EDE-B4EB-3610-09871BE4DF0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75648" y="1447800"/>
            <a:ext cx="5406655" cy="47291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3A5EB-2A93-27AB-8F89-B64439E20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1869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658E7-F712-D377-13A3-6311E2171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4. Varianza del error no constante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89D498E-EF11-0B89-4C59-4E89608AD3B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s-ES_tradnl" dirty="0"/>
                  <a:t>Heteroscedasticidad: </a:t>
                </a:r>
              </a:p>
              <a:p>
                <a:pPr lvl="1"/>
                <a:r>
                  <a:rPr lang="en-US" b="0" dirty="0"/>
                  <a:t>No </a:t>
                </a:r>
                <a:r>
                  <a:rPr lang="en-US" b="0" dirty="0" err="1"/>
                  <a:t>cumple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S_tradnl" dirty="0"/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Ver</a:t>
                </a:r>
                <a:r>
                  <a:rPr lang="es-ES_tradnl" dirty="0"/>
                  <a:t>: Residual plots </a:t>
                </a:r>
              </a:p>
              <a:p>
                <a:r>
                  <a:rPr lang="es-ES_tradnl" dirty="0">
                    <a:solidFill>
                      <a:srgbClr val="00B050"/>
                    </a:solidFill>
                  </a:rPr>
                  <a:t>Solución</a:t>
                </a:r>
                <a:r>
                  <a:rPr lang="es-ES_tradnl" dirty="0"/>
                  <a:t>: </a:t>
                </a:r>
              </a:p>
              <a:p>
                <a:pPr lvl="1"/>
                <a:r>
                  <a:rPr lang="es-ES_tradnl" dirty="0"/>
                  <a:t>Estimar errores estándar robustos y </a:t>
                </a:r>
                <a:r>
                  <a:rPr lang="es-ES_tradnl" dirty="0" err="1"/>
                  <a:t>cluster</a:t>
                </a:r>
                <a:endParaRPr lang="es-ES_tradnl" dirty="0"/>
              </a:p>
              <a:p>
                <a:pPr lvl="1"/>
                <a:r>
                  <a:rPr lang="es-ES_tradnl" dirty="0"/>
                  <a:t>Transformar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con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ES_tradnl" dirty="0"/>
              </a:p>
              <a:p>
                <a:pPr lvl="1"/>
                <a:r>
                  <a:rPr lang="es-ES_tradnl" dirty="0"/>
                  <a:t>MC Ponderados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89D498E-EF11-0B89-4C59-4E89608AD3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711" b="-8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 descr="A comparison of a diagram&#10;&#10;Description automatically generated with medium confidence">
            <a:extLst>
              <a:ext uri="{FF2B5EF4-FFF2-40B4-BE49-F238E27FC236}">
                <a16:creationId xmlns:a16="http://schemas.microsoft.com/office/drawing/2014/main" id="{3A9DA235-B361-0EE8-780D-0B5B3926D60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19800" y="2145898"/>
            <a:ext cx="6163590" cy="320083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3DD20-13D5-2F67-25ED-EEEF8464D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7482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B922D-CDD1-3773-8A4D-83E51470E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5. Outliers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6A86515-C093-CDC2-6ED4-0F6B59792C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221480"/>
                <a:ext cx="10515600" cy="1955482"/>
              </a:xfrm>
            </p:spPr>
            <p:txBody>
              <a:bodyPr numCol="2"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Ver</a:t>
                </a:r>
                <a:r>
                  <a:rPr lang="es-ES_tradnl" dirty="0"/>
                  <a:t>: Scatter plot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, residual plots y studentized residual plot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Solución</a:t>
                </a:r>
                <a:r>
                  <a:rPr lang="es-ES_tradnl" dirty="0"/>
                  <a:t>: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Una sola observación -&gt; miramos de cerca: ¿es un Messi? =&gt; Eliminamos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 Son varios outliers: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Dummy de </a:t>
                </a:r>
                <a:r>
                  <a:rPr lang="es-ES_tradnl" dirty="0" err="1"/>
                  <a:t>outlier</a:t>
                </a:r>
                <a:r>
                  <a:rPr lang="es-ES_tradnl" dirty="0"/>
                  <a:t> -&gt; probar modelos con y sin la dummy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s-ES_tradnl" dirty="0" err="1"/>
                  <a:t>Trim</a:t>
                </a:r>
                <a:r>
                  <a:rPr lang="es-ES_tradnl" dirty="0"/>
                  <a:t> variable -&gt; 1% superior o inferior -&gt; usamos el 99% de las observaciones restantes</a:t>
                </a:r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6A86515-C093-CDC2-6ED4-0F6B59792C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221480"/>
                <a:ext cx="10515600" cy="1955482"/>
              </a:xfrm>
              <a:blipFill>
                <a:blip r:embed="rId2"/>
                <a:stretch>
                  <a:fillRect l="-724" t="-1935" r="-724" b="-322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B5AB76-D52F-8762-86C1-6CDBA5FD5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48</a:t>
            </a:fld>
            <a:endParaRPr lang="en-US"/>
          </a:p>
        </p:txBody>
      </p:sp>
      <p:pic>
        <p:nvPicPr>
          <p:cNvPr id="8" name="Picture 7" descr="A diagram of a graph&#10;&#10;Description automatically generated">
            <a:extLst>
              <a:ext uri="{FF2B5EF4-FFF2-40B4-BE49-F238E27FC236}">
                <a16:creationId xmlns:a16="http://schemas.microsoft.com/office/drawing/2014/main" id="{5C7F4AF9-2960-3F59-11AB-C6A3D2336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234440"/>
            <a:ext cx="9174480" cy="298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1180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B922D-CDD1-3773-8A4D-83E51470E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6. High </a:t>
            </a:r>
            <a:r>
              <a:rPr lang="es-ES_tradnl" dirty="0" err="1"/>
              <a:t>Leverage</a:t>
            </a:r>
            <a:r>
              <a:rPr lang="es-ES_tradnl" dirty="0"/>
              <a:t> </a:t>
            </a:r>
            <a:r>
              <a:rPr lang="es-ES_tradnl" dirty="0" err="1"/>
              <a:t>Points</a:t>
            </a:r>
            <a:r>
              <a:rPr lang="es-ES_tradnl" dirty="0"/>
              <a:t> (¿diferencia?)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6A86515-C093-CDC2-6ED4-0F6B59792C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221480"/>
                <a:ext cx="10515600" cy="1955482"/>
              </a:xfrm>
            </p:spPr>
            <p:txBody>
              <a:bodyPr numCol="2">
                <a:normAutofit fontScale="6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Ver</a:t>
                </a:r>
                <a:r>
                  <a:rPr lang="es-ES_tradnl" dirty="0"/>
                  <a:t>: Scatter plot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, scatter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 y studentized residual y </a:t>
                </a:r>
                <a:r>
                  <a:rPr lang="es-ES_tradnl" dirty="0" err="1"/>
                  <a:t>leverage</a:t>
                </a:r>
                <a:r>
                  <a:rPr lang="es-ES_tradnl" dirty="0"/>
                  <a:t>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 err="1">
                    <a:solidFill>
                      <a:srgbClr val="002060"/>
                    </a:solidFill>
                  </a:rPr>
                  <a:t>Estadistico</a:t>
                </a:r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Leverage</a:t>
                </a:r>
                <a:r>
                  <a:rPr lang="es-ES_tradnl" dirty="0">
                    <a:solidFill>
                      <a:srgbClr val="002060"/>
                    </a:solidFill>
                  </a:rPr>
                  <a:t>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25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m:rPr>
                                    <m:brk m:alnAt="25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sSup>
                                          <m:s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e>
                                          <m:sup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</m:nary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Intuición</a:t>
                </a:r>
                <a:r>
                  <a:rPr lang="es-ES_tradnl" dirty="0"/>
                  <a:t>: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A mayor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, una observación con alto </a:t>
                </a:r>
                <a:r>
                  <a:rPr lang="es-ES_tradnl" dirty="0" err="1"/>
                  <a:t>leverage</a:t>
                </a:r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6A86515-C093-CDC2-6ED4-0F6B59792C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221480"/>
                <a:ext cx="10515600" cy="1955482"/>
              </a:xfrm>
              <a:blipFill>
                <a:blip r:embed="rId2"/>
                <a:stretch>
                  <a:fillRect l="-603" t="-1935" b="-2193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B5AB76-D52F-8762-86C1-6CDBA5FD5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49</a:t>
            </a:fld>
            <a:endParaRPr lang="en-US"/>
          </a:p>
        </p:txBody>
      </p:sp>
      <p:pic>
        <p:nvPicPr>
          <p:cNvPr id="4" name="Picture 3" descr="A graph of a line&#10;&#10;Description automatically generated">
            <a:extLst>
              <a:ext uri="{FF2B5EF4-FFF2-40B4-BE49-F238E27FC236}">
                <a16:creationId xmlns:a16="http://schemas.microsoft.com/office/drawing/2014/main" id="{258BF300-111F-2513-D18B-342031221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126" y="1324134"/>
            <a:ext cx="8617747" cy="289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0900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8057B-7294-9D5D-19C3-D58BCE374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7. Colinealidad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91D5C2-F2E9-1D95-E4A4-BB1172EA2B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s-ES_tradnl" dirty="0"/>
                  <a:t>Cuando dos o más predictores están altamente correlacionados</a:t>
                </a:r>
              </a:p>
              <a:p>
                <a:r>
                  <a:rPr lang="es-ES_tradnl" dirty="0"/>
                  <a:t>Usamos: </a:t>
                </a:r>
                <a:r>
                  <a:rPr lang="en-US" dirty="0"/>
                  <a:t>Variance inflation factor </a:t>
                </a:r>
                <a:r>
                  <a:rPr lang="es-ES_tradnl" dirty="0"/>
                  <a:t>(VIF)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𝑉𝐼𝐹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s-ES_tradnl" dirty="0"/>
              </a:p>
              <a:p>
                <a:pPr marL="457200" lvl="1" indent="0">
                  <a:buNone/>
                </a:pPr>
                <a:r>
                  <a:rPr lang="es-ES_tradnl" dirty="0"/>
                  <a:t>Donde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s-ES_tradnl" dirty="0"/>
                  <a:t> es el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 de regresar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en todos los demás predictores</a:t>
                </a:r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Intuición</a:t>
                </a:r>
                <a:r>
                  <a:rPr lang="es-ES_tradnl" dirty="0"/>
                  <a:t>: Si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s-ES_tradnl" dirty="0"/>
                  <a:t> se acerca 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s-ES_tradnl" dirty="0"/>
                  <a:t>, tenemos mucha colinealidad, VIF será grande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91D5C2-F2E9-1D95-E4A4-BB1172EA2B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BDA1D-8827-D437-EBAC-FFD069552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289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E37FE-8FB8-4349-A229-6DA7AC2E7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Ilustración: ¿Qué pasa con alta multicolinealidad?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96340-4FFD-653D-5547-BD092E0B4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33FEFB-EEB5-CF2E-952B-797C07BA8C55}"/>
              </a:ext>
            </a:extLst>
          </p:cNvPr>
          <p:cNvSpPr txBox="1"/>
          <p:nvPr/>
        </p:nvSpPr>
        <p:spPr>
          <a:xfrm>
            <a:off x="1482621" y="6203656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107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pic>
        <p:nvPicPr>
          <p:cNvPr id="9" name="Content Placeholder 8" descr="A graph of a diagram&#10;&#10;Description automatically generated with medium confidence">
            <a:extLst>
              <a:ext uri="{FF2B5EF4-FFF2-40B4-BE49-F238E27FC236}">
                <a16:creationId xmlns:a16="http://schemas.microsoft.com/office/drawing/2014/main" id="{7F95AEA4-FF39-4078-0DD2-1EBE72BCB0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95474" y="1825625"/>
            <a:ext cx="8601052" cy="4351338"/>
          </a:xfrm>
        </p:spPr>
      </p:pic>
    </p:spTree>
    <p:extLst>
      <p:ext uri="{BB962C8B-B14F-4D97-AF65-F5344CB8AC3E}">
        <p14:creationId xmlns:p14="http://schemas.microsoft.com/office/powerpoint/2010/main" val="18830067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8057B-7294-9D5D-19C3-D58BCE374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7. Colinealidad 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1D5C2-F2E9-1D95-E4A4-BB1172EA2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_tradnl" dirty="0">
                <a:solidFill>
                  <a:srgbClr val="00B050"/>
                </a:solidFill>
              </a:rPr>
              <a:t>Solución</a:t>
            </a:r>
          </a:p>
          <a:p>
            <a:pPr lvl="1"/>
            <a:r>
              <a:rPr lang="es-ES_tradnl" dirty="0"/>
              <a:t>Eliminar uno de los predictores problemáticos</a:t>
            </a:r>
          </a:p>
          <a:p>
            <a:pPr lvl="1"/>
            <a:r>
              <a:rPr lang="es-ES_tradnl" dirty="0"/>
              <a:t>Combinar los predictores (¿Como?)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BDA1D-8827-D437-EBAC-FFD069552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1595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Repasamos </a:t>
            </a:r>
            <a:r>
              <a:rPr lang="es-ES_tradnl" dirty="0"/>
              <a:t>las fortalezas de un modelo de regresión lineal</a:t>
            </a:r>
          </a:p>
          <a:p>
            <a:pPr lvl="1"/>
            <a:r>
              <a:rPr lang="es-ES_tradnl" dirty="0"/>
              <a:t>Modelo general, idea, aproximación, sesgo, MCO</a:t>
            </a:r>
          </a:p>
          <a:p>
            <a:r>
              <a:rPr lang="es-ES_tradnl" dirty="0">
                <a:solidFill>
                  <a:srgbClr val="002060"/>
                </a:solidFill>
              </a:rPr>
              <a:t>Discutimos</a:t>
            </a:r>
            <a:r>
              <a:rPr lang="es-ES_tradnl" dirty="0"/>
              <a:t> sobre formas de evaluar la precisión de</a:t>
            </a:r>
          </a:p>
          <a:p>
            <a:pPr lvl="1"/>
            <a:r>
              <a:rPr lang="es-ES_tradnl" dirty="0"/>
              <a:t>Coeficientes</a:t>
            </a:r>
          </a:p>
          <a:p>
            <a:pPr lvl="1"/>
            <a:r>
              <a:rPr lang="es-ES_tradnl" dirty="0"/>
              <a:t>Modelo</a:t>
            </a:r>
          </a:p>
          <a:p>
            <a:r>
              <a:rPr lang="es-ES_tradnl" dirty="0">
                <a:solidFill>
                  <a:srgbClr val="002060"/>
                </a:solidFill>
              </a:rPr>
              <a:t>Definimos</a:t>
            </a:r>
            <a:r>
              <a:rPr lang="es-ES_tradnl" dirty="0"/>
              <a:t> nuevamente el ECM y su relación con el Error de Pronostico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001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Repasamos </a:t>
            </a:r>
            <a:r>
              <a:rPr lang="es-ES_tradnl" dirty="0"/>
              <a:t>los resultados de la regresión lineal de la clase pasada</a:t>
            </a:r>
          </a:p>
          <a:p>
            <a:pPr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Mencionamos</a:t>
            </a:r>
            <a:r>
              <a:rPr lang="es-ES_tradnl" dirty="0"/>
              <a:t> algunas consideraciones sobre la relación de predictores y el </a:t>
            </a:r>
            <a:r>
              <a:rPr lang="es-ES_tradnl" dirty="0" err="1"/>
              <a:t>outcome</a:t>
            </a:r>
            <a:endParaRPr lang="es-ES_tradnl" dirty="0"/>
          </a:p>
          <a:p>
            <a:pPr lvl="1">
              <a:lnSpc>
                <a:spcPct val="120000"/>
              </a:lnSpc>
            </a:pPr>
            <a:r>
              <a:rPr lang="es-ES_tradnl" dirty="0"/>
              <a:t>Importancia de la predicción en el contexto de IV</a:t>
            </a:r>
          </a:p>
          <a:p>
            <a:pPr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Enumeramos </a:t>
            </a:r>
            <a:r>
              <a:rPr lang="es-ES_tradnl" dirty="0"/>
              <a:t>distintos problemas y soluciones cuando hacemos predicción con una regresión lineal</a:t>
            </a:r>
          </a:p>
          <a:p>
            <a:pPr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Aprendimos</a:t>
            </a:r>
            <a:r>
              <a:rPr lang="es-ES_tradnl" dirty="0"/>
              <a:t> de una base de datos con muchas otras bases de datos harmonizadas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3210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s-ES_tradnl" dirty="0"/>
              <a:t>Consultas: </a:t>
            </a:r>
            <a:r>
              <a:rPr lang="en-US" dirty="0">
                <a:solidFill>
                  <a:srgbClr val="000000"/>
                </a:solidFill>
                <a:effectLst/>
                <a:hlinkClick r:id="rId2"/>
              </a:rPr>
              <a:t>25RO35480961@campus.economicas.uba.ar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3661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87264-3936-E01F-69E6-755BDAD76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Demostraciones opcionales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DBC37-65BC-D07C-22F6-12C163A79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6AA5B-BB72-FCCC-E30C-19365D0A2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3832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Demostración Resultado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s-ES_tradnl" dirty="0"/>
                  <a:t> es insesgado,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s-ES_tradnl" dirty="0"/>
                  <a:t> es eficiente,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</m:d>
                  </m:oMath>
                </a14:m>
                <a:r>
                  <a:rPr lang="es-ES_tradnl" dirty="0"/>
                  <a:t> es matriz semidefinida positiva, para cualquier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s-ES_tradnl" dirty="0"/>
                  <a:t> lineal e insesgado: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En cualquier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ℜ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s-ES_tradnl" dirty="0"/>
                  <a:t>. En particular para cualquier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sSub>
                        <m:sSub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Por lo que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</m:d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 es mínimo en la clase de predictores basados en estimadores lineales e insesgados.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872" r="-120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FF25E-88EF-3C3B-D1AE-12C57480E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352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Demostración del Resultado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Resultado 2 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 que mejor predice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es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) = 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s-ES_tradnl" dirty="0"/>
                  <a:t> no observable y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_tradnl" dirty="0"/>
                  <a:t> conocida,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_tradnl" dirty="0"/>
                  <a:t> es el mejor predictor.</a:t>
                </a: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≡ 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) </m:t>
                    </m:r>
                  </m:oMath>
                </a14:m>
                <a:r>
                  <a:rPr lang="es-ES_tradnl" dirty="0"/>
                  <a:t>es el mejor predictor de </a:t>
                </a:r>
                <a14:m>
                  <m:oMath xmlns:m="http://schemas.openxmlformats.org/officeDocument/2006/math">
                    <m:r>
                      <a:rPr lang="es-ES_tradnl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Sumar y restar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s-ES_tradnl" dirty="0"/>
                  <a:t>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, distribuir el cuadrado y obtener: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i="1" dirty="0" smtClean="0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_tradnl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_tradnl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ES_tradnl" i="1" dirty="0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i="1" dirty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ES_tradnl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_tradnl" i="1" dirty="0" smtClean="0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s-ES_tradnl" i="1" dirty="0" smtClean="0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_tradnl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i="1" dirty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  <m:r>
                                <a:rPr lang="es-ES_tradnl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_tradnl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e>
                        <m:sup>
                          <m:r>
                            <a:rPr lang="es-ES_tradnl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_tradnl" i="1" dirty="0" smtClean="0">
                          <a:latin typeface="Cambria Math" panose="02040503050406030204" pitchFamily="18" charset="0"/>
                        </a:rPr>
                        <m:t> +2</m:t>
                      </m:r>
                      <m:r>
                        <a:rPr lang="es-ES_tradnl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s-ES_tradnl" i="1" dirty="0" smtClean="0">
                          <a:latin typeface="Cambria Math" panose="02040503050406030204" pitchFamily="18" charset="0"/>
                        </a:rPr>
                        <m:t>[(</m:t>
                      </m:r>
                      <m:r>
                        <a:rPr lang="es-ES_tradnl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s-ES_tradnl" i="1" dirty="0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s-ES_tradnl" i="1" dirty="0" smtClean="0">
                          <a:latin typeface="Cambria Math" panose="02040503050406030204" pitchFamily="18" charset="0"/>
                        </a:rPr>
                        <m:t>)(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s-ES_tradnl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_tradnl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ES_tradnl" i="1" dirty="0" smtClean="0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sz="1500" dirty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>
                    <a:solidFill>
                      <a:srgbClr val="0070C0"/>
                    </a:solidFill>
                  </a:rPr>
                  <a:t>Tarea para la casa 2: </a:t>
                </a:r>
                <a:r>
                  <a:rPr lang="es-ES_tradnl" dirty="0"/>
                  <a:t>Llegar a </a:t>
                </a:r>
                <a14:m>
                  <m:oMath xmlns:m="http://schemas.openxmlformats.org/officeDocument/2006/math">
                    <m:r>
                      <a:rPr lang="es-ES_tradnl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ES_tradnl" i="1" dirty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i="1" dirty="0"/>
                  <a:t>Hint</a:t>
                </a:r>
                <a:r>
                  <a:rPr lang="es-ES_tradnl" dirty="0"/>
                  <a:t>: Expandir el producto y cancelar términos comunes. Mostrar que el tercer sumando es 0 expandiendo el producto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i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163" r="-8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EE7BF-0B3C-A5A0-8BEE-799CDC786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736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3036</TotalTime>
  <Words>2799</Words>
  <Application>Microsoft Macintosh PowerPoint</Application>
  <PresentationFormat>Panorámica</PresentationFormat>
  <Paragraphs>446</Paragraphs>
  <Slides>59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59</vt:i4>
      </vt:variant>
    </vt:vector>
  </HeadingPairs>
  <TitlesOfParts>
    <vt:vector size="68" baseType="lpstr">
      <vt:lpstr>Arial</vt:lpstr>
      <vt:lpstr>Calibri</vt:lpstr>
      <vt:lpstr>Cambria Math</vt:lpstr>
      <vt:lpstr>CMSS8</vt:lpstr>
      <vt:lpstr>Gill Sans Nova Light</vt:lpstr>
      <vt:lpstr>Goudy Old Style</vt:lpstr>
      <vt:lpstr>Times</vt:lpstr>
      <vt:lpstr>Times New Roman</vt:lpstr>
      <vt:lpstr>Office Theme</vt:lpstr>
      <vt:lpstr>Introducción a Métodos Supervisados: Regresión</vt:lpstr>
      <vt:lpstr>En la clase de hoy</vt:lpstr>
      <vt:lpstr>Orden de Temas: Secuencia de Trabajo con Datos</vt:lpstr>
      <vt:lpstr>De la Etapa Explorativa a la Predicción</vt:lpstr>
      <vt:lpstr>Regresión Lineal: Motivación </vt:lpstr>
      <vt:lpstr>Fortalezas del “Modelo Madre”</vt:lpstr>
      <vt:lpstr>Mas Fortalezas del Modelo de Regresión</vt:lpstr>
      <vt:lpstr>Regresión Formalmente</vt:lpstr>
      <vt:lpstr>Regresión Lineal: Motivación</vt:lpstr>
      <vt:lpstr>Modelo de Regresión Múltiple</vt:lpstr>
      <vt:lpstr>Regresión Lineal con Un predictor</vt:lpstr>
      <vt:lpstr>Regresión Lineal en Notación Matricial</vt:lpstr>
      <vt:lpstr>Representación Gráfica de MCO</vt:lpstr>
      <vt:lpstr>Ilustración de la minimización de residuos I</vt:lpstr>
      <vt:lpstr>Evaluación de la precisión de los coeficientes I</vt:lpstr>
      <vt:lpstr>Ilustración de Mejor Aproximación Lineal</vt:lpstr>
      <vt:lpstr>Evaluación de la precisión de los coeficientes II</vt:lpstr>
      <vt:lpstr>Predictor óptimo de Y </vt:lpstr>
      <vt:lpstr>En la Práctica, evaluamos la predicción con… </vt:lpstr>
      <vt:lpstr>Ilustración de la predicción y ̂ y varianza</vt:lpstr>
      <vt:lpstr>En la Práctica, evaluamos la predicción con… </vt:lpstr>
      <vt:lpstr>Predicción y Error cuadrático medio (ECM)</vt:lpstr>
      <vt:lpstr>Error Cuadrático Medio (ECM)</vt:lpstr>
      <vt:lpstr>Descomposición sesgo-varianza I</vt:lpstr>
      <vt:lpstr>Visualización de escenarios posibles</vt:lpstr>
      <vt:lpstr>Descomposición sesgo-varianza II</vt:lpstr>
      <vt:lpstr>Error de predicción</vt:lpstr>
      <vt:lpstr>Del ECM al Error de predicción I</vt:lpstr>
      <vt:lpstr>Del ECM al Error de predicción II</vt:lpstr>
      <vt:lpstr>Visualización del Trade-off Sesgo-varianza</vt:lpstr>
      <vt:lpstr>Trade Off Sesgo Varianza: Escenarios posibles</vt:lpstr>
      <vt:lpstr>Aprendizaje Automático reduce la varianza</vt:lpstr>
      <vt:lpstr>Error de Pronóstico y MSE</vt:lpstr>
      <vt:lpstr>Regresión: Consideraciones </vt:lpstr>
      <vt:lpstr>¿Hay relación entre la respuesta y los predictores? I</vt:lpstr>
      <vt:lpstr>¿Hay relación entre la respuesta y los predictores? II</vt:lpstr>
      <vt:lpstr>¿Hay relación entre la respuesta y los predictores? III</vt:lpstr>
      <vt:lpstr>En Método Cuasi-Experimental ¿A qué nos recuerda? </vt:lpstr>
      <vt:lpstr>Selección de variables (no automático)</vt:lpstr>
      <vt:lpstr>Relación test t y test F</vt:lpstr>
      <vt:lpstr>Ilustración del problema lógico </vt:lpstr>
      <vt:lpstr>Precisión del Modelo en la Practica</vt:lpstr>
      <vt:lpstr>Regresión: Problemas y soluciones practicas</vt:lpstr>
      <vt:lpstr>1. Extensiones del Modelo Lineal</vt:lpstr>
      <vt:lpstr>2. No linealidad de los datos</vt:lpstr>
      <vt:lpstr>3. Autocorrelación de los errores</vt:lpstr>
      <vt:lpstr>4. Varianza del error no constante</vt:lpstr>
      <vt:lpstr>5. Outliers</vt:lpstr>
      <vt:lpstr>6. High Leverage Points (¿diferencia?)</vt:lpstr>
      <vt:lpstr>7. Colinealidad I</vt:lpstr>
      <vt:lpstr>Ilustración: ¿Qué pasa con alta multicolinealidad?</vt:lpstr>
      <vt:lpstr>7. Colinealidad II</vt:lpstr>
      <vt:lpstr>Conclusiones finales</vt:lpstr>
      <vt:lpstr>¿Qué aprendimos hoy?</vt:lpstr>
      <vt:lpstr>¿Qué aprendimos hoy?</vt:lpstr>
      <vt:lpstr>¿Dudas, consultas?</vt:lpstr>
      <vt:lpstr>Demostraciones opcionales</vt:lpstr>
      <vt:lpstr>Demostración Resultado 1</vt:lpstr>
      <vt:lpstr>Demostración del Resultado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María Noelia Romero</cp:lastModifiedBy>
  <cp:revision>285</cp:revision>
  <dcterms:created xsi:type="dcterms:W3CDTF">2023-06-12T20:51:31Z</dcterms:created>
  <dcterms:modified xsi:type="dcterms:W3CDTF">2026-07-27T19:10:51Z</dcterms:modified>
</cp:coreProperties>
</file>