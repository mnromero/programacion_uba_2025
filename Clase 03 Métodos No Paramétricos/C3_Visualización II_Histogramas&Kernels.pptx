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0"/>
  </p:notesMasterIdLst>
  <p:sldIdLst>
    <p:sldId id="489" r:id="rId2"/>
    <p:sldId id="275" r:id="rId3"/>
    <p:sldId id="430" r:id="rId4"/>
    <p:sldId id="405" r:id="rId5"/>
    <p:sldId id="486" r:id="rId6"/>
    <p:sldId id="487" r:id="rId7"/>
    <p:sldId id="415" r:id="rId8"/>
    <p:sldId id="428" r:id="rId9"/>
    <p:sldId id="488" r:id="rId10"/>
    <p:sldId id="400" r:id="rId11"/>
    <p:sldId id="413" r:id="rId12"/>
    <p:sldId id="329" r:id="rId13"/>
    <p:sldId id="406" r:id="rId14"/>
    <p:sldId id="407" r:id="rId15"/>
    <p:sldId id="412" r:id="rId16"/>
    <p:sldId id="358" r:id="rId17"/>
    <p:sldId id="359" r:id="rId18"/>
    <p:sldId id="454" r:id="rId19"/>
    <p:sldId id="431" r:id="rId20"/>
    <p:sldId id="408" r:id="rId21"/>
    <p:sldId id="422" r:id="rId22"/>
    <p:sldId id="416" r:id="rId23"/>
    <p:sldId id="419" r:id="rId24"/>
    <p:sldId id="409" r:id="rId25"/>
    <p:sldId id="410" r:id="rId26"/>
    <p:sldId id="417" r:id="rId27"/>
    <p:sldId id="418" r:id="rId28"/>
    <p:sldId id="436" r:id="rId29"/>
    <p:sldId id="420" r:id="rId30"/>
    <p:sldId id="411" r:id="rId31"/>
    <p:sldId id="432" r:id="rId32"/>
    <p:sldId id="423" r:id="rId33"/>
    <p:sldId id="424" r:id="rId34"/>
    <p:sldId id="360" r:id="rId35"/>
    <p:sldId id="362" r:id="rId36"/>
    <p:sldId id="426" r:id="rId37"/>
    <p:sldId id="425" r:id="rId38"/>
    <p:sldId id="496" r:id="rId39"/>
    <p:sldId id="364" r:id="rId40"/>
    <p:sldId id="490" r:id="rId41"/>
    <p:sldId id="491" r:id="rId42"/>
    <p:sldId id="427" r:id="rId43"/>
    <p:sldId id="261" r:id="rId44"/>
    <p:sldId id="264" r:id="rId45"/>
    <p:sldId id="492" r:id="rId46"/>
    <p:sldId id="446" r:id="rId47"/>
    <p:sldId id="447" r:id="rId48"/>
    <p:sldId id="449" r:id="rId49"/>
    <p:sldId id="450" r:id="rId50"/>
    <p:sldId id="451" r:id="rId51"/>
    <p:sldId id="493" r:id="rId52"/>
    <p:sldId id="494" r:id="rId53"/>
    <p:sldId id="495" r:id="rId54"/>
    <p:sldId id="452" r:id="rId55"/>
    <p:sldId id="453" r:id="rId56"/>
    <p:sldId id="456" r:id="rId57"/>
    <p:sldId id="467" r:id="rId58"/>
    <p:sldId id="455" r:id="rId59"/>
    <p:sldId id="466" r:id="rId60"/>
    <p:sldId id="457" r:id="rId61"/>
    <p:sldId id="459" r:id="rId62"/>
    <p:sldId id="460" r:id="rId63"/>
    <p:sldId id="461" r:id="rId64"/>
    <p:sldId id="462" r:id="rId65"/>
    <p:sldId id="464" r:id="rId66"/>
    <p:sldId id="465" r:id="rId67"/>
    <p:sldId id="433" r:id="rId68"/>
    <p:sldId id="365" r:id="rId69"/>
    <p:sldId id="366" r:id="rId70"/>
    <p:sldId id="337" r:id="rId71"/>
    <p:sldId id="314" r:id="rId72"/>
    <p:sldId id="444" r:id="rId73"/>
    <p:sldId id="361" r:id="rId74"/>
    <p:sldId id="469" r:id="rId75"/>
    <p:sldId id="434" r:id="rId76"/>
    <p:sldId id="435" r:id="rId77"/>
    <p:sldId id="497" r:id="rId78"/>
    <p:sldId id="463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89"/>
            <p14:sldId id="275"/>
            <p14:sldId id="430"/>
          </p14:sldIdLst>
        </p14:section>
        <p14:section name="Visualización de datos II" id="{A3291F99-C082-C04D-BD29-74AD9935121C}">
          <p14:sldIdLst>
            <p14:sldId id="405"/>
            <p14:sldId id="486"/>
            <p14:sldId id="487"/>
          </p14:sldIdLst>
        </p14:section>
        <p14:section name="I. Breve repaso de los principios de visualizacion de datos" id="{D3448F2A-EB00-AC42-ADC2-B39705A80A5F}">
          <p14:sldIdLst>
            <p14:sldId id="415"/>
            <p14:sldId id="428"/>
            <p14:sldId id="488"/>
            <p14:sldId id="400"/>
            <p14:sldId id="413"/>
          </p14:sldIdLst>
        </p14:section>
        <p14:section name="II. Distinción de Metodos: Parametricos vs. No Parametricos" id="{F06AC147-1820-E64A-873C-8C467231AE8F}">
          <p14:sldIdLst>
            <p14:sldId id="329"/>
            <p14:sldId id="406"/>
            <p14:sldId id="407"/>
            <p14:sldId id="412"/>
          </p14:sldIdLst>
        </p14:section>
        <p14:section name="III. Objetivo: Funciones de Densidad" id="{A99E6394-6FC2-C845-A0AE-7F156485CD1D}">
          <p14:sldIdLst>
            <p14:sldId id="358"/>
            <p14:sldId id="359"/>
            <p14:sldId id="454"/>
            <p14:sldId id="431"/>
            <p14:sldId id="408"/>
            <p14:sldId id="422"/>
          </p14:sldIdLst>
        </p14:section>
        <p14:section name="IV. Histograma" id="{532BBC8B-79E2-8641-8A2D-C0B21F790FD3}">
          <p14:sldIdLst>
            <p14:sldId id="416"/>
            <p14:sldId id="419"/>
            <p14:sldId id="409"/>
            <p14:sldId id="410"/>
            <p14:sldId id="417"/>
            <p14:sldId id="418"/>
            <p14:sldId id="436"/>
            <p14:sldId id="420"/>
          </p14:sldIdLst>
        </p14:section>
        <p14:section name="V. Kernels" id="{8866D8F9-C935-0446-99D8-2B1A4583B9FC}">
          <p14:sldIdLst>
            <p14:sldId id="411"/>
            <p14:sldId id="432"/>
            <p14:sldId id="423"/>
            <p14:sldId id="424"/>
            <p14:sldId id="360"/>
            <p14:sldId id="362"/>
            <p14:sldId id="426"/>
            <p14:sldId id="425"/>
            <p14:sldId id="496"/>
          </p14:sldIdLst>
        </p14:section>
        <p14:section name="VI. Aplicación en Economia Laboral y del Consumidor" id="{9CEA252C-34B0-1948-BC7F-83039455EB12}">
          <p14:sldIdLst>
            <p14:sldId id="364"/>
            <p14:sldId id="490"/>
            <p14:sldId id="491"/>
            <p14:sldId id="427"/>
            <p14:sldId id="261"/>
            <p14:sldId id="264"/>
            <p14:sldId id="492"/>
            <p14:sldId id="446"/>
            <p14:sldId id="447"/>
            <p14:sldId id="449"/>
            <p14:sldId id="450"/>
            <p14:sldId id="451"/>
            <p14:sldId id="493"/>
            <p14:sldId id="494"/>
            <p14:sldId id="495"/>
            <p14:sldId id="452"/>
            <p14:sldId id="453"/>
            <p14:sldId id="456"/>
            <p14:sldId id="467"/>
            <p14:sldId id="455"/>
            <p14:sldId id="466"/>
            <p14:sldId id="457"/>
            <p14:sldId id="459"/>
            <p14:sldId id="460"/>
            <p14:sldId id="461"/>
            <p14:sldId id="462"/>
            <p14:sldId id="464"/>
            <p14:sldId id="465"/>
          </p14:sldIdLst>
        </p14:section>
        <p14:section name="VI. Aplicaciones en Economia" id="{CF699739-05CE-704F-9F15-B038D141A05B}">
          <p14:sldIdLst>
            <p14:sldId id="433"/>
            <p14:sldId id="365"/>
            <p14:sldId id="366"/>
          </p14:sldIdLst>
        </p14:section>
        <p14:section name="Conclusiones finales" id="{30AE4762-25DE-C74D-AF95-4AEC0CC37FB0}">
          <p14:sldIdLst>
            <p14:sldId id="337"/>
            <p14:sldId id="314"/>
            <p14:sldId id="444"/>
          </p14:sldIdLst>
        </p14:section>
        <p14:section name="Apendice" id="{845EC488-8CC3-C249-BFF1-28A0A797A9A2}">
          <p14:sldIdLst>
            <p14:sldId id="361"/>
            <p14:sldId id="469"/>
            <p14:sldId id="434"/>
            <p14:sldId id="435"/>
            <p14:sldId id="497"/>
            <p14:sldId id="4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7481"/>
  </p:normalViewPr>
  <p:slideViewPr>
    <p:cSldViewPr snapToGrid="0">
      <p:cViewPr varScale="1">
        <p:scale>
          <a:sx n="90" d="100"/>
          <a:sy n="90" d="100"/>
        </p:scale>
        <p:origin x="2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delSld modSld modSection">
      <pc:chgData name="María Noelia Romero" userId="2133f5768dfc5791" providerId="LiveId" clId="{0168CA65-A813-5033-94B8-EF4605FC29D1}" dt="2026-07-13T21:08:47.262" v="15" actId="2696"/>
      <pc:docMkLst>
        <pc:docMk/>
      </pc:docMkLst>
      <pc:sldChg chg="modSp del mod">
        <pc:chgData name="María Noelia Romero" userId="2133f5768dfc5791" providerId="LiveId" clId="{0168CA65-A813-5033-94B8-EF4605FC29D1}" dt="2026-07-13T21:08:47.262" v="15" actId="2696"/>
        <pc:sldMkLst>
          <pc:docMk/>
          <pc:sldMk cId="952169270" sldId="42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C43C6C-5135-BC4B-BD1E-02F38DA0ECBD}" type="doc">
      <dgm:prSet loTypeId="urn:microsoft.com/office/officeart/2005/8/layout/gear1" loCatId="" qsTypeId="urn:microsoft.com/office/officeart/2005/8/quickstyle/simple1" qsCatId="simple" csTypeId="urn:microsoft.com/office/officeart/2005/8/colors/colorful3" csCatId="colorful" phldr="1"/>
      <dgm:spPr/>
    </dgm:pt>
    <dgm:pt modelId="{9D5834D3-DCBE-FE4A-9F3C-70C1F66B4852}">
      <dgm:prSet phldrT="[Text]" custT="1"/>
      <dgm:spPr/>
      <dgm:t>
        <a:bodyPr/>
        <a:lstStyle/>
        <a:p>
          <a:r>
            <a:rPr lang="es-ES_tradnl" sz="2800" noProof="0" dirty="0">
              <a:latin typeface="Gill Sans Nova Light" panose="020B0302020104020203" pitchFamily="34" charset="0"/>
            </a:rPr>
            <a:t>Modelos y Predicción</a:t>
          </a:r>
        </a:p>
      </dgm:t>
    </dgm:pt>
    <dgm:pt modelId="{BCAE287E-ED9A-3E48-8722-8F6B9573D100}" type="par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1154557-80C0-D242-9F38-2AE22E6B7511}" type="sib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C1D9BF3-4558-C441-8CDB-F5F25B657909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Análisis Descriptivo</a:t>
          </a:r>
        </a:p>
      </dgm:t>
    </dgm:pt>
    <dgm:pt modelId="{881D90E0-E7C8-CC43-93B2-383911E0D2EB}" type="par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795D308-22A9-A146-9196-142AFCE44F43}" type="sib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037808B-2E47-824B-B2E4-91155269E95D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Limpieza de Datos</a:t>
          </a:r>
        </a:p>
      </dgm:t>
    </dgm:pt>
    <dgm:pt modelId="{ED8788D8-BEA6-C54B-993B-DA641453DD4E}" type="par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8D702279-B072-BE41-8B74-E88DB5DFA9BD}" type="sib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0056E4B-8ACB-724F-BDAD-85D5C5F064AF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Training-</a:t>
          </a:r>
          <a:r>
            <a:rPr lang="es-ES_tradnl" sz="16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noProof="0" dirty="0">
              <a:latin typeface="Gill Sans Nova Light" panose="020B0302020104020203" pitchFamily="34" charset="0"/>
            </a:rPr>
            <a:t> </a:t>
          </a:r>
          <a:r>
            <a:rPr lang="es-ES_tradnl" sz="1600" noProof="0" dirty="0" err="1">
              <a:latin typeface="Gill Sans Nova Light" panose="020B0302020104020203" pitchFamily="34" charset="0"/>
            </a:rPr>
            <a:t>datasets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527175C8-8AF8-CC45-9FF1-D63223F04F2D}" type="par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9B5DB3C3-3766-4348-8E63-CFF204EF4554}" type="sib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3A9F1EC-0DE4-4444-A45C-356F91B84DC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Muestras</a:t>
          </a:r>
        </a:p>
      </dgm:t>
    </dgm:pt>
    <dgm:pt modelId="{BD950AF3-A809-7143-9311-79DEFED2FA80}" type="par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4FC2C2DB-B394-6143-9616-8DF215A5B6BF}" type="sib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CCFA7035-6F6F-3D4B-8B35-A16AD6A921E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Tablas</a:t>
          </a:r>
        </a:p>
      </dgm:t>
    </dgm:pt>
    <dgm:pt modelId="{AB3F1680-3360-BE4D-A584-4042D38A7BA2}" type="par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9FCB476-72D0-A149-A9EB-DF7EAC0E0FF0}" type="sib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B3B5F46C-A648-504C-8AAC-30ED2BAFD98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Histogramas</a:t>
          </a:r>
        </a:p>
      </dgm:t>
    </dgm:pt>
    <dgm:pt modelId="{5869E246-DEFC-A04C-9534-AD6BA0C6DD45}" type="par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0DE0AB-2728-3C40-97FB-74BBF7BD6E3A}" type="sib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B4BE51-48B6-9843-9F9C-B235F95E2542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Ajuste de modelos</a:t>
          </a:r>
        </a:p>
      </dgm:t>
    </dgm:pt>
    <dgm:pt modelId="{55D16910-2739-2E41-9255-053D324BB326}" type="par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3E05C95-028B-7241-A19E-244D17A962E8}" type="sib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6C7C9D5-FB05-D844-9064-5C35550BACB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Eliminar variables</a:t>
          </a:r>
        </a:p>
      </dgm:t>
    </dgm:pt>
    <dgm:pt modelId="{BA71D0E4-94A7-5C44-8402-856A315B5CAC}" type="parTrans" cxnId="{A3279BB0-CAE3-3140-86A8-3FF7D963165E}">
      <dgm:prSet/>
      <dgm:spPr/>
      <dgm:t>
        <a:bodyPr/>
        <a:lstStyle/>
        <a:p>
          <a:endParaRPr lang="en-US"/>
        </a:p>
      </dgm:t>
    </dgm:pt>
    <dgm:pt modelId="{7A3A7230-6DEC-364C-804E-09925F759DFC}" type="sibTrans" cxnId="{A3279BB0-CAE3-3140-86A8-3FF7D963165E}">
      <dgm:prSet/>
      <dgm:spPr/>
      <dgm:t>
        <a:bodyPr/>
        <a:lstStyle/>
        <a:p>
          <a:endParaRPr lang="en-US"/>
        </a:p>
      </dgm:t>
    </dgm:pt>
    <dgm:pt modelId="{366B1A80-632E-6A4A-8CBC-D3180F595C47}">
      <dgm:prSet phldrT="[Text]" custT="1"/>
      <dgm:spPr/>
      <dgm:t>
        <a:bodyPr/>
        <a:lstStyle/>
        <a:p>
          <a:r>
            <a:rPr lang="es-ES_tradnl" sz="1600" noProof="0" dirty="0" err="1">
              <a:latin typeface="Gill Sans Nova Light" panose="020B0302020104020203" pitchFamily="34" charset="0"/>
            </a:rPr>
            <a:t>Reshape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CCE81864-4AAB-EA48-8856-55FE2ECBA027}" type="parTrans" cxnId="{17A9DB82-D70C-3841-8231-65D0E616C61E}">
      <dgm:prSet/>
      <dgm:spPr/>
      <dgm:t>
        <a:bodyPr/>
        <a:lstStyle/>
        <a:p>
          <a:endParaRPr lang="en-US"/>
        </a:p>
      </dgm:t>
    </dgm:pt>
    <dgm:pt modelId="{C6964089-4F46-1D4A-A97A-E1789F64C6C0}" type="sibTrans" cxnId="{17A9DB82-D70C-3841-8231-65D0E616C61E}">
      <dgm:prSet/>
      <dgm:spPr/>
      <dgm:t>
        <a:bodyPr/>
        <a:lstStyle/>
        <a:p>
          <a:endParaRPr lang="en-US"/>
        </a:p>
      </dgm:t>
    </dgm:pt>
    <dgm:pt modelId="{09AF4F76-A191-3741-8104-35A15AC3511C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PCA, Clusters, …</a:t>
          </a:r>
        </a:p>
      </dgm:t>
    </dgm:pt>
    <dgm:pt modelId="{51F2639B-CB35-4646-A10A-8D1CA9C95B68}" type="parTrans" cxnId="{A777EBBD-66CE-7E4C-871A-30D56CA8C1F9}">
      <dgm:prSet/>
      <dgm:spPr/>
      <dgm:t>
        <a:bodyPr/>
        <a:lstStyle/>
        <a:p>
          <a:endParaRPr lang="en-US"/>
        </a:p>
      </dgm:t>
    </dgm:pt>
    <dgm:pt modelId="{5FAC6C8D-BF75-E04F-89A2-D19A3B97247C}" type="sibTrans" cxnId="{A777EBBD-66CE-7E4C-871A-30D56CA8C1F9}">
      <dgm:prSet/>
      <dgm:spPr/>
      <dgm:t>
        <a:bodyPr/>
        <a:lstStyle/>
        <a:p>
          <a:endParaRPr lang="en-US"/>
        </a:p>
      </dgm:t>
    </dgm:pt>
    <dgm:pt modelId="{AA2D7C07-E3AF-F44B-BDAC-C0B0A6124799}" type="pres">
      <dgm:prSet presAssocID="{07C43C6C-5135-BC4B-BD1E-02F38DA0ECB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8CC346FA-4A14-A84C-9969-637AEC388AE2}" type="pres">
      <dgm:prSet presAssocID="{9D5834D3-DCBE-FE4A-9F3C-70C1F66B4852}" presName="gear1" presStyleLbl="node1" presStyleIdx="0" presStyleCnt="3">
        <dgm:presLayoutVars>
          <dgm:chMax val="1"/>
          <dgm:bulletEnabled val="1"/>
        </dgm:presLayoutVars>
      </dgm:prSet>
      <dgm:spPr/>
    </dgm:pt>
    <dgm:pt modelId="{6F1BA774-F9DF-BB46-90ED-1E58C5E3BBEC}" type="pres">
      <dgm:prSet presAssocID="{9D5834D3-DCBE-FE4A-9F3C-70C1F66B4852}" presName="gear1srcNode" presStyleLbl="node1" presStyleIdx="0" presStyleCnt="3"/>
      <dgm:spPr/>
    </dgm:pt>
    <dgm:pt modelId="{BFC858B6-67B8-4E46-B619-75745BF3BBE2}" type="pres">
      <dgm:prSet presAssocID="{9D5834D3-DCBE-FE4A-9F3C-70C1F66B4852}" presName="gear1dstNode" presStyleLbl="node1" presStyleIdx="0" presStyleCnt="3"/>
      <dgm:spPr/>
    </dgm:pt>
    <dgm:pt modelId="{4463CEEF-3FFD-2442-8720-91C26F81DA31}" type="pres">
      <dgm:prSet presAssocID="{9D5834D3-DCBE-FE4A-9F3C-70C1F66B4852}" presName="gear1ch" presStyleLbl="fgAcc1" presStyleIdx="0" presStyleCnt="3">
        <dgm:presLayoutVars>
          <dgm:chMax val="0"/>
          <dgm:bulletEnabled val="1"/>
        </dgm:presLayoutVars>
      </dgm:prSet>
      <dgm:spPr/>
    </dgm:pt>
    <dgm:pt modelId="{1256C406-6AA7-694B-A9CC-2C0E2709362F}" type="pres">
      <dgm:prSet presAssocID="{5C1D9BF3-4558-C441-8CDB-F5F25B657909}" presName="gear2" presStyleLbl="node1" presStyleIdx="1" presStyleCnt="3">
        <dgm:presLayoutVars>
          <dgm:chMax val="1"/>
          <dgm:bulletEnabled val="1"/>
        </dgm:presLayoutVars>
      </dgm:prSet>
      <dgm:spPr/>
    </dgm:pt>
    <dgm:pt modelId="{E9DF701F-09A1-2442-A083-139F4971AD2F}" type="pres">
      <dgm:prSet presAssocID="{5C1D9BF3-4558-C441-8CDB-F5F25B657909}" presName="gear2srcNode" presStyleLbl="node1" presStyleIdx="1" presStyleCnt="3"/>
      <dgm:spPr/>
    </dgm:pt>
    <dgm:pt modelId="{94050C01-7B6B-FD46-9980-ED2F5C8CE5C2}" type="pres">
      <dgm:prSet presAssocID="{5C1D9BF3-4558-C441-8CDB-F5F25B657909}" presName="gear2dstNode" presStyleLbl="node1" presStyleIdx="1" presStyleCnt="3"/>
      <dgm:spPr/>
    </dgm:pt>
    <dgm:pt modelId="{1B993F7D-C4FD-3F4A-B699-E7B45E6393E2}" type="pres">
      <dgm:prSet presAssocID="{5C1D9BF3-4558-C441-8CDB-F5F25B657909}" presName="gear2ch" presStyleLbl="fgAcc1" presStyleIdx="1" presStyleCnt="3">
        <dgm:presLayoutVars>
          <dgm:chMax val="0"/>
          <dgm:bulletEnabled val="1"/>
        </dgm:presLayoutVars>
      </dgm:prSet>
      <dgm:spPr/>
    </dgm:pt>
    <dgm:pt modelId="{F7C1E3D9-D3A5-F44F-A8AF-AF676044A6A0}" type="pres">
      <dgm:prSet presAssocID="{D037808B-2E47-824B-B2E4-91155269E95D}" presName="gear3" presStyleLbl="node1" presStyleIdx="2" presStyleCnt="3"/>
      <dgm:spPr/>
    </dgm:pt>
    <dgm:pt modelId="{97323462-AD88-094D-BDF2-9B255EA36A9E}" type="pres">
      <dgm:prSet presAssocID="{D037808B-2E47-824B-B2E4-91155269E95D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D5B0E98-1C02-1540-888E-97BCC9AA2CD1}" type="pres">
      <dgm:prSet presAssocID="{D037808B-2E47-824B-B2E4-91155269E95D}" presName="gear3srcNode" presStyleLbl="node1" presStyleIdx="2" presStyleCnt="3"/>
      <dgm:spPr/>
    </dgm:pt>
    <dgm:pt modelId="{5FBD5706-7166-4D46-81FE-90C898869241}" type="pres">
      <dgm:prSet presAssocID="{D037808B-2E47-824B-B2E4-91155269E95D}" presName="gear3dstNode" presStyleLbl="node1" presStyleIdx="2" presStyleCnt="3"/>
      <dgm:spPr/>
    </dgm:pt>
    <dgm:pt modelId="{F2F70D71-1549-DA4C-AE52-1D67B5E60328}" type="pres">
      <dgm:prSet presAssocID="{D037808B-2E47-824B-B2E4-91155269E95D}" presName="gear3ch" presStyleLbl="fgAcc1" presStyleIdx="2" presStyleCnt="3">
        <dgm:presLayoutVars>
          <dgm:chMax val="0"/>
          <dgm:bulletEnabled val="1"/>
        </dgm:presLayoutVars>
      </dgm:prSet>
      <dgm:spPr/>
    </dgm:pt>
    <dgm:pt modelId="{64D6B4A8-6DAE-7C4F-82B8-34EC1578BDEB}" type="pres">
      <dgm:prSet presAssocID="{E1154557-80C0-D242-9F38-2AE22E6B7511}" presName="connector1" presStyleLbl="sibTrans2D1" presStyleIdx="0" presStyleCnt="3"/>
      <dgm:spPr/>
    </dgm:pt>
    <dgm:pt modelId="{7BF98CC3-BBCC-4240-989B-3CCA849F73EF}" type="pres">
      <dgm:prSet presAssocID="{A795D308-22A9-A146-9196-142AFCE44F43}" presName="connector2" presStyleLbl="sibTrans2D1" presStyleIdx="1" presStyleCnt="3"/>
      <dgm:spPr/>
    </dgm:pt>
    <dgm:pt modelId="{FEA64E1C-E48C-5A40-A1FB-B14A94E05F3E}" type="pres">
      <dgm:prSet presAssocID="{8D702279-B072-BE41-8B74-E88DB5DFA9BD}" presName="connector3" presStyleLbl="sibTrans2D1" presStyleIdx="2" presStyleCnt="3"/>
      <dgm:spPr/>
    </dgm:pt>
  </dgm:ptLst>
  <dgm:cxnLst>
    <dgm:cxn modelId="{4F309A07-4F60-2A47-977C-E78E44077623}" type="presOf" srcId="{53B4BE51-48B6-9843-9F9C-B235F95E2542}" destId="{4463CEEF-3FFD-2442-8720-91C26F81DA31}" srcOrd="0" destOrd="1" presId="urn:microsoft.com/office/officeart/2005/8/layout/gear1"/>
    <dgm:cxn modelId="{D0D18B12-F425-E946-8A22-910F484681BB}" type="presOf" srcId="{5C1D9BF3-4558-C441-8CDB-F5F25B657909}" destId="{1256C406-6AA7-694B-A9CC-2C0E2709362F}" srcOrd="0" destOrd="0" presId="urn:microsoft.com/office/officeart/2005/8/layout/gear1"/>
    <dgm:cxn modelId="{B4E6EA16-6E2A-F642-8B1E-F28566093231}" type="presOf" srcId="{D037808B-2E47-824B-B2E4-91155269E95D}" destId="{97323462-AD88-094D-BDF2-9B255EA36A9E}" srcOrd="1" destOrd="0" presId="urn:microsoft.com/office/officeart/2005/8/layout/gear1"/>
    <dgm:cxn modelId="{33E7C71C-B6EF-7241-B5F9-5CFF01F112A1}" type="presOf" srcId="{5C1D9BF3-4558-C441-8CDB-F5F25B657909}" destId="{94050C01-7B6B-FD46-9980-ED2F5C8CE5C2}" srcOrd="2" destOrd="0" presId="urn:microsoft.com/office/officeart/2005/8/layout/gear1"/>
    <dgm:cxn modelId="{FB2A3C33-0D71-9C4D-BC1C-42096B83FC77}" srcId="{07C43C6C-5135-BC4B-BD1E-02F38DA0ECBD}" destId="{9D5834D3-DCBE-FE4A-9F3C-70C1F66B4852}" srcOrd="0" destOrd="0" parTransId="{BCAE287E-ED9A-3E48-8722-8F6B9573D100}" sibTransId="{E1154557-80C0-D242-9F38-2AE22E6B7511}"/>
    <dgm:cxn modelId="{28666342-540D-4049-AF73-93598A0D2B61}" type="presOf" srcId="{9D5834D3-DCBE-FE4A-9F3C-70C1F66B4852}" destId="{BFC858B6-67B8-4E46-B619-75745BF3BBE2}" srcOrd="2" destOrd="0" presId="urn:microsoft.com/office/officeart/2005/8/layout/gear1"/>
    <dgm:cxn modelId="{78753C43-3836-D64D-AA89-2706B6FA58AB}" type="presOf" srcId="{A6C7C9D5-FB05-D844-9064-5C35550BACBB}" destId="{F2F70D71-1549-DA4C-AE52-1D67B5E60328}" srcOrd="0" destOrd="1" presId="urn:microsoft.com/office/officeart/2005/8/layout/gear1"/>
    <dgm:cxn modelId="{47A38C4B-8B27-124D-855A-3320B35AEFC4}" type="presOf" srcId="{D037808B-2E47-824B-B2E4-91155269E95D}" destId="{DD5B0E98-1C02-1540-888E-97BCC9AA2CD1}" srcOrd="2" destOrd="0" presId="urn:microsoft.com/office/officeart/2005/8/layout/gear1"/>
    <dgm:cxn modelId="{367D154E-C9A2-5144-A466-A2D321D4DF37}" type="presOf" srcId="{B3B5F46C-A648-504C-8AAC-30ED2BAFD987}" destId="{1B993F7D-C4FD-3F4A-B699-E7B45E6393E2}" srcOrd="0" destOrd="1" presId="urn:microsoft.com/office/officeart/2005/8/layout/gear1"/>
    <dgm:cxn modelId="{5E123A51-BF16-9242-8C51-E4F1458FADFD}" type="presOf" srcId="{5C1D9BF3-4558-C441-8CDB-F5F25B657909}" destId="{E9DF701F-09A1-2442-A083-139F4971AD2F}" srcOrd="1" destOrd="0" presId="urn:microsoft.com/office/officeart/2005/8/layout/gear1"/>
    <dgm:cxn modelId="{5DC3875F-DED9-E94A-918B-C932452DB4CE}" type="presOf" srcId="{E0056E4B-8ACB-724F-BDAD-85D5C5F064AF}" destId="{4463CEEF-3FFD-2442-8720-91C26F81DA31}" srcOrd="0" destOrd="0" presId="urn:microsoft.com/office/officeart/2005/8/layout/gear1"/>
    <dgm:cxn modelId="{5C00AB6E-CC84-D64D-B830-0443C2CA0BDE}" type="presOf" srcId="{A795D308-22A9-A146-9196-142AFCE44F43}" destId="{7BF98CC3-BBCC-4240-989B-3CCA849F73EF}" srcOrd="0" destOrd="0" presId="urn:microsoft.com/office/officeart/2005/8/layout/gear1"/>
    <dgm:cxn modelId="{528BBA78-C629-A844-80CB-C14428F4095D}" srcId="{9D5834D3-DCBE-FE4A-9F3C-70C1F66B4852}" destId="{E0056E4B-8ACB-724F-BDAD-85D5C5F064AF}" srcOrd="0" destOrd="0" parTransId="{527175C8-8AF8-CC45-9FF1-D63223F04F2D}" sibTransId="{9B5DB3C3-3766-4348-8E63-CFF204EF4554}"/>
    <dgm:cxn modelId="{17A9DB82-D70C-3841-8231-65D0E616C61E}" srcId="{D037808B-2E47-824B-B2E4-91155269E95D}" destId="{366B1A80-632E-6A4A-8CBC-D3180F595C47}" srcOrd="2" destOrd="0" parTransId="{CCE81864-4AAB-EA48-8856-55FE2ECBA027}" sibTransId="{C6964089-4F46-1D4A-A97A-E1789F64C6C0}"/>
    <dgm:cxn modelId="{BA1A178B-6B5D-DF41-9526-BE3200DB3305}" srcId="{07C43C6C-5135-BC4B-BD1E-02F38DA0ECBD}" destId="{5C1D9BF3-4558-C441-8CDB-F5F25B657909}" srcOrd="1" destOrd="0" parTransId="{881D90E0-E7C8-CC43-93B2-383911E0D2EB}" sibTransId="{A795D308-22A9-A146-9196-142AFCE44F43}"/>
    <dgm:cxn modelId="{18D9A791-6FFE-7F4A-8CFE-0FD70E0CF150}" srcId="{5C1D9BF3-4558-C441-8CDB-F5F25B657909}" destId="{B3B5F46C-A648-504C-8AAC-30ED2BAFD987}" srcOrd="1" destOrd="0" parTransId="{5869E246-DEFC-A04C-9534-AD6BA0C6DD45}" sibTransId="{530DE0AB-2728-3C40-97FB-74BBF7BD6E3A}"/>
    <dgm:cxn modelId="{5739C3A5-2A9F-C041-9AB9-DEF490963754}" type="presOf" srcId="{D037808B-2E47-824B-B2E4-91155269E95D}" destId="{5FBD5706-7166-4D46-81FE-90C898869241}" srcOrd="3" destOrd="0" presId="urn:microsoft.com/office/officeart/2005/8/layout/gear1"/>
    <dgm:cxn modelId="{A3279BB0-CAE3-3140-86A8-3FF7D963165E}" srcId="{D037808B-2E47-824B-B2E4-91155269E95D}" destId="{A6C7C9D5-FB05-D844-9064-5C35550BACBB}" srcOrd="1" destOrd="0" parTransId="{BA71D0E4-94A7-5C44-8402-856A315B5CAC}" sibTransId="{7A3A7230-6DEC-364C-804E-09925F759DFC}"/>
    <dgm:cxn modelId="{A777EBBD-66CE-7E4C-871A-30D56CA8C1F9}" srcId="{5C1D9BF3-4558-C441-8CDB-F5F25B657909}" destId="{09AF4F76-A191-3741-8104-35A15AC3511C}" srcOrd="2" destOrd="0" parTransId="{51F2639B-CB35-4646-A10A-8D1CA9C95B68}" sibTransId="{5FAC6C8D-BF75-E04F-89A2-D19A3B97247C}"/>
    <dgm:cxn modelId="{60BC14C1-6521-8941-8CA1-FCD2FB329A35}" type="presOf" srcId="{D037808B-2E47-824B-B2E4-91155269E95D}" destId="{F7C1E3D9-D3A5-F44F-A8AF-AF676044A6A0}" srcOrd="0" destOrd="0" presId="urn:microsoft.com/office/officeart/2005/8/layout/gear1"/>
    <dgm:cxn modelId="{82858EC2-F01F-5541-9E75-A0765CD6C9A0}" type="presOf" srcId="{8D702279-B072-BE41-8B74-E88DB5DFA9BD}" destId="{FEA64E1C-E48C-5A40-A1FB-B14A94E05F3E}" srcOrd="0" destOrd="0" presId="urn:microsoft.com/office/officeart/2005/8/layout/gear1"/>
    <dgm:cxn modelId="{EC0799C8-0EDF-314A-911D-AD885A4B8C95}" srcId="{9D5834D3-DCBE-FE4A-9F3C-70C1F66B4852}" destId="{53B4BE51-48B6-9843-9F9C-B235F95E2542}" srcOrd="1" destOrd="0" parTransId="{55D16910-2739-2E41-9255-053D324BB326}" sibTransId="{73E05C95-028B-7241-A19E-244D17A962E8}"/>
    <dgm:cxn modelId="{97736BCC-4F91-914F-85C5-9D0AE687FABE}" type="presOf" srcId="{E3A9F1EC-0DE4-4444-A45C-356F91B84DCB}" destId="{F2F70D71-1549-DA4C-AE52-1D67B5E60328}" srcOrd="0" destOrd="0" presId="urn:microsoft.com/office/officeart/2005/8/layout/gear1"/>
    <dgm:cxn modelId="{703AE9CC-B44A-EB4E-BAAE-A004D8A373E3}" type="presOf" srcId="{366B1A80-632E-6A4A-8CBC-D3180F595C47}" destId="{F2F70D71-1549-DA4C-AE52-1D67B5E60328}" srcOrd="0" destOrd="2" presId="urn:microsoft.com/office/officeart/2005/8/layout/gear1"/>
    <dgm:cxn modelId="{956A9FDE-4C36-5441-913C-2944680EE34A}" srcId="{07C43C6C-5135-BC4B-BD1E-02F38DA0ECBD}" destId="{D037808B-2E47-824B-B2E4-91155269E95D}" srcOrd="2" destOrd="0" parTransId="{ED8788D8-BEA6-C54B-993B-DA641453DD4E}" sibTransId="{8D702279-B072-BE41-8B74-E88DB5DFA9BD}"/>
    <dgm:cxn modelId="{E37F4BDF-32A2-8E4D-AD55-8CF5B78E3E9E}" type="presOf" srcId="{E1154557-80C0-D242-9F38-2AE22E6B7511}" destId="{64D6B4A8-6DAE-7C4F-82B8-34EC1578BDEB}" srcOrd="0" destOrd="0" presId="urn:microsoft.com/office/officeart/2005/8/layout/gear1"/>
    <dgm:cxn modelId="{3CD492DF-2863-FA4B-92D6-9251E4833D50}" type="presOf" srcId="{09AF4F76-A191-3741-8104-35A15AC3511C}" destId="{1B993F7D-C4FD-3F4A-B699-E7B45E6393E2}" srcOrd="0" destOrd="2" presId="urn:microsoft.com/office/officeart/2005/8/layout/gear1"/>
    <dgm:cxn modelId="{3ECE35E5-E077-CA4E-9DA8-143BA6040B67}" type="presOf" srcId="{07C43C6C-5135-BC4B-BD1E-02F38DA0ECBD}" destId="{AA2D7C07-E3AF-F44B-BDAC-C0B0A6124799}" srcOrd="0" destOrd="0" presId="urn:microsoft.com/office/officeart/2005/8/layout/gear1"/>
    <dgm:cxn modelId="{868B75ED-BB05-084F-B135-369EB7BCA925}" type="presOf" srcId="{9D5834D3-DCBE-FE4A-9F3C-70C1F66B4852}" destId="{8CC346FA-4A14-A84C-9969-637AEC388AE2}" srcOrd="0" destOrd="0" presId="urn:microsoft.com/office/officeart/2005/8/layout/gear1"/>
    <dgm:cxn modelId="{20BA4BF6-514D-794F-8331-E4FB9660C586}" srcId="{D037808B-2E47-824B-B2E4-91155269E95D}" destId="{E3A9F1EC-0DE4-4444-A45C-356F91B84DCB}" srcOrd="0" destOrd="0" parTransId="{BD950AF3-A809-7143-9311-79DEFED2FA80}" sibTransId="{4FC2C2DB-B394-6143-9616-8DF215A5B6BF}"/>
    <dgm:cxn modelId="{28408BF6-A79C-4143-A63D-6D814BBF52DB}" srcId="{5C1D9BF3-4558-C441-8CDB-F5F25B657909}" destId="{CCFA7035-6F6F-3D4B-8B35-A16AD6A921E7}" srcOrd="0" destOrd="0" parTransId="{AB3F1680-3360-BE4D-A584-4042D38A7BA2}" sibTransId="{79FCB476-72D0-A149-A9EB-DF7EAC0E0FF0}"/>
    <dgm:cxn modelId="{7A8248FD-BAB2-2345-95C2-6E49607D029B}" type="presOf" srcId="{CCFA7035-6F6F-3D4B-8B35-A16AD6A921E7}" destId="{1B993F7D-C4FD-3F4A-B699-E7B45E6393E2}" srcOrd="0" destOrd="0" presId="urn:microsoft.com/office/officeart/2005/8/layout/gear1"/>
    <dgm:cxn modelId="{0074AEFE-F3EE-0D4B-97CA-450BCADFBCB6}" type="presOf" srcId="{9D5834D3-DCBE-FE4A-9F3C-70C1F66B4852}" destId="{6F1BA774-F9DF-BB46-90ED-1E58C5E3BBEC}" srcOrd="1" destOrd="0" presId="urn:microsoft.com/office/officeart/2005/8/layout/gear1"/>
    <dgm:cxn modelId="{D04DCA91-A2A7-4F40-9FFC-6155B5C3945F}" type="presParOf" srcId="{AA2D7C07-E3AF-F44B-BDAC-C0B0A6124799}" destId="{8CC346FA-4A14-A84C-9969-637AEC388AE2}" srcOrd="0" destOrd="0" presId="urn:microsoft.com/office/officeart/2005/8/layout/gear1"/>
    <dgm:cxn modelId="{9D8FCAEE-51E8-8F46-9BEC-44968B145F21}" type="presParOf" srcId="{AA2D7C07-E3AF-F44B-BDAC-C0B0A6124799}" destId="{6F1BA774-F9DF-BB46-90ED-1E58C5E3BBEC}" srcOrd="1" destOrd="0" presId="urn:microsoft.com/office/officeart/2005/8/layout/gear1"/>
    <dgm:cxn modelId="{838704C0-235B-424A-84EE-8435F60C63C9}" type="presParOf" srcId="{AA2D7C07-E3AF-F44B-BDAC-C0B0A6124799}" destId="{BFC858B6-67B8-4E46-B619-75745BF3BBE2}" srcOrd="2" destOrd="0" presId="urn:microsoft.com/office/officeart/2005/8/layout/gear1"/>
    <dgm:cxn modelId="{D267E66A-1371-294D-B572-6EEF5201FE65}" type="presParOf" srcId="{AA2D7C07-E3AF-F44B-BDAC-C0B0A6124799}" destId="{4463CEEF-3FFD-2442-8720-91C26F81DA31}" srcOrd="3" destOrd="0" presId="urn:microsoft.com/office/officeart/2005/8/layout/gear1"/>
    <dgm:cxn modelId="{1B5B3604-5D58-6443-B036-AEB987877649}" type="presParOf" srcId="{AA2D7C07-E3AF-F44B-BDAC-C0B0A6124799}" destId="{1256C406-6AA7-694B-A9CC-2C0E2709362F}" srcOrd="4" destOrd="0" presId="urn:microsoft.com/office/officeart/2005/8/layout/gear1"/>
    <dgm:cxn modelId="{15E9B7F8-55D2-0343-B160-31C2A219DAA6}" type="presParOf" srcId="{AA2D7C07-E3AF-F44B-BDAC-C0B0A6124799}" destId="{E9DF701F-09A1-2442-A083-139F4971AD2F}" srcOrd="5" destOrd="0" presId="urn:microsoft.com/office/officeart/2005/8/layout/gear1"/>
    <dgm:cxn modelId="{09936EEB-A38E-7D43-8FCE-4DAE33EF1AD0}" type="presParOf" srcId="{AA2D7C07-E3AF-F44B-BDAC-C0B0A6124799}" destId="{94050C01-7B6B-FD46-9980-ED2F5C8CE5C2}" srcOrd="6" destOrd="0" presId="urn:microsoft.com/office/officeart/2005/8/layout/gear1"/>
    <dgm:cxn modelId="{C3B8F9FC-FB21-BE43-A66F-09CC9D70A9C0}" type="presParOf" srcId="{AA2D7C07-E3AF-F44B-BDAC-C0B0A6124799}" destId="{1B993F7D-C4FD-3F4A-B699-E7B45E6393E2}" srcOrd="7" destOrd="0" presId="urn:microsoft.com/office/officeart/2005/8/layout/gear1"/>
    <dgm:cxn modelId="{72E77A8E-30A8-4F45-9D8B-E762643C36C6}" type="presParOf" srcId="{AA2D7C07-E3AF-F44B-BDAC-C0B0A6124799}" destId="{F7C1E3D9-D3A5-F44F-A8AF-AF676044A6A0}" srcOrd="8" destOrd="0" presId="urn:microsoft.com/office/officeart/2005/8/layout/gear1"/>
    <dgm:cxn modelId="{43E51CD2-8C57-3A4C-AA05-0F41C09F3D7A}" type="presParOf" srcId="{AA2D7C07-E3AF-F44B-BDAC-C0B0A6124799}" destId="{97323462-AD88-094D-BDF2-9B255EA36A9E}" srcOrd="9" destOrd="0" presId="urn:microsoft.com/office/officeart/2005/8/layout/gear1"/>
    <dgm:cxn modelId="{030BF47A-6C03-404B-BC77-076EC764EAE2}" type="presParOf" srcId="{AA2D7C07-E3AF-F44B-BDAC-C0B0A6124799}" destId="{DD5B0E98-1C02-1540-888E-97BCC9AA2CD1}" srcOrd="10" destOrd="0" presId="urn:microsoft.com/office/officeart/2005/8/layout/gear1"/>
    <dgm:cxn modelId="{8FCEC252-5FE4-D246-B6E3-CA57CB704C72}" type="presParOf" srcId="{AA2D7C07-E3AF-F44B-BDAC-C0B0A6124799}" destId="{5FBD5706-7166-4D46-81FE-90C898869241}" srcOrd="11" destOrd="0" presId="urn:microsoft.com/office/officeart/2005/8/layout/gear1"/>
    <dgm:cxn modelId="{29725EE9-F892-5A42-BECC-BD61085A5586}" type="presParOf" srcId="{AA2D7C07-E3AF-F44B-BDAC-C0B0A6124799}" destId="{F2F70D71-1549-DA4C-AE52-1D67B5E60328}" srcOrd="12" destOrd="0" presId="urn:microsoft.com/office/officeart/2005/8/layout/gear1"/>
    <dgm:cxn modelId="{11AB5EB7-B478-CA43-98B7-B0B016BA3A50}" type="presParOf" srcId="{AA2D7C07-E3AF-F44B-BDAC-C0B0A6124799}" destId="{64D6B4A8-6DAE-7C4F-82B8-34EC1578BDEB}" srcOrd="13" destOrd="0" presId="urn:microsoft.com/office/officeart/2005/8/layout/gear1"/>
    <dgm:cxn modelId="{4CB19FF0-42E1-DA4F-B977-AE11F8A22A5A}" type="presParOf" srcId="{AA2D7C07-E3AF-F44B-BDAC-C0B0A6124799}" destId="{7BF98CC3-BBCC-4240-989B-3CCA849F73EF}" srcOrd="14" destOrd="0" presId="urn:microsoft.com/office/officeart/2005/8/layout/gear1"/>
    <dgm:cxn modelId="{29D62AAC-D80D-A748-A23D-C2186F267364}" type="presParOf" srcId="{AA2D7C07-E3AF-F44B-BDAC-C0B0A6124799}" destId="{FEA64E1C-E48C-5A40-A1FB-B14A94E05F3E}" srcOrd="15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06D236-24CA-6847-AD4E-B647E3795DC1}" type="doc">
      <dgm:prSet loTypeId="urn:microsoft.com/office/officeart/2005/8/layout/equation2" loCatId="" qsTypeId="urn:microsoft.com/office/officeart/2005/8/quickstyle/simple1" qsCatId="simple" csTypeId="urn:microsoft.com/office/officeart/2005/8/colors/accent0_1" csCatId="mainScheme" phldr="1"/>
      <dgm:spPr/>
    </dgm:pt>
    <dgm:pt modelId="{308B2355-C34E-AF41-A91B-0DA5CB5E055E}">
      <dgm:prSet phldrT="[Text]"/>
      <dgm:spPr>
        <a:solidFill>
          <a:srgbClr val="002060"/>
        </a:solidFill>
      </dgm:spPr>
      <dgm:t>
        <a:bodyPr/>
        <a:lstStyle/>
        <a:p>
          <a:r>
            <a:rPr lang="es-ES_tradnl" b="1" noProof="0" dirty="0">
              <a:solidFill>
                <a:schemeClr val="bg1"/>
              </a:solidFill>
              <a:latin typeface="Gill Sans Nova Light" panose="020B0302020104020203" pitchFamily="34" charset="0"/>
            </a:rPr>
            <a:t>Paramétrico</a:t>
          </a:r>
        </a:p>
      </dgm:t>
    </dgm:pt>
    <dgm:pt modelId="{A5975729-A4FE-4841-A0D4-AA5F56C8FDB1}" type="parTrans" cxnId="{9D5176DE-41CA-2E4E-9525-A10A306709D4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FB02458D-7F5B-774D-8A4B-8F47EC313124}" type="sibTrans" cxnId="{9D5176DE-41CA-2E4E-9525-A10A306709D4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564246BB-2D04-CF42-882E-E73FF72A3F8D}">
      <dgm:prSet phldrT="[Text]"/>
      <dgm:spPr>
        <a:solidFill>
          <a:srgbClr val="002060"/>
        </a:solidFill>
      </dgm:spPr>
      <dgm:t>
        <a:bodyPr/>
        <a:lstStyle/>
        <a:p>
          <a:r>
            <a:rPr lang="es-ES_tradnl" b="1" noProof="0" dirty="0">
              <a:solidFill>
                <a:schemeClr val="bg1"/>
              </a:solidFill>
              <a:latin typeface="Gill Sans Nova Light" panose="020B0302020104020203" pitchFamily="34" charset="0"/>
            </a:rPr>
            <a:t>No Paramétrico</a:t>
          </a:r>
        </a:p>
      </dgm:t>
    </dgm:pt>
    <dgm:pt modelId="{5FB719BA-8A33-FF47-9485-690F87B4CB3E}" type="parTrans" cxnId="{FD927B7A-EEC2-DA44-99EE-4F6568061C3A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3028443A-A0DC-3043-99CD-05359C8E9385}" type="sibTrans" cxnId="{FD927B7A-EEC2-DA44-99EE-4F6568061C3A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939E4769-4C5C-BA41-9F4D-71A843108F56}">
      <dgm:prSet phldrT="[Text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400" noProof="0" dirty="0">
              <a:latin typeface="Gill Sans Nova Light" panose="020B0302020104020203" pitchFamily="34" charset="0"/>
            </a:rPr>
            <a:t>Semi-Paramétrico</a:t>
          </a:r>
        </a:p>
      </dgm:t>
    </dgm:pt>
    <dgm:pt modelId="{492AD802-C612-2F40-8C1D-8CDBABBF36ED}" type="parTrans" cxnId="{3EC7FC64-69A3-AB49-A4E5-1840B9CA6CF4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0870D648-6E95-564B-BBBA-8922AA1C2FC7}" type="sibTrans" cxnId="{3EC7FC64-69A3-AB49-A4E5-1840B9CA6CF4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DB3B8393-012B-634A-9588-3B8B6C8F6DC0}" type="pres">
      <dgm:prSet presAssocID="{0D06D236-24CA-6847-AD4E-B647E3795DC1}" presName="Name0" presStyleCnt="0">
        <dgm:presLayoutVars>
          <dgm:dir/>
          <dgm:resizeHandles val="exact"/>
        </dgm:presLayoutVars>
      </dgm:prSet>
      <dgm:spPr/>
    </dgm:pt>
    <dgm:pt modelId="{3AD08553-45AB-C840-9353-5B04EC626E0C}" type="pres">
      <dgm:prSet presAssocID="{0D06D236-24CA-6847-AD4E-B647E3795DC1}" presName="vNodes" presStyleCnt="0"/>
      <dgm:spPr/>
    </dgm:pt>
    <dgm:pt modelId="{D2F5CF07-BCF8-8E49-96DC-16E452794976}" type="pres">
      <dgm:prSet presAssocID="{308B2355-C34E-AF41-A91B-0DA5CB5E055E}" presName="node" presStyleLbl="node1" presStyleIdx="0" presStyleCnt="3">
        <dgm:presLayoutVars>
          <dgm:bulletEnabled val="1"/>
        </dgm:presLayoutVars>
      </dgm:prSet>
      <dgm:spPr/>
    </dgm:pt>
    <dgm:pt modelId="{6A19C655-8D4F-5B49-B25E-AB98CB9250A6}" type="pres">
      <dgm:prSet presAssocID="{FB02458D-7F5B-774D-8A4B-8F47EC313124}" presName="spacerT" presStyleCnt="0"/>
      <dgm:spPr/>
    </dgm:pt>
    <dgm:pt modelId="{26E6C1B5-205E-F947-AE79-E0A84DF312A6}" type="pres">
      <dgm:prSet presAssocID="{FB02458D-7F5B-774D-8A4B-8F47EC313124}" presName="sibTrans" presStyleLbl="sibTrans2D1" presStyleIdx="0" presStyleCnt="2"/>
      <dgm:spPr/>
    </dgm:pt>
    <dgm:pt modelId="{9E2D0CFA-BA74-4548-BE7E-3F0ABA5D0367}" type="pres">
      <dgm:prSet presAssocID="{FB02458D-7F5B-774D-8A4B-8F47EC313124}" presName="spacerB" presStyleCnt="0"/>
      <dgm:spPr/>
    </dgm:pt>
    <dgm:pt modelId="{54646CE3-0B82-B24C-BB0E-DB8E40368D1D}" type="pres">
      <dgm:prSet presAssocID="{564246BB-2D04-CF42-882E-E73FF72A3F8D}" presName="node" presStyleLbl="node1" presStyleIdx="1" presStyleCnt="3">
        <dgm:presLayoutVars>
          <dgm:bulletEnabled val="1"/>
        </dgm:presLayoutVars>
      </dgm:prSet>
      <dgm:spPr/>
    </dgm:pt>
    <dgm:pt modelId="{69E6F0D2-6F10-9C45-88E7-D375FB9C4407}" type="pres">
      <dgm:prSet presAssocID="{0D06D236-24CA-6847-AD4E-B647E3795DC1}" presName="sibTransLast" presStyleLbl="sibTrans2D1" presStyleIdx="1" presStyleCnt="2"/>
      <dgm:spPr/>
    </dgm:pt>
    <dgm:pt modelId="{AE2B8F33-6708-784C-8BF4-BDC43789D6A6}" type="pres">
      <dgm:prSet presAssocID="{0D06D236-24CA-6847-AD4E-B647E3795DC1}" presName="connectorText" presStyleLbl="sibTrans2D1" presStyleIdx="1" presStyleCnt="2"/>
      <dgm:spPr/>
    </dgm:pt>
    <dgm:pt modelId="{2FCDD310-9FCE-9740-AA3A-0CFD2EC97254}" type="pres">
      <dgm:prSet presAssocID="{0D06D236-24CA-6847-AD4E-B647E3795DC1}" presName="lastNode" presStyleLbl="node1" presStyleIdx="2" presStyleCnt="3" custScaleX="125062" custScaleY="125719">
        <dgm:presLayoutVars>
          <dgm:bulletEnabled val="1"/>
        </dgm:presLayoutVars>
      </dgm:prSet>
      <dgm:spPr/>
    </dgm:pt>
  </dgm:ptLst>
  <dgm:cxnLst>
    <dgm:cxn modelId="{1BEECF1A-9C8E-4E4D-9CFC-06518BDE5ACF}" type="presOf" srcId="{308B2355-C34E-AF41-A91B-0DA5CB5E055E}" destId="{D2F5CF07-BCF8-8E49-96DC-16E452794976}" srcOrd="0" destOrd="0" presId="urn:microsoft.com/office/officeart/2005/8/layout/equation2"/>
    <dgm:cxn modelId="{5A495832-8B31-F840-9EC7-9F0E124B2825}" type="presOf" srcId="{3028443A-A0DC-3043-99CD-05359C8E9385}" destId="{69E6F0D2-6F10-9C45-88E7-D375FB9C4407}" srcOrd="0" destOrd="0" presId="urn:microsoft.com/office/officeart/2005/8/layout/equation2"/>
    <dgm:cxn modelId="{43D8A740-ACBD-5642-9B9C-B6EB7933023E}" type="presOf" srcId="{564246BB-2D04-CF42-882E-E73FF72A3F8D}" destId="{54646CE3-0B82-B24C-BB0E-DB8E40368D1D}" srcOrd="0" destOrd="0" presId="urn:microsoft.com/office/officeart/2005/8/layout/equation2"/>
    <dgm:cxn modelId="{D0ECB759-DFA9-8F4B-AF9C-297FF3488C5E}" type="presOf" srcId="{939E4769-4C5C-BA41-9F4D-71A843108F56}" destId="{2FCDD310-9FCE-9740-AA3A-0CFD2EC97254}" srcOrd="0" destOrd="0" presId="urn:microsoft.com/office/officeart/2005/8/layout/equation2"/>
    <dgm:cxn modelId="{3EC7FC64-69A3-AB49-A4E5-1840B9CA6CF4}" srcId="{0D06D236-24CA-6847-AD4E-B647E3795DC1}" destId="{939E4769-4C5C-BA41-9F4D-71A843108F56}" srcOrd="2" destOrd="0" parTransId="{492AD802-C612-2F40-8C1D-8CDBABBF36ED}" sibTransId="{0870D648-6E95-564B-BBBA-8922AA1C2FC7}"/>
    <dgm:cxn modelId="{FD927B7A-EEC2-DA44-99EE-4F6568061C3A}" srcId="{0D06D236-24CA-6847-AD4E-B647E3795DC1}" destId="{564246BB-2D04-CF42-882E-E73FF72A3F8D}" srcOrd="1" destOrd="0" parTransId="{5FB719BA-8A33-FF47-9485-690F87B4CB3E}" sibTransId="{3028443A-A0DC-3043-99CD-05359C8E9385}"/>
    <dgm:cxn modelId="{81EA9CC9-FF2E-2E40-A7D6-F4FA09DDEB9E}" type="presOf" srcId="{3028443A-A0DC-3043-99CD-05359C8E9385}" destId="{AE2B8F33-6708-784C-8BF4-BDC43789D6A6}" srcOrd="1" destOrd="0" presId="urn:microsoft.com/office/officeart/2005/8/layout/equation2"/>
    <dgm:cxn modelId="{B645A6DB-5424-8042-A7FF-EFFFBD5B6124}" type="presOf" srcId="{0D06D236-24CA-6847-AD4E-B647E3795DC1}" destId="{DB3B8393-012B-634A-9588-3B8B6C8F6DC0}" srcOrd="0" destOrd="0" presId="urn:microsoft.com/office/officeart/2005/8/layout/equation2"/>
    <dgm:cxn modelId="{9D5176DE-41CA-2E4E-9525-A10A306709D4}" srcId="{0D06D236-24CA-6847-AD4E-B647E3795DC1}" destId="{308B2355-C34E-AF41-A91B-0DA5CB5E055E}" srcOrd="0" destOrd="0" parTransId="{A5975729-A4FE-4841-A0D4-AA5F56C8FDB1}" sibTransId="{FB02458D-7F5B-774D-8A4B-8F47EC313124}"/>
    <dgm:cxn modelId="{9A6023F4-B2C4-6D47-81A2-5655D273F992}" type="presOf" srcId="{FB02458D-7F5B-774D-8A4B-8F47EC313124}" destId="{26E6C1B5-205E-F947-AE79-E0A84DF312A6}" srcOrd="0" destOrd="0" presId="urn:microsoft.com/office/officeart/2005/8/layout/equation2"/>
    <dgm:cxn modelId="{8B9D7396-79CC-3741-9148-5CCAC1CDE744}" type="presParOf" srcId="{DB3B8393-012B-634A-9588-3B8B6C8F6DC0}" destId="{3AD08553-45AB-C840-9353-5B04EC626E0C}" srcOrd="0" destOrd="0" presId="urn:microsoft.com/office/officeart/2005/8/layout/equation2"/>
    <dgm:cxn modelId="{02B01193-1B6A-1240-9E5B-D364EB7F5339}" type="presParOf" srcId="{3AD08553-45AB-C840-9353-5B04EC626E0C}" destId="{D2F5CF07-BCF8-8E49-96DC-16E452794976}" srcOrd="0" destOrd="0" presId="urn:microsoft.com/office/officeart/2005/8/layout/equation2"/>
    <dgm:cxn modelId="{7FDE03D3-FD69-2B43-B911-E043EAEC0162}" type="presParOf" srcId="{3AD08553-45AB-C840-9353-5B04EC626E0C}" destId="{6A19C655-8D4F-5B49-B25E-AB98CB9250A6}" srcOrd="1" destOrd="0" presId="urn:microsoft.com/office/officeart/2005/8/layout/equation2"/>
    <dgm:cxn modelId="{D1ECE20C-0CB8-BA42-8508-95D22B0F23CA}" type="presParOf" srcId="{3AD08553-45AB-C840-9353-5B04EC626E0C}" destId="{26E6C1B5-205E-F947-AE79-E0A84DF312A6}" srcOrd="2" destOrd="0" presId="urn:microsoft.com/office/officeart/2005/8/layout/equation2"/>
    <dgm:cxn modelId="{49664DBE-4FF1-4D40-A328-02458A7C39B4}" type="presParOf" srcId="{3AD08553-45AB-C840-9353-5B04EC626E0C}" destId="{9E2D0CFA-BA74-4548-BE7E-3F0ABA5D0367}" srcOrd="3" destOrd="0" presId="urn:microsoft.com/office/officeart/2005/8/layout/equation2"/>
    <dgm:cxn modelId="{FE3AA7D8-0644-5A40-9D2B-A77FD3B74AE5}" type="presParOf" srcId="{3AD08553-45AB-C840-9353-5B04EC626E0C}" destId="{54646CE3-0B82-B24C-BB0E-DB8E40368D1D}" srcOrd="4" destOrd="0" presId="urn:microsoft.com/office/officeart/2005/8/layout/equation2"/>
    <dgm:cxn modelId="{8204269C-00DE-804C-BD7D-A56DFA195D76}" type="presParOf" srcId="{DB3B8393-012B-634A-9588-3B8B6C8F6DC0}" destId="{69E6F0D2-6F10-9C45-88E7-D375FB9C4407}" srcOrd="1" destOrd="0" presId="urn:microsoft.com/office/officeart/2005/8/layout/equation2"/>
    <dgm:cxn modelId="{90833AED-BCA1-BE4E-8D74-3A2567C90153}" type="presParOf" srcId="{69E6F0D2-6F10-9C45-88E7-D375FB9C4407}" destId="{AE2B8F33-6708-784C-8BF4-BDC43789D6A6}" srcOrd="0" destOrd="0" presId="urn:microsoft.com/office/officeart/2005/8/layout/equation2"/>
    <dgm:cxn modelId="{251266BC-9778-D741-B5F5-AF238D61C934}" type="presParOf" srcId="{DB3B8393-012B-634A-9588-3B8B6C8F6DC0}" destId="{2FCDD310-9FCE-9740-AA3A-0CFD2EC97254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1626C3-3729-714F-94C2-171B20A9E52D}" type="doc">
      <dgm:prSet loTypeId="urn:microsoft.com/office/officeart/2005/8/layout/arrow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D0AE88-A877-8242-BDBF-C2D1925D397E}">
      <dgm:prSet phldrT="[Text]"/>
      <dgm:spPr/>
      <dgm:t>
        <a:bodyPr/>
        <a:lstStyle/>
        <a:p>
          <a:r>
            <a:rPr lang="es-ES_tradnl" noProof="0" dirty="0">
              <a:latin typeface="Gill Sans Nova Light" panose="020B0302020104020203" pitchFamily="34" charset="0"/>
            </a:rPr>
            <a:t>A mayor número de bins</a:t>
          </a:r>
        </a:p>
      </dgm:t>
    </dgm:pt>
    <dgm:pt modelId="{6AABDE02-79BD-864F-8ACA-84E8BDE15814}" type="parTrans" cxnId="{8EEE6077-65B5-AB47-933F-D7523EAB23E6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4A2B97A5-95F3-4240-845E-94AFCB797E28}" type="sibTrans" cxnId="{8EEE6077-65B5-AB47-933F-D7523EAB23E6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677C7B22-F18F-104C-B819-9C5C5BEE48CF}">
      <dgm:prSet phldrT="[Text]"/>
      <dgm:spPr/>
      <dgm:t>
        <a:bodyPr/>
        <a:lstStyle/>
        <a:p>
          <a:r>
            <a:rPr lang="es-ES_tradnl" noProof="0" dirty="0">
              <a:latin typeface="Gill Sans Nova Light" panose="020B0302020104020203" pitchFamily="34" charset="0"/>
            </a:rPr>
            <a:t>Menor sesgo del Histograma</a:t>
          </a:r>
        </a:p>
      </dgm:t>
    </dgm:pt>
    <dgm:pt modelId="{CC72FE40-36D9-7540-B76A-8FC8BCA09506}" type="parTrans" cxnId="{8B30058E-6A32-BD4B-9C2D-D35973334944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B962A88C-EB56-554F-99BB-1A15BAF8ABEB}" type="sibTrans" cxnId="{8B30058E-6A32-BD4B-9C2D-D35973334944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9821C2B1-A039-A447-9115-61FE836AAEE9}" type="pres">
      <dgm:prSet presAssocID="{A21626C3-3729-714F-94C2-171B20A9E52D}" presName="compositeShape" presStyleCnt="0">
        <dgm:presLayoutVars>
          <dgm:chMax val="2"/>
          <dgm:dir/>
          <dgm:resizeHandles val="exact"/>
        </dgm:presLayoutVars>
      </dgm:prSet>
      <dgm:spPr/>
    </dgm:pt>
    <dgm:pt modelId="{A2ECFD14-7D65-3241-90E2-8171A1C501FF}" type="pres">
      <dgm:prSet presAssocID="{1CD0AE88-A877-8242-BDBF-C2D1925D397E}" presName="upArrow" presStyleLbl="node1" presStyleIdx="0" presStyleCnt="2"/>
      <dgm:spPr>
        <a:solidFill>
          <a:srgbClr val="92D050"/>
        </a:solidFill>
        <a:ln>
          <a:solidFill>
            <a:schemeClr val="accent6">
              <a:lumMod val="75000"/>
            </a:schemeClr>
          </a:solidFill>
        </a:ln>
      </dgm:spPr>
    </dgm:pt>
    <dgm:pt modelId="{D90A5D76-C533-CB44-BC2F-7246776EEFCE}" type="pres">
      <dgm:prSet presAssocID="{1CD0AE88-A877-8242-BDBF-C2D1925D397E}" presName="upArrowText" presStyleLbl="revTx" presStyleIdx="0" presStyleCnt="2">
        <dgm:presLayoutVars>
          <dgm:chMax val="0"/>
          <dgm:bulletEnabled val="1"/>
        </dgm:presLayoutVars>
      </dgm:prSet>
      <dgm:spPr/>
    </dgm:pt>
    <dgm:pt modelId="{D4CE5E79-FF80-944B-9F53-DED0C65FCE74}" type="pres">
      <dgm:prSet presAssocID="{677C7B22-F18F-104C-B819-9C5C5BEE48CF}" presName="downArrow" presStyleLbl="node1" presStyleIdx="1" presStyleCnt="2"/>
      <dgm:spPr>
        <a:solidFill>
          <a:schemeClr val="accent1">
            <a:lumMod val="60000"/>
            <a:lumOff val="40000"/>
          </a:schemeClr>
        </a:solidFill>
        <a:ln>
          <a:solidFill>
            <a:srgbClr val="002060"/>
          </a:solidFill>
        </a:ln>
      </dgm:spPr>
    </dgm:pt>
    <dgm:pt modelId="{8977AC18-1043-FA4D-89CF-ECA2774FA0CA}" type="pres">
      <dgm:prSet presAssocID="{677C7B22-F18F-104C-B819-9C5C5BEE48CF}" presName="downArrowText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12466B2C-884C-514A-849D-9716F0C6EEBB}" type="presOf" srcId="{1CD0AE88-A877-8242-BDBF-C2D1925D397E}" destId="{D90A5D76-C533-CB44-BC2F-7246776EEFCE}" srcOrd="0" destOrd="0" presId="urn:microsoft.com/office/officeart/2005/8/layout/arrow4"/>
    <dgm:cxn modelId="{8EEE6077-65B5-AB47-933F-D7523EAB23E6}" srcId="{A21626C3-3729-714F-94C2-171B20A9E52D}" destId="{1CD0AE88-A877-8242-BDBF-C2D1925D397E}" srcOrd="0" destOrd="0" parTransId="{6AABDE02-79BD-864F-8ACA-84E8BDE15814}" sibTransId="{4A2B97A5-95F3-4240-845E-94AFCB797E28}"/>
    <dgm:cxn modelId="{7AE0A186-21A1-6245-A690-BF4CE21EB29B}" type="presOf" srcId="{677C7B22-F18F-104C-B819-9C5C5BEE48CF}" destId="{8977AC18-1043-FA4D-89CF-ECA2774FA0CA}" srcOrd="0" destOrd="0" presId="urn:microsoft.com/office/officeart/2005/8/layout/arrow4"/>
    <dgm:cxn modelId="{8B30058E-6A32-BD4B-9C2D-D35973334944}" srcId="{A21626C3-3729-714F-94C2-171B20A9E52D}" destId="{677C7B22-F18F-104C-B819-9C5C5BEE48CF}" srcOrd="1" destOrd="0" parTransId="{CC72FE40-36D9-7540-B76A-8FC8BCA09506}" sibTransId="{B962A88C-EB56-554F-99BB-1A15BAF8ABEB}"/>
    <dgm:cxn modelId="{8CED6C9A-58F9-0E4E-98A3-37A4E0203D0B}" type="presOf" srcId="{A21626C3-3729-714F-94C2-171B20A9E52D}" destId="{9821C2B1-A039-A447-9115-61FE836AAEE9}" srcOrd="0" destOrd="0" presId="urn:microsoft.com/office/officeart/2005/8/layout/arrow4"/>
    <dgm:cxn modelId="{7B36E43F-64D3-BF4B-AE50-7A2344EAD4A8}" type="presParOf" srcId="{9821C2B1-A039-A447-9115-61FE836AAEE9}" destId="{A2ECFD14-7D65-3241-90E2-8171A1C501FF}" srcOrd="0" destOrd="0" presId="urn:microsoft.com/office/officeart/2005/8/layout/arrow4"/>
    <dgm:cxn modelId="{756CFB52-881A-4D4A-92BF-A0186B4978AB}" type="presParOf" srcId="{9821C2B1-A039-A447-9115-61FE836AAEE9}" destId="{D90A5D76-C533-CB44-BC2F-7246776EEFCE}" srcOrd="1" destOrd="0" presId="urn:microsoft.com/office/officeart/2005/8/layout/arrow4"/>
    <dgm:cxn modelId="{0C0E4380-78AB-E043-94D7-01B2730460A1}" type="presParOf" srcId="{9821C2B1-A039-A447-9115-61FE836AAEE9}" destId="{D4CE5E79-FF80-944B-9F53-DED0C65FCE74}" srcOrd="2" destOrd="0" presId="urn:microsoft.com/office/officeart/2005/8/layout/arrow4"/>
    <dgm:cxn modelId="{5EEE14C9-AF2D-784B-99E8-C4AD6281DDDC}" type="presParOf" srcId="{9821C2B1-A039-A447-9115-61FE836AAEE9}" destId="{8977AC18-1043-FA4D-89CF-ECA2774FA0CA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1626C3-3729-714F-94C2-171B20A9E52D}" type="doc">
      <dgm:prSet loTypeId="urn:microsoft.com/office/officeart/2005/8/layout/arrow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D0AE88-A877-8242-BDBF-C2D1925D397E}">
      <dgm:prSet phldrT="[Text]"/>
      <dgm:spPr/>
      <dgm:t>
        <a:bodyPr/>
        <a:lstStyle/>
        <a:p>
          <a:r>
            <a:rPr lang="es-ES_tradnl" noProof="0" dirty="0">
              <a:latin typeface="Gill Sans Nova Light" panose="020B0302020104020203" pitchFamily="34" charset="0"/>
            </a:rPr>
            <a:t>A mayor número de bins</a:t>
          </a:r>
        </a:p>
      </dgm:t>
    </dgm:pt>
    <dgm:pt modelId="{6AABDE02-79BD-864F-8ACA-84E8BDE15814}" type="parTrans" cxnId="{8EEE6077-65B5-AB47-933F-D7523EAB23E6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4A2B97A5-95F3-4240-845E-94AFCB797E28}" type="sibTrans" cxnId="{8EEE6077-65B5-AB47-933F-D7523EAB23E6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677C7B22-F18F-104C-B819-9C5C5BEE48CF}">
      <dgm:prSet phldrT="[Text]"/>
      <dgm:spPr/>
      <dgm:t>
        <a:bodyPr/>
        <a:lstStyle/>
        <a:p>
          <a:r>
            <a:rPr lang="es-ES_tradnl" noProof="0" dirty="0">
              <a:latin typeface="Gill Sans Nova Light" panose="020B0302020104020203" pitchFamily="34" charset="0"/>
            </a:rPr>
            <a:t>Menor sesgo del Histograma</a:t>
          </a:r>
        </a:p>
      </dgm:t>
    </dgm:pt>
    <dgm:pt modelId="{CC72FE40-36D9-7540-B76A-8FC8BCA09506}" type="parTrans" cxnId="{8B30058E-6A32-BD4B-9C2D-D35973334944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B962A88C-EB56-554F-99BB-1A15BAF8ABEB}" type="sibTrans" cxnId="{8B30058E-6A32-BD4B-9C2D-D35973334944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9821C2B1-A039-A447-9115-61FE836AAEE9}" type="pres">
      <dgm:prSet presAssocID="{A21626C3-3729-714F-94C2-171B20A9E52D}" presName="compositeShape" presStyleCnt="0">
        <dgm:presLayoutVars>
          <dgm:chMax val="2"/>
          <dgm:dir/>
          <dgm:resizeHandles val="exact"/>
        </dgm:presLayoutVars>
      </dgm:prSet>
      <dgm:spPr/>
    </dgm:pt>
    <dgm:pt modelId="{A2ECFD14-7D65-3241-90E2-8171A1C501FF}" type="pres">
      <dgm:prSet presAssocID="{1CD0AE88-A877-8242-BDBF-C2D1925D397E}" presName="upArrow" presStyleLbl="node1" presStyleIdx="0" presStyleCnt="2"/>
      <dgm:spPr>
        <a:solidFill>
          <a:srgbClr val="92D050"/>
        </a:solidFill>
        <a:ln>
          <a:solidFill>
            <a:schemeClr val="accent6">
              <a:lumMod val="75000"/>
            </a:schemeClr>
          </a:solidFill>
        </a:ln>
      </dgm:spPr>
    </dgm:pt>
    <dgm:pt modelId="{D90A5D76-C533-CB44-BC2F-7246776EEFCE}" type="pres">
      <dgm:prSet presAssocID="{1CD0AE88-A877-8242-BDBF-C2D1925D397E}" presName="upArrowText" presStyleLbl="revTx" presStyleIdx="0" presStyleCnt="2">
        <dgm:presLayoutVars>
          <dgm:chMax val="0"/>
          <dgm:bulletEnabled val="1"/>
        </dgm:presLayoutVars>
      </dgm:prSet>
      <dgm:spPr/>
    </dgm:pt>
    <dgm:pt modelId="{D4CE5E79-FF80-944B-9F53-DED0C65FCE74}" type="pres">
      <dgm:prSet presAssocID="{677C7B22-F18F-104C-B819-9C5C5BEE48CF}" presName="downArrow" presStyleLbl="node1" presStyleIdx="1" presStyleCnt="2"/>
      <dgm:spPr>
        <a:solidFill>
          <a:schemeClr val="accent1">
            <a:lumMod val="60000"/>
            <a:lumOff val="40000"/>
          </a:schemeClr>
        </a:solidFill>
        <a:ln>
          <a:solidFill>
            <a:srgbClr val="002060"/>
          </a:solidFill>
        </a:ln>
      </dgm:spPr>
    </dgm:pt>
    <dgm:pt modelId="{8977AC18-1043-FA4D-89CF-ECA2774FA0CA}" type="pres">
      <dgm:prSet presAssocID="{677C7B22-F18F-104C-B819-9C5C5BEE48CF}" presName="downArrowText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12466B2C-884C-514A-849D-9716F0C6EEBB}" type="presOf" srcId="{1CD0AE88-A877-8242-BDBF-C2D1925D397E}" destId="{D90A5D76-C533-CB44-BC2F-7246776EEFCE}" srcOrd="0" destOrd="0" presId="urn:microsoft.com/office/officeart/2005/8/layout/arrow4"/>
    <dgm:cxn modelId="{8EEE6077-65B5-AB47-933F-D7523EAB23E6}" srcId="{A21626C3-3729-714F-94C2-171B20A9E52D}" destId="{1CD0AE88-A877-8242-BDBF-C2D1925D397E}" srcOrd="0" destOrd="0" parTransId="{6AABDE02-79BD-864F-8ACA-84E8BDE15814}" sibTransId="{4A2B97A5-95F3-4240-845E-94AFCB797E28}"/>
    <dgm:cxn modelId="{7AE0A186-21A1-6245-A690-BF4CE21EB29B}" type="presOf" srcId="{677C7B22-F18F-104C-B819-9C5C5BEE48CF}" destId="{8977AC18-1043-FA4D-89CF-ECA2774FA0CA}" srcOrd="0" destOrd="0" presId="urn:microsoft.com/office/officeart/2005/8/layout/arrow4"/>
    <dgm:cxn modelId="{8B30058E-6A32-BD4B-9C2D-D35973334944}" srcId="{A21626C3-3729-714F-94C2-171B20A9E52D}" destId="{677C7B22-F18F-104C-B819-9C5C5BEE48CF}" srcOrd="1" destOrd="0" parTransId="{CC72FE40-36D9-7540-B76A-8FC8BCA09506}" sibTransId="{B962A88C-EB56-554F-99BB-1A15BAF8ABEB}"/>
    <dgm:cxn modelId="{8CED6C9A-58F9-0E4E-98A3-37A4E0203D0B}" type="presOf" srcId="{A21626C3-3729-714F-94C2-171B20A9E52D}" destId="{9821C2B1-A039-A447-9115-61FE836AAEE9}" srcOrd="0" destOrd="0" presId="urn:microsoft.com/office/officeart/2005/8/layout/arrow4"/>
    <dgm:cxn modelId="{7B36E43F-64D3-BF4B-AE50-7A2344EAD4A8}" type="presParOf" srcId="{9821C2B1-A039-A447-9115-61FE836AAEE9}" destId="{A2ECFD14-7D65-3241-90E2-8171A1C501FF}" srcOrd="0" destOrd="0" presId="urn:microsoft.com/office/officeart/2005/8/layout/arrow4"/>
    <dgm:cxn modelId="{756CFB52-881A-4D4A-92BF-A0186B4978AB}" type="presParOf" srcId="{9821C2B1-A039-A447-9115-61FE836AAEE9}" destId="{D90A5D76-C533-CB44-BC2F-7246776EEFCE}" srcOrd="1" destOrd="0" presId="urn:microsoft.com/office/officeart/2005/8/layout/arrow4"/>
    <dgm:cxn modelId="{0C0E4380-78AB-E043-94D7-01B2730460A1}" type="presParOf" srcId="{9821C2B1-A039-A447-9115-61FE836AAEE9}" destId="{D4CE5E79-FF80-944B-9F53-DED0C65FCE74}" srcOrd="2" destOrd="0" presId="urn:microsoft.com/office/officeart/2005/8/layout/arrow4"/>
    <dgm:cxn modelId="{5EEE14C9-AF2D-784B-99E8-C4AD6281DDDC}" type="presParOf" srcId="{9821C2B1-A039-A447-9115-61FE836AAEE9}" destId="{8977AC18-1043-FA4D-89CF-ECA2774FA0CA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346FA-4A14-A84C-9969-637AEC388AE2}">
      <dsp:nvSpPr>
        <dsp:cNvPr id="0" name=""/>
        <dsp:cNvSpPr/>
      </dsp:nvSpPr>
      <dsp:spPr>
        <a:xfrm>
          <a:off x="5340715" y="2496776"/>
          <a:ext cx="3051616" cy="3051616"/>
        </a:xfrm>
        <a:prstGeom prst="gear9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800" kern="1200" noProof="0" dirty="0">
              <a:latin typeface="Gill Sans Nova Light" panose="020B0302020104020203" pitchFamily="34" charset="0"/>
            </a:rPr>
            <a:t>Modelos y Predicción</a:t>
          </a:r>
        </a:p>
      </dsp:txBody>
      <dsp:txXfrm>
        <a:off x="5954226" y="3211602"/>
        <a:ext cx="1824594" cy="1568594"/>
      </dsp:txXfrm>
    </dsp:sp>
    <dsp:sp modelId="{4463CEEF-3FFD-2442-8720-91C26F81DA31}">
      <dsp:nvSpPr>
        <dsp:cNvPr id="0" name=""/>
        <dsp:cNvSpPr/>
      </dsp:nvSpPr>
      <dsp:spPr>
        <a:xfrm>
          <a:off x="4952328" y="4383230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Training-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kern="1200" noProof="0" dirty="0">
              <a:latin typeface="Gill Sans Nova Light" panose="020B0302020104020203" pitchFamily="34" charset="0"/>
            </a:rPr>
            <a:t> 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datasets</a:t>
          </a:r>
          <a:endParaRPr lang="es-ES_tradnl" sz="1600" kern="1200" noProof="0" dirty="0">
            <a:latin typeface="Gill Sans Nova Light" panose="020B0302020104020203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Ajuste de modelos</a:t>
          </a:r>
        </a:p>
      </dsp:txBody>
      <dsp:txXfrm>
        <a:off x="4986454" y="4417356"/>
        <a:ext cx="1873685" cy="1096910"/>
      </dsp:txXfrm>
    </dsp:sp>
    <dsp:sp modelId="{1256C406-6AA7-694B-A9CC-2C0E2709362F}">
      <dsp:nvSpPr>
        <dsp:cNvPr id="0" name=""/>
        <dsp:cNvSpPr/>
      </dsp:nvSpPr>
      <dsp:spPr>
        <a:xfrm>
          <a:off x="3565230" y="1775485"/>
          <a:ext cx="2219357" cy="2219357"/>
        </a:xfrm>
        <a:prstGeom prst="gear6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Análisis Descriptivo</a:t>
          </a:r>
        </a:p>
      </dsp:txBody>
      <dsp:txXfrm>
        <a:off x="4123960" y="2337592"/>
        <a:ext cx="1101897" cy="1095143"/>
      </dsp:txXfrm>
    </dsp:sp>
    <dsp:sp modelId="{1B993F7D-C4FD-3F4A-B699-E7B45E6393E2}">
      <dsp:nvSpPr>
        <dsp:cNvPr id="0" name=""/>
        <dsp:cNvSpPr/>
      </dsp:nvSpPr>
      <dsp:spPr>
        <a:xfrm>
          <a:off x="2843938" y="3218067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Tablas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Histogramas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PCA, Clusters, …</a:t>
          </a:r>
        </a:p>
      </dsp:txBody>
      <dsp:txXfrm>
        <a:off x="2878064" y="3252193"/>
        <a:ext cx="1873685" cy="1096910"/>
      </dsp:txXfrm>
    </dsp:sp>
    <dsp:sp modelId="{F7C1E3D9-D3A5-F44F-A8AF-AF676044A6A0}">
      <dsp:nvSpPr>
        <dsp:cNvPr id="0" name=""/>
        <dsp:cNvSpPr/>
      </dsp:nvSpPr>
      <dsp:spPr>
        <a:xfrm rot="20700000">
          <a:off x="4808296" y="244355"/>
          <a:ext cx="2174517" cy="2174517"/>
        </a:xfrm>
        <a:prstGeom prst="gear6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Limpieza de Datos</a:t>
          </a:r>
        </a:p>
      </dsp:txBody>
      <dsp:txXfrm rot="-20700000">
        <a:off x="5285231" y="721291"/>
        <a:ext cx="1220646" cy="1220646"/>
      </dsp:txXfrm>
    </dsp:sp>
    <dsp:sp modelId="{F2F70D71-1549-DA4C-AE52-1D67B5E60328}">
      <dsp:nvSpPr>
        <dsp:cNvPr id="0" name=""/>
        <dsp:cNvSpPr/>
      </dsp:nvSpPr>
      <dsp:spPr>
        <a:xfrm>
          <a:off x="6450394" y="721291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Muestras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Eliminar variables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 err="1">
              <a:latin typeface="Gill Sans Nova Light" panose="020B0302020104020203" pitchFamily="34" charset="0"/>
            </a:rPr>
            <a:t>Reshape</a:t>
          </a:r>
          <a:endParaRPr lang="es-ES_tradnl" sz="1600" kern="1200" noProof="0" dirty="0">
            <a:latin typeface="Gill Sans Nova Light" panose="020B0302020104020203" pitchFamily="34" charset="0"/>
          </a:endParaRPr>
        </a:p>
      </dsp:txBody>
      <dsp:txXfrm>
        <a:off x="6484520" y="755417"/>
        <a:ext cx="1873685" cy="1096910"/>
      </dsp:txXfrm>
    </dsp:sp>
    <dsp:sp modelId="{64D6B4A8-6DAE-7C4F-82B8-34EC1578BDEB}">
      <dsp:nvSpPr>
        <dsp:cNvPr id="0" name=""/>
        <dsp:cNvSpPr/>
      </dsp:nvSpPr>
      <dsp:spPr>
        <a:xfrm>
          <a:off x="5121213" y="2027627"/>
          <a:ext cx="3906068" cy="3906068"/>
        </a:xfrm>
        <a:prstGeom prst="circularArrow">
          <a:avLst>
            <a:gd name="adj1" fmla="val 4687"/>
            <a:gd name="adj2" fmla="val 299029"/>
            <a:gd name="adj3" fmla="val 2541201"/>
            <a:gd name="adj4" fmla="val 15808362"/>
            <a:gd name="adj5" fmla="val 5469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98CC3-BBCC-4240-989B-3CCA849F73EF}">
      <dsp:nvSpPr>
        <dsp:cNvPr id="0" name=""/>
        <dsp:cNvSpPr/>
      </dsp:nvSpPr>
      <dsp:spPr>
        <a:xfrm>
          <a:off x="3172186" y="1278614"/>
          <a:ext cx="2838003" cy="283800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64E1C-E48C-5A40-A1FB-B14A94E05F3E}">
      <dsp:nvSpPr>
        <dsp:cNvPr id="0" name=""/>
        <dsp:cNvSpPr/>
      </dsp:nvSpPr>
      <dsp:spPr>
        <a:xfrm>
          <a:off x="4305308" y="-237756"/>
          <a:ext cx="3059938" cy="3059938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F5CF07-BCF8-8E49-96DC-16E452794976}">
      <dsp:nvSpPr>
        <dsp:cNvPr id="0" name=""/>
        <dsp:cNvSpPr/>
      </dsp:nvSpPr>
      <dsp:spPr>
        <a:xfrm>
          <a:off x="2410684" y="2777"/>
          <a:ext cx="1251602" cy="1251602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300" b="1" kern="1200" noProof="0" dirty="0">
              <a:solidFill>
                <a:schemeClr val="bg1"/>
              </a:solidFill>
              <a:latin typeface="Gill Sans Nova Light" panose="020B0302020104020203" pitchFamily="34" charset="0"/>
            </a:rPr>
            <a:t>Paramétrico</a:t>
          </a:r>
        </a:p>
      </dsp:txBody>
      <dsp:txXfrm>
        <a:off x="2593977" y="186070"/>
        <a:ext cx="885016" cy="885016"/>
      </dsp:txXfrm>
    </dsp:sp>
    <dsp:sp modelId="{26E6C1B5-205E-F947-AE79-E0A84DF312A6}">
      <dsp:nvSpPr>
        <dsp:cNvPr id="0" name=""/>
        <dsp:cNvSpPr/>
      </dsp:nvSpPr>
      <dsp:spPr>
        <a:xfrm>
          <a:off x="2673521" y="1356009"/>
          <a:ext cx="725929" cy="725929"/>
        </a:xfrm>
        <a:prstGeom prst="mathPlus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100" kern="1200" noProof="0" dirty="0">
            <a:latin typeface="Gill Sans Nova Light" panose="020B0302020104020203" pitchFamily="34" charset="0"/>
          </a:endParaRPr>
        </a:p>
      </dsp:txBody>
      <dsp:txXfrm>
        <a:off x="2769743" y="1633604"/>
        <a:ext cx="533485" cy="170739"/>
      </dsp:txXfrm>
    </dsp:sp>
    <dsp:sp modelId="{54646CE3-0B82-B24C-BB0E-DB8E40368D1D}">
      <dsp:nvSpPr>
        <dsp:cNvPr id="0" name=""/>
        <dsp:cNvSpPr/>
      </dsp:nvSpPr>
      <dsp:spPr>
        <a:xfrm>
          <a:off x="2410684" y="2183568"/>
          <a:ext cx="1251602" cy="1251602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300" b="1" kern="1200" noProof="0" dirty="0">
              <a:solidFill>
                <a:schemeClr val="bg1"/>
              </a:solidFill>
              <a:latin typeface="Gill Sans Nova Light" panose="020B0302020104020203" pitchFamily="34" charset="0"/>
            </a:rPr>
            <a:t>No Paramétrico</a:t>
          </a:r>
        </a:p>
      </dsp:txBody>
      <dsp:txXfrm>
        <a:off x="2593977" y="2366861"/>
        <a:ext cx="885016" cy="885016"/>
      </dsp:txXfrm>
    </dsp:sp>
    <dsp:sp modelId="{69E6F0D2-6F10-9C45-88E7-D375FB9C4407}">
      <dsp:nvSpPr>
        <dsp:cNvPr id="0" name=""/>
        <dsp:cNvSpPr/>
      </dsp:nvSpPr>
      <dsp:spPr>
        <a:xfrm>
          <a:off x="3850027" y="1486176"/>
          <a:ext cx="398009" cy="465595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100" kern="1200" noProof="0" dirty="0">
            <a:latin typeface="Gill Sans Nova Light" panose="020B0302020104020203" pitchFamily="34" charset="0"/>
          </a:endParaRPr>
        </a:p>
      </dsp:txBody>
      <dsp:txXfrm>
        <a:off x="3850027" y="1579295"/>
        <a:ext cx="278606" cy="279357"/>
      </dsp:txXfrm>
    </dsp:sp>
    <dsp:sp modelId="{2FCDD310-9FCE-9740-AA3A-0CFD2EC97254}">
      <dsp:nvSpPr>
        <dsp:cNvPr id="0" name=""/>
        <dsp:cNvSpPr/>
      </dsp:nvSpPr>
      <dsp:spPr>
        <a:xfrm>
          <a:off x="4413248" y="145472"/>
          <a:ext cx="3130557" cy="3147003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400" kern="1200" noProof="0" dirty="0">
              <a:latin typeface="Gill Sans Nova Light" panose="020B0302020104020203" pitchFamily="34" charset="0"/>
            </a:rPr>
            <a:t>Semi-Paramétrico</a:t>
          </a:r>
        </a:p>
      </dsp:txBody>
      <dsp:txXfrm>
        <a:off x="4871707" y="606340"/>
        <a:ext cx="2213639" cy="22252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ECFD14-7D65-3241-90E2-8171A1C501FF}">
      <dsp:nvSpPr>
        <dsp:cNvPr id="0" name=""/>
        <dsp:cNvSpPr/>
      </dsp:nvSpPr>
      <dsp:spPr>
        <a:xfrm>
          <a:off x="1631036" y="0"/>
          <a:ext cx="1026159" cy="769619"/>
        </a:xfrm>
        <a:prstGeom prst="upArrow">
          <a:avLst/>
        </a:prstGeom>
        <a:solidFill>
          <a:srgbClr val="92D050"/>
        </a:solidFill>
        <a:ln w="1270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A5D76-C533-CB44-BC2F-7246776EEFCE}">
      <dsp:nvSpPr>
        <dsp:cNvPr id="0" name=""/>
        <dsp:cNvSpPr/>
      </dsp:nvSpPr>
      <dsp:spPr>
        <a:xfrm>
          <a:off x="2687980" y="0"/>
          <a:ext cx="5888736" cy="769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0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400" kern="1200" noProof="0" dirty="0">
              <a:latin typeface="Gill Sans Nova Light" panose="020B0302020104020203" pitchFamily="34" charset="0"/>
            </a:rPr>
            <a:t>A mayor número de bins</a:t>
          </a:r>
        </a:p>
      </dsp:txBody>
      <dsp:txXfrm>
        <a:off x="2687980" y="0"/>
        <a:ext cx="5888736" cy="769619"/>
      </dsp:txXfrm>
    </dsp:sp>
    <dsp:sp modelId="{D4CE5E79-FF80-944B-9F53-DED0C65FCE74}">
      <dsp:nvSpPr>
        <dsp:cNvPr id="0" name=""/>
        <dsp:cNvSpPr/>
      </dsp:nvSpPr>
      <dsp:spPr>
        <a:xfrm>
          <a:off x="1938883" y="833754"/>
          <a:ext cx="1026159" cy="769619"/>
        </a:xfrm>
        <a:prstGeom prst="downArrow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7AC18-1043-FA4D-89CF-ECA2774FA0CA}">
      <dsp:nvSpPr>
        <dsp:cNvPr id="0" name=""/>
        <dsp:cNvSpPr/>
      </dsp:nvSpPr>
      <dsp:spPr>
        <a:xfrm>
          <a:off x="2995827" y="833754"/>
          <a:ext cx="5888736" cy="769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0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400" kern="1200" noProof="0" dirty="0">
              <a:latin typeface="Gill Sans Nova Light" panose="020B0302020104020203" pitchFamily="34" charset="0"/>
            </a:rPr>
            <a:t>Menor sesgo del Histograma</a:t>
          </a:r>
        </a:p>
      </dsp:txBody>
      <dsp:txXfrm>
        <a:off x="2995827" y="833754"/>
        <a:ext cx="5888736" cy="7696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ECFD14-7D65-3241-90E2-8171A1C501FF}">
      <dsp:nvSpPr>
        <dsp:cNvPr id="0" name=""/>
        <dsp:cNvSpPr/>
      </dsp:nvSpPr>
      <dsp:spPr>
        <a:xfrm>
          <a:off x="1631036" y="0"/>
          <a:ext cx="1026159" cy="769619"/>
        </a:xfrm>
        <a:prstGeom prst="upArrow">
          <a:avLst/>
        </a:prstGeom>
        <a:solidFill>
          <a:srgbClr val="92D050"/>
        </a:solidFill>
        <a:ln w="1270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A5D76-C533-CB44-BC2F-7246776EEFCE}">
      <dsp:nvSpPr>
        <dsp:cNvPr id="0" name=""/>
        <dsp:cNvSpPr/>
      </dsp:nvSpPr>
      <dsp:spPr>
        <a:xfrm>
          <a:off x="2687980" y="0"/>
          <a:ext cx="5888736" cy="769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0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400" kern="1200" noProof="0" dirty="0">
              <a:latin typeface="Gill Sans Nova Light" panose="020B0302020104020203" pitchFamily="34" charset="0"/>
            </a:rPr>
            <a:t>A mayor número de bins</a:t>
          </a:r>
        </a:p>
      </dsp:txBody>
      <dsp:txXfrm>
        <a:off x="2687980" y="0"/>
        <a:ext cx="5888736" cy="769619"/>
      </dsp:txXfrm>
    </dsp:sp>
    <dsp:sp modelId="{D4CE5E79-FF80-944B-9F53-DED0C65FCE74}">
      <dsp:nvSpPr>
        <dsp:cNvPr id="0" name=""/>
        <dsp:cNvSpPr/>
      </dsp:nvSpPr>
      <dsp:spPr>
        <a:xfrm>
          <a:off x="1938883" y="833754"/>
          <a:ext cx="1026159" cy="769619"/>
        </a:xfrm>
        <a:prstGeom prst="downArrow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7AC18-1043-FA4D-89CF-ECA2774FA0CA}">
      <dsp:nvSpPr>
        <dsp:cNvPr id="0" name=""/>
        <dsp:cNvSpPr/>
      </dsp:nvSpPr>
      <dsp:spPr>
        <a:xfrm>
          <a:off x="2995827" y="833754"/>
          <a:ext cx="5888736" cy="769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0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400" kern="1200" noProof="0" dirty="0">
              <a:latin typeface="Gill Sans Nova Light" panose="020B0302020104020203" pitchFamily="34" charset="0"/>
            </a:rPr>
            <a:t>Menor sesgo del Histograma</a:t>
          </a:r>
        </a:p>
      </dsp:txBody>
      <dsp:txXfrm>
        <a:off x="2995827" y="833754"/>
        <a:ext cx="5888736" cy="7696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13/7/26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40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03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Material de Sosa Escudero (2020) “</a:t>
            </a:r>
            <a:r>
              <a:rPr lang="en-US" b="1" i="0" u="none" strike="noStrike" dirty="0" err="1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Densidad</a:t>
            </a:r>
            <a:r>
              <a:rPr lang="en-US" b="1" i="0" u="none" strike="noStrike" dirty="0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 y </a:t>
            </a:r>
            <a:r>
              <a:rPr lang="en-US" b="1" i="0" u="none" strike="noStrike" dirty="0" err="1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regresión</a:t>
            </a:r>
            <a:r>
              <a:rPr lang="en-US" b="1" i="0" u="none" strike="noStrike" dirty="0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 no </a:t>
            </a:r>
            <a:r>
              <a:rPr lang="en-US" b="1" i="0" u="none" strike="noStrike" dirty="0" err="1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paramétrica</a:t>
            </a:r>
            <a:r>
              <a:rPr lang="es-ES_tradnl" dirty="0"/>
              <a:t>”: https://</a:t>
            </a:r>
            <a:r>
              <a:rPr lang="es-ES_tradnl" dirty="0" err="1"/>
              <a:t>bigdataudesa.weebly.com</a:t>
            </a:r>
            <a:r>
              <a:rPr lang="es-ES_tradnl" dirty="0"/>
              <a:t>/</a:t>
            </a:r>
            <a:r>
              <a:rPr lang="es-ES_tradnl" dirty="0" err="1"/>
              <a:t>uploads</a:t>
            </a:r>
            <a:r>
              <a:rPr lang="es-ES_tradnl" dirty="0"/>
              <a:t>/8/6/9/0/86901080/densityregression2020.pdf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62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Material: </a:t>
            </a:r>
          </a:p>
          <a:p>
            <a:r>
              <a:rPr lang="es-ES_tradnl" dirty="0"/>
              <a:t>Sosa Escudero (2020) “</a:t>
            </a:r>
            <a:r>
              <a:rPr lang="en-US" b="1" i="0" u="none" strike="noStrike" dirty="0" err="1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Densidad</a:t>
            </a:r>
            <a:r>
              <a:rPr lang="en-US" b="1" i="0" u="none" strike="noStrike" dirty="0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 y </a:t>
            </a:r>
            <a:r>
              <a:rPr lang="en-US" b="1" i="0" u="none" strike="noStrike" dirty="0" err="1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regresión</a:t>
            </a:r>
            <a:r>
              <a:rPr lang="en-US" b="1" i="0" u="none" strike="noStrike" dirty="0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 no </a:t>
            </a:r>
            <a:r>
              <a:rPr lang="en-US" b="1" i="0" u="none" strike="noStrike" dirty="0" err="1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paramétrica</a:t>
            </a:r>
            <a:r>
              <a:rPr lang="es-ES_tradnl" dirty="0"/>
              <a:t>”: https://</a:t>
            </a:r>
            <a:r>
              <a:rPr lang="es-ES_tradnl" dirty="0" err="1"/>
              <a:t>bigdataudesa.weebly.com</a:t>
            </a:r>
            <a:r>
              <a:rPr lang="es-ES_tradnl" dirty="0"/>
              <a:t>/</a:t>
            </a:r>
            <a:r>
              <a:rPr lang="es-ES_tradnl" dirty="0" err="1"/>
              <a:t>uploads</a:t>
            </a:r>
            <a:r>
              <a:rPr lang="es-ES_tradnl" dirty="0"/>
              <a:t>/8/6/9/0/86901080/densityregression2020.pdf </a:t>
            </a: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800" dirty="0">
                <a:solidFill>
                  <a:srgbClr val="000000"/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Chen, Yen-Chi (2024) “STAT 425: </a:t>
            </a:r>
            <a:r>
              <a:rPr lang="es-ES_tradnl" sz="1800" dirty="0" err="1">
                <a:solidFill>
                  <a:srgbClr val="000000"/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Introduction</a:t>
            </a:r>
            <a:r>
              <a:rPr lang="es-ES_tradnl" sz="1800" dirty="0">
                <a:solidFill>
                  <a:srgbClr val="000000"/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 </a:t>
            </a:r>
            <a:r>
              <a:rPr lang="es-ES_tradnl" sz="1800" dirty="0" err="1">
                <a:solidFill>
                  <a:srgbClr val="000000"/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to</a:t>
            </a:r>
            <a:r>
              <a:rPr lang="es-ES_tradnl" sz="1800" dirty="0">
                <a:solidFill>
                  <a:srgbClr val="000000"/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 </a:t>
            </a:r>
            <a:r>
              <a:rPr lang="es-ES_tradnl" sz="1800" dirty="0" err="1">
                <a:solidFill>
                  <a:srgbClr val="000000"/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Nonparametric</a:t>
            </a:r>
            <a:r>
              <a:rPr lang="es-ES_tradnl" sz="1800" dirty="0">
                <a:solidFill>
                  <a:srgbClr val="000000"/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 </a:t>
            </a:r>
            <a:r>
              <a:rPr lang="es-ES_tradnl" sz="1800" dirty="0" err="1">
                <a:solidFill>
                  <a:srgbClr val="000000"/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Statistics</a:t>
            </a:r>
            <a:r>
              <a:rPr lang="es-ES_tradnl" sz="1800" dirty="0">
                <a:solidFill>
                  <a:srgbClr val="000000"/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”</a:t>
            </a:r>
            <a:endParaRPr lang="en-US" sz="1800" dirty="0">
              <a:solidFill>
                <a:srgbClr val="000000"/>
              </a:solidFill>
              <a:effectLst/>
              <a:latin typeface="Gill Sans Nova Light" panose="020B0302020104020203" pitchFamily="34" charset="0"/>
              <a:ea typeface="Gill Sans" panose="020B0502020104020203" pitchFamily="34" charset="-79"/>
              <a:cs typeface="Gill Sans" panose="020B0502020104020203" pitchFamily="34" charset="-79"/>
            </a:endParaRPr>
          </a:p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49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90712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23239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8920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5442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Material de Sosa Escudero (2020) “</a:t>
            </a:r>
            <a:r>
              <a:rPr lang="en-US" b="1" i="0" u="none" strike="noStrike" dirty="0" err="1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Densidad</a:t>
            </a:r>
            <a:r>
              <a:rPr lang="en-US" b="1" i="0" u="none" strike="noStrike" dirty="0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 y </a:t>
            </a:r>
            <a:r>
              <a:rPr lang="en-US" b="1" i="0" u="none" strike="noStrike" dirty="0" err="1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regresión</a:t>
            </a:r>
            <a:r>
              <a:rPr lang="en-US" b="1" i="0" u="none" strike="noStrike" dirty="0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 no </a:t>
            </a:r>
            <a:r>
              <a:rPr lang="en-US" b="1" i="0" u="none" strike="noStrike" dirty="0" err="1">
                <a:solidFill>
                  <a:srgbClr val="2A2A2A"/>
                </a:solidFill>
                <a:effectLst/>
                <a:latin typeface="Lato" panose="020F0502020204030204" pitchFamily="34" charset="0"/>
              </a:rPr>
              <a:t>paramétrica</a:t>
            </a:r>
            <a:r>
              <a:rPr lang="es-ES_tradnl" dirty="0"/>
              <a:t>”: https://</a:t>
            </a:r>
            <a:r>
              <a:rPr lang="es-ES_tradnl" dirty="0" err="1"/>
              <a:t>bigdataudesa.weebly.com</a:t>
            </a:r>
            <a:r>
              <a:rPr lang="es-ES_tradnl" dirty="0"/>
              <a:t>/</a:t>
            </a:r>
            <a:r>
              <a:rPr lang="es-ES_tradnl" dirty="0" err="1"/>
              <a:t>uploads</a:t>
            </a:r>
            <a:r>
              <a:rPr lang="es-ES_tradnl" dirty="0"/>
              <a:t>/8/6/9/0/86901080/densityregression2020.pdf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24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9441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49061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499107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3303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51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164830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54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65331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56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829810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62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254941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Link al paper: https://</a:t>
            </a:r>
            <a:r>
              <a:rPr lang="es-ES_tradnl" dirty="0" err="1"/>
              <a:t>www.sciencedirect.com</a:t>
            </a:r>
            <a:r>
              <a:rPr lang="es-ES_tradnl" dirty="0"/>
              <a:t>/</a:t>
            </a:r>
            <a:r>
              <a:rPr lang="es-ES_tradnl" dirty="0" err="1"/>
              <a:t>science</a:t>
            </a:r>
            <a:r>
              <a:rPr lang="es-ES_tradnl" dirty="0"/>
              <a:t>/</a:t>
            </a:r>
            <a:r>
              <a:rPr lang="es-ES_tradnl" dirty="0" err="1"/>
              <a:t>article</a:t>
            </a:r>
            <a:r>
              <a:rPr lang="es-ES_tradnl" dirty="0"/>
              <a:t>/</a:t>
            </a:r>
            <a:r>
              <a:rPr lang="es-ES_tradnl" dirty="0" err="1"/>
              <a:t>pii</a:t>
            </a:r>
            <a:r>
              <a:rPr lang="es-ES_tradnl" dirty="0"/>
              <a:t>/S0306919218302197?casa_token=Et325wEaGO0AAAAA:Sfl5aLohKkyxCwgDO2ww6Wyk0tHE0Xc9kadH1jT67cdn9Tu4gTsxcxGL3BcjiP7l1tG_ObJMXhk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66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74312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67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802784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70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09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74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54421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75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37080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6A44-393B-2349-9636-C2E629343387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DD35-DA54-6249-8929-31941A6F915E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3375-BE77-974E-B796-FE3045409A94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5ED56-00FC-634F-B6C2-E86770DA063E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0F7AF-5390-6D41-B3C2-4512AD8DC48F}" type="datetime1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FBA76-D706-234B-B88E-FA9EF4D7D110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C583-3803-924E-B51C-25F9B096D826}" type="datetime1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20E7-E151-324B-B310-BE89353755F2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3A3E-DA75-EC4A-9046-4A3B26FBAAC1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747D-E2B9-0645-9126-214ED2EB266F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EB08E-9945-494E-8140-072E164898FC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03A4A31-8716-1243-A06A-E7884CD293D7}" type="datetime1">
              <a:rPr lang="en-US" noProof="0" smtClean="0"/>
              <a:t>7/13/26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m-n-romero91/30min-office-hour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devopedia.org/exploratory-data-analysi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pexels.com/photo/dart-dartboard-game-precision-242494/" TargetMode="External"/><Relationship Id="rId4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74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commons.wikimedia.org/wiki/File:Cheers_beer.jpg" TargetMode="Externa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" Target="slide65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Visualización II: 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Métodos No Paramétricos: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Histogramas &amp; Kernels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3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0.  Cuestiones operativas del curso: Recordatorios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Visualización de datos II: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UcPeriod"/>
            </a:pPr>
            <a:r>
              <a:rPr lang="es-ES_tradnl" dirty="0"/>
              <a:t>Repaso de los principios para la visualización de los datos 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UcPeriod"/>
            </a:pPr>
            <a:r>
              <a:rPr lang="es-ES_tradnl" dirty="0"/>
              <a:t>Distinción de Métodos Paramétricos y No Paramétricos 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UcPeriod"/>
            </a:pPr>
            <a:r>
              <a:rPr lang="es-ES_tradnl" dirty="0">
                <a:solidFill>
                  <a:srgbClr val="002060"/>
                </a:solidFill>
              </a:rPr>
              <a:t>Objetivo</a:t>
            </a:r>
            <a:r>
              <a:rPr lang="es-ES_tradnl" dirty="0"/>
              <a:t>: Funciones de Densidad e Intuición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UcPeriod"/>
            </a:pPr>
            <a:r>
              <a:rPr lang="es-ES_tradnl" dirty="0">
                <a:solidFill>
                  <a:srgbClr val="002060"/>
                </a:solidFill>
              </a:rPr>
              <a:t>Histogramas</a:t>
            </a:r>
            <a:r>
              <a:rPr lang="es-ES_tradnl" dirty="0"/>
              <a:t>, ejemplo, concepto, formula, intuición, recomendaciones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UcPeriod"/>
            </a:pPr>
            <a:r>
              <a:rPr lang="es-ES_tradnl" dirty="0">
                <a:solidFill>
                  <a:srgbClr val="002060"/>
                </a:solidFill>
              </a:rPr>
              <a:t>Estimación Kernel</a:t>
            </a:r>
            <a:r>
              <a:rPr lang="es-ES_tradnl" dirty="0"/>
              <a:t>: formula, ilustración, tipo de funciones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UcPeriod"/>
            </a:pPr>
            <a:r>
              <a:rPr lang="es-ES_tradnl" dirty="0">
                <a:solidFill>
                  <a:srgbClr val="002060"/>
                </a:solidFill>
              </a:rPr>
              <a:t>Aplicaciones</a:t>
            </a:r>
            <a:r>
              <a:rPr lang="es-ES_tradnl" dirty="0"/>
              <a:t> en Economía Laboral y de Consumidores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U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29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F5168-5457-EEB9-2127-27DFCC8E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 dirty="0"/>
              <a:t>Cuestiones operativas del curso: </a:t>
            </a:r>
            <a:r>
              <a:rPr lang="es-ES_tradnl" sz="4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Próximos </a:t>
            </a:r>
            <a:r>
              <a:rPr lang="es-ES_tradnl" sz="4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Deadlines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83FBD-7284-DC97-84C0-7A38FB74C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>
                <a:solidFill>
                  <a:srgbClr val="002060"/>
                </a:solidFill>
              </a:rPr>
              <a:t>TP1</a:t>
            </a:r>
            <a:r>
              <a:rPr lang="es-ES_tradnl" dirty="0"/>
              <a:t>: Disponible</a:t>
            </a:r>
          </a:p>
          <a:p>
            <a:pPr lvl="1"/>
            <a:r>
              <a:rPr lang="es-ES_tradnl" dirty="0"/>
              <a:t>Viernes 5 de septiembre</a:t>
            </a:r>
          </a:p>
          <a:p>
            <a:r>
              <a:rPr lang="es-ES_tradnl" dirty="0">
                <a:solidFill>
                  <a:srgbClr val="002060"/>
                </a:solidFill>
              </a:rPr>
              <a:t>TP2</a:t>
            </a:r>
            <a:r>
              <a:rPr lang="es-ES_tradnl" dirty="0"/>
              <a:t>: Disponible</a:t>
            </a:r>
          </a:p>
          <a:p>
            <a:pPr lvl="1"/>
            <a:r>
              <a:rPr lang="es-ES_tradnl" dirty="0"/>
              <a:t>Viernes 23 de septiembre</a:t>
            </a:r>
            <a:endParaRPr lang="es-ES_tradnl" sz="1200" dirty="0"/>
          </a:p>
          <a:p>
            <a:r>
              <a:rPr lang="es-ES_tradnl" dirty="0">
                <a:solidFill>
                  <a:srgbClr val="002060"/>
                </a:solidFill>
              </a:rPr>
              <a:t>1ra Exposición grupal</a:t>
            </a:r>
            <a:r>
              <a:rPr lang="es-ES_tradnl" dirty="0"/>
              <a:t>: Base de Datos. Consignas Disponibles</a:t>
            </a:r>
          </a:p>
          <a:p>
            <a:pPr lvl="1"/>
            <a:r>
              <a:rPr lang="es-ES_tradnl" dirty="0"/>
              <a:t>Viernes 26 de septiembre</a:t>
            </a:r>
          </a:p>
          <a:p>
            <a:pPr lvl="1"/>
            <a:endParaRPr lang="es-ES_tradnl" sz="1200" dirty="0"/>
          </a:p>
          <a:p>
            <a:r>
              <a:rPr lang="es-ES_tradnl" dirty="0">
                <a:solidFill>
                  <a:srgbClr val="002060"/>
                </a:solidFill>
              </a:rPr>
              <a:t>Consultas</a:t>
            </a:r>
            <a:r>
              <a:rPr lang="es-ES_tradnl" dirty="0"/>
              <a:t>: Email o </a:t>
            </a:r>
            <a:r>
              <a:rPr lang="es-ES_tradnl" dirty="0">
                <a:hlinkClick r:id="rId2"/>
              </a:rPr>
              <a:t>Calendly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8B716-D772-C5D0-8F2B-0FC170A1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39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CDA9-EC41-2312-3939-2A1FFC5B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Orden de Temas: </a:t>
            </a: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Secuencia de Trabajo con Datos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ABD0DE-D47B-BE72-9389-1B9C88CB6F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9451" y="1100380"/>
          <a:ext cx="11236271" cy="5548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2FF7C-6F94-55CC-F31A-3FC6C600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67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7F4A9-B988-5DAD-3298-11C92368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Una primera mirada a los datos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C5DD593A-7147-CD37-75C4-06FCBBF3D0B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>
                    <a:solidFill>
                      <a:srgbClr val="0070C0"/>
                    </a:solidFill>
                  </a:rPr>
                  <a:t>Análisis Exploratorio de Datos 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s-ES_tradnl" dirty="0"/>
                  <a:t> Análisis Descriptivo</a:t>
                </a:r>
              </a:p>
              <a:p>
                <a:pPr lvl="1"/>
                <a:r>
                  <a:rPr lang="es-ES_tradnl" dirty="0"/>
                  <a:t>Entender la estructura de los datos</a:t>
                </a:r>
              </a:p>
              <a:p>
                <a:pPr lvl="1"/>
                <a:r>
                  <a:rPr lang="es-ES_tradnl" dirty="0"/>
                  <a:t>Ver patrones</a:t>
                </a:r>
              </a:p>
              <a:p>
                <a:pPr lvl="1"/>
                <a:r>
                  <a:rPr lang="es-ES_tradnl" dirty="0"/>
                  <a:t>Chequear problemas de calidad de los datos</a:t>
                </a:r>
              </a:p>
              <a:p>
                <a:pPr lvl="1"/>
                <a:r>
                  <a:rPr lang="es-ES_tradnl" dirty="0"/>
                  <a:t>Reordenar y preparar datos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C5DD593A-7147-CD37-75C4-06FCBBF3D0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t="-2907" r="-2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54D075A3-C434-4213-15D6-02291349E7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292121" y="2474758"/>
            <a:ext cx="5181600" cy="3083052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5C2238-1609-703C-6166-AEF67FE3C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1C13CF3-E58C-89B9-523B-3A2B112E8FC3}"/>
              </a:ext>
            </a:extLst>
          </p:cNvPr>
          <p:cNvSpPr txBox="1"/>
          <p:nvPr/>
        </p:nvSpPr>
        <p:spPr>
          <a:xfrm>
            <a:off x="6292121" y="5557810"/>
            <a:ext cx="5181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>
                <a:hlinkClick r:id="rId4" tooltip="https://devopedia.org/exploratory-data-analysis"/>
              </a:rPr>
              <a:t>Esta foto</a:t>
            </a:r>
            <a:r>
              <a:rPr lang="es-ES_tradnl" sz="900"/>
              <a:t> de Autor desconocido está bajo licencia </a:t>
            </a:r>
            <a:r>
              <a:rPr lang="es-ES_tradnl" sz="900">
                <a:hlinkClick r:id="rId5" tooltip="https://creativecommons.org/licenses/by-sa/3.0/"/>
              </a:rPr>
              <a:t>CC BY-SA</a:t>
            </a:r>
            <a:endParaRPr lang="es-ES_tradnl" sz="900"/>
          </a:p>
        </p:txBody>
      </p:sp>
    </p:spTree>
    <p:extLst>
      <p:ext uri="{BB962C8B-B14F-4D97-AF65-F5344CB8AC3E}">
        <p14:creationId xmlns:p14="http://schemas.microsoft.com/office/powerpoint/2010/main" val="4093716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A8615-E344-B674-6A31-856DA23A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Estadística Descriptiva y Visualización 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8C2DEF80-69B1-9E6E-4EDC-857391054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0091600"/>
              </p:ext>
            </p:extLst>
          </p:nvPr>
        </p:nvGraphicFramePr>
        <p:xfrm>
          <a:off x="838199" y="1825624"/>
          <a:ext cx="10389432" cy="3885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9794">
                  <a:extLst>
                    <a:ext uri="{9D8B030D-6E8A-4147-A177-3AD203B41FA5}">
                      <a16:colId xmlns:a16="http://schemas.microsoft.com/office/drawing/2014/main" val="1668011427"/>
                    </a:ext>
                  </a:extLst>
                </a:gridCol>
                <a:gridCol w="4137286">
                  <a:extLst>
                    <a:ext uri="{9D8B030D-6E8A-4147-A177-3AD203B41FA5}">
                      <a16:colId xmlns:a16="http://schemas.microsoft.com/office/drawing/2014/main" val="292872034"/>
                    </a:ext>
                  </a:extLst>
                </a:gridCol>
                <a:gridCol w="4032352">
                  <a:extLst>
                    <a:ext uri="{9D8B030D-6E8A-4147-A177-3AD203B41FA5}">
                      <a16:colId xmlns:a16="http://schemas.microsoft.com/office/drawing/2014/main" val="3269034270"/>
                    </a:ext>
                  </a:extLst>
                </a:gridCol>
              </a:tblGrid>
              <a:tr h="761738">
                <a:tc>
                  <a:txBody>
                    <a:bodyPr/>
                    <a:lstStyle/>
                    <a:p>
                      <a:r>
                        <a:rPr lang="es-ES_tradnl" sz="2800" b="1" dirty="0">
                          <a:solidFill>
                            <a:schemeClr val="bg1"/>
                          </a:solidFill>
                          <a:latin typeface="Gill Sans Nova Light" panose="020B0302020104020203" pitchFamily="34" charset="0"/>
                        </a:rPr>
                        <a:t>Estadística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2800" b="1" dirty="0">
                          <a:solidFill>
                            <a:schemeClr val="bg1"/>
                          </a:solidFill>
                          <a:latin typeface="Gill Sans Nova Light" panose="020B0302020104020203" pitchFamily="34" charset="0"/>
                        </a:rPr>
                        <a:t>Una Variable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2800" b="1" dirty="0">
                          <a:solidFill>
                            <a:schemeClr val="bg1"/>
                          </a:solidFill>
                          <a:latin typeface="Gill Sans Nova Light" panose="020B0302020104020203" pitchFamily="34" charset="0"/>
                        </a:rPr>
                        <a:t>Dos Variables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094962"/>
                  </a:ext>
                </a:extLst>
              </a:tr>
              <a:tr h="1561945">
                <a:tc>
                  <a:txBody>
                    <a:bodyPr/>
                    <a:lstStyle/>
                    <a:p>
                      <a:r>
                        <a:rPr lang="es-ES_tradnl" sz="2800" dirty="0">
                          <a:latin typeface="Gill Sans Nova Light" panose="020B0302020104020203" pitchFamily="34" charset="0"/>
                        </a:rPr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2800" dirty="0">
                          <a:latin typeface="Gill Sans Nova Light" panose="020B0302020104020203" pitchFamily="34" charset="0"/>
                        </a:rPr>
                        <a:t>Histogramas &amp; Kernels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2800" dirty="0">
                          <a:latin typeface="Gill Sans Nova Light" panose="020B0302020104020203" pitchFamily="34" charset="0"/>
                        </a:rPr>
                        <a:t>Gráfico de caja (box-</a:t>
                      </a:r>
                      <a:r>
                        <a:rPr lang="es-ES_tradnl" sz="2800" dirty="0" err="1">
                          <a:latin typeface="Gill Sans Nova Light" panose="020B0302020104020203" pitchFamily="34" charset="0"/>
                        </a:rPr>
                        <a:t>plot</a:t>
                      </a:r>
                      <a:r>
                        <a:rPr lang="es-ES_tradnl" sz="2800" dirty="0">
                          <a:latin typeface="Gill Sans Nova Light" panose="020B0302020104020203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2800" dirty="0">
                          <a:latin typeface="Gill Sans Nova Light" panose="020B0302020104020203" pitchFamily="34" charset="0"/>
                        </a:rPr>
                        <a:t>Gráfico de dispersión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2800" dirty="0">
                          <a:latin typeface="Gill Sans Nova Light" panose="020B0302020104020203" pitchFamily="34" charset="0"/>
                        </a:rPr>
                        <a:t>Gráfico de barras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675422"/>
                  </a:ext>
                </a:extLst>
              </a:tr>
              <a:tr h="1561945">
                <a:tc>
                  <a:txBody>
                    <a:bodyPr/>
                    <a:lstStyle/>
                    <a:p>
                      <a:r>
                        <a:rPr lang="es-ES_tradnl" sz="2800" dirty="0">
                          <a:latin typeface="Gill Sans Nova Light" panose="020B0302020104020203" pitchFamily="34" charset="0"/>
                        </a:rPr>
                        <a:t>No visual (</a:t>
                      </a:r>
                      <a:r>
                        <a:rPr lang="es-ES_tradnl" sz="2800" dirty="0" err="1">
                          <a:latin typeface="Gill Sans Nova Light" panose="020B0302020104020203" pitchFamily="34" charset="0"/>
                        </a:rPr>
                        <a:t>estadísicos</a:t>
                      </a:r>
                      <a:r>
                        <a:rPr lang="es-ES_tradnl" sz="2800" dirty="0">
                          <a:latin typeface="Gill Sans Nova Light" panose="020B0302020104020203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2800" dirty="0">
                          <a:latin typeface="Gill Sans Nova Light" panose="020B0302020104020203" pitchFamily="34" charset="0"/>
                        </a:rPr>
                        <a:t>- Media, mediana, varianza, cuantiles,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2800" dirty="0">
                          <a:latin typeface="Gill Sans Nova Light" panose="020B0302020104020203" pitchFamily="34" charset="0"/>
                        </a:rPr>
                        <a:t>- Coeficientes de correlación parcial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414487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CA7759-2EA9-4817-BC2C-122529E92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62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Breve repaso de los principios de visualización de datos</a:t>
            </a:r>
            <a:endParaRPr lang="es-ES_tradnl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 err="1"/>
              <a:t>Schwabish</a:t>
            </a:r>
            <a:r>
              <a:rPr lang="en-US" sz="2400" dirty="0"/>
              <a:t>, J. A. (2014). An economist's guide to visualizing data</a:t>
            </a:r>
            <a:r>
              <a:rPr lang="en-US" sz="2400" i="1" dirty="0"/>
              <a:t>. Journal of Economic Perspectives</a:t>
            </a:r>
            <a:r>
              <a:rPr lang="en-US" sz="2400" dirty="0"/>
              <a:t>, 28(1), 209-234.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33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D48E6-E2F1-BB1F-86C5-D4CF1A76B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¿Por qué es importante una buena estrategia de visualización de datos?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44AA4-9745-62C2-A4EB-FF9388EB8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AR" sz="2800" dirty="0"/>
              <a:t>Para </a:t>
            </a:r>
            <a:r>
              <a:rPr lang="en-US" sz="2800" dirty="0" err="1"/>
              <a:t>Schwabish</a:t>
            </a:r>
            <a:r>
              <a:rPr lang="en-US" sz="2800" dirty="0"/>
              <a:t>, J. A. (2014),</a:t>
            </a:r>
            <a:r>
              <a:rPr lang="es-AR" sz="2800" dirty="0"/>
              <a:t> una imagen vale </a:t>
            </a:r>
            <a:r>
              <a:rPr lang="es-AR" sz="2800" dirty="0">
                <a:solidFill>
                  <a:srgbClr val="002060"/>
                </a:solidFill>
              </a:rPr>
              <a:t>más</a:t>
            </a:r>
            <a:r>
              <a:rPr lang="es-AR" sz="2800" dirty="0"/>
              <a:t> que mil palabras en la etapa </a:t>
            </a:r>
            <a:r>
              <a:rPr lang="es-AR" sz="2800" dirty="0">
                <a:solidFill>
                  <a:srgbClr val="0070C0"/>
                </a:solidFill>
              </a:rPr>
              <a:t>descriptiva</a:t>
            </a:r>
            <a:r>
              <a:rPr lang="es-AR" sz="2800" dirty="0"/>
              <a:t>.</a:t>
            </a:r>
          </a:p>
          <a:p>
            <a:pPr>
              <a:lnSpc>
                <a:spcPct val="100000"/>
              </a:lnSpc>
            </a:pPr>
            <a:r>
              <a:rPr lang="es-AR" sz="2800" dirty="0"/>
              <a:t>Si queremos diseminar nuestro trabajo, necesitamos crear </a:t>
            </a:r>
            <a:r>
              <a:rPr lang="es-AR" sz="2800" dirty="0">
                <a:solidFill>
                  <a:srgbClr val="002060"/>
                </a:solidFill>
              </a:rPr>
              <a:t>gráficos atrapantes</a:t>
            </a:r>
          </a:p>
          <a:p>
            <a:pPr>
              <a:lnSpc>
                <a:spcPct val="100000"/>
              </a:lnSpc>
            </a:pPr>
            <a:r>
              <a:rPr lang="es-AR" sz="2800" dirty="0"/>
              <a:t>Tres principios básicos:</a:t>
            </a:r>
          </a:p>
          <a:p>
            <a:pPr marL="914400" lvl="1" indent="-457200">
              <a:lnSpc>
                <a:spcPct val="100000"/>
              </a:lnSpc>
              <a:buAutoNum type="arabicPeriod"/>
            </a:pPr>
            <a:r>
              <a:rPr lang="es-AR" sz="2400" dirty="0"/>
              <a:t>Mostrar los datos sirve para </a:t>
            </a:r>
            <a:r>
              <a:rPr lang="es-AR" sz="2400" dirty="0">
                <a:solidFill>
                  <a:srgbClr val="002060"/>
                </a:solidFill>
              </a:rPr>
              <a:t>contar una historia</a:t>
            </a:r>
          </a:p>
          <a:p>
            <a:pPr marL="914400" lvl="1" indent="-457200">
              <a:lnSpc>
                <a:spcPct val="100000"/>
              </a:lnSpc>
              <a:buAutoNum type="arabicPeriod"/>
            </a:pPr>
            <a:r>
              <a:rPr lang="es-AR" sz="2400" dirty="0">
                <a:solidFill>
                  <a:srgbClr val="002060"/>
                </a:solidFill>
              </a:rPr>
              <a:t>Reducir</a:t>
            </a:r>
            <a:r>
              <a:rPr lang="es-AR" sz="2400" dirty="0"/>
              <a:t> elementos distractores</a:t>
            </a:r>
          </a:p>
          <a:p>
            <a:pPr marL="914400" lvl="1" indent="-457200">
              <a:lnSpc>
                <a:spcPct val="100000"/>
              </a:lnSpc>
              <a:buAutoNum type="arabicPeriod"/>
            </a:pPr>
            <a:r>
              <a:rPr lang="es-AR" sz="2400" dirty="0">
                <a:solidFill>
                  <a:srgbClr val="002060"/>
                </a:solidFill>
              </a:rPr>
              <a:t>Integrar</a:t>
            </a:r>
            <a:r>
              <a:rPr lang="es-AR" sz="2400" dirty="0"/>
              <a:t> el </a:t>
            </a:r>
            <a:r>
              <a:rPr lang="es-AR" sz="2400" dirty="0">
                <a:solidFill>
                  <a:srgbClr val="002060"/>
                </a:solidFill>
              </a:rPr>
              <a:t>texto</a:t>
            </a:r>
            <a:r>
              <a:rPr lang="es-AR" sz="2400" dirty="0"/>
              <a:t> y el </a:t>
            </a:r>
            <a:r>
              <a:rPr lang="es-AR" sz="2400" dirty="0">
                <a:solidFill>
                  <a:srgbClr val="002060"/>
                </a:solidFill>
              </a:rPr>
              <a:t>gráfico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3568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9F58E-2AE2-A286-0750-4512C40EF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329066" cy="5645827"/>
          </a:xfrm>
        </p:spPr>
        <p:txBody>
          <a:bodyPr/>
          <a:lstStyle/>
          <a:p>
            <a:r>
              <a:rPr lang="es-ES_tradnl" dirty="0"/>
              <a:t>¡Practicamos de nuevo!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52B5AAB-CD46-18C9-AEF8-D255BE51C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6560" y="148923"/>
            <a:ext cx="4203489" cy="6560153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7A2B22-8EDC-6FEB-EB83-2C803BD2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06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4E03-615A-F548-510B-68585BF75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esta Clase nos enfocamos en Una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7B69467-3729-BDDE-14B0-1C1F60464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Entender la distribución de un variable de interés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_tradnl" b="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de interés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s-ES_tradnl" dirty="0"/>
                  <a:t> distribución de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endParaRPr lang="es-ES_tradnl" dirty="0">
                  <a:solidFill>
                    <a:srgbClr val="002060"/>
                  </a:solidFill>
                </a:endParaRP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Visualizamos con:</a:t>
                </a:r>
              </a:p>
              <a:p>
                <a:pPr lvl="1"/>
                <a:r>
                  <a:rPr lang="es-ES_tradnl" dirty="0"/>
                  <a:t>Histogramas</a:t>
                </a:r>
              </a:p>
              <a:p>
                <a:pPr lvl="1"/>
                <a:r>
                  <a:rPr lang="es-ES_tradnl" dirty="0"/>
                  <a:t>Kernels (?)</a:t>
                </a:r>
              </a:p>
              <a:p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7B69467-3729-BDDE-14B0-1C1F60464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D4D47-DE3D-0C95-A3C8-710BFE55E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27ABA82E-C1D0-AB22-574B-BDFB5B7342C8}"/>
              </a:ext>
            </a:extLst>
          </p:cNvPr>
          <p:cNvSpPr/>
          <p:nvPr/>
        </p:nvSpPr>
        <p:spPr>
          <a:xfrm>
            <a:off x="3726872" y="4375873"/>
            <a:ext cx="249381" cy="902710"/>
          </a:xfrm>
          <a:prstGeom prst="righ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6443C-737F-6FF4-7870-D391B26EB01D}"/>
              </a:ext>
            </a:extLst>
          </p:cNvPr>
          <p:cNvSpPr txBox="1"/>
          <p:nvPr/>
        </p:nvSpPr>
        <p:spPr>
          <a:xfrm>
            <a:off x="4225635" y="4324476"/>
            <a:ext cx="2784764" cy="95410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2800" dirty="0">
                <a:solidFill>
                  <a:srgbClr val="002060"/>
                </a:solidFill>
                <a:latin typeface="Gill Sans Nova Light" panose="020B0302020104020203" pitchFamily="34" charset="0"/>
              </a:rPr>
              <a:t>Métodos No Paramétricos</a:t>
            </a:r>
          </a:p>
        </p:txBody>
      </p:sp>
    </p:spTree>
    <p:extLst>
      <p:ext uri="{BB962C8B-B14F-4D97-AF65-F5344CB8AC3E}">
        <p14:creationId xmlns:p14="http://schemas.microsoft.com/office/powerpoint/2010/main" val="52224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1149C-FD2B-A2EA-5CE3-04E9751A2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¿Para que usamos métodos no paramétricos?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EA0FC-FCB9-11F9-6C1A-2C6B72E10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59283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_tradnl" sz="2400" dirty="0">
                <a:solidFill>
                  <a:srgbClr val="002060"/>
                </a:solidFill>
              </a:rPr>
              <a:t>Visualizar</a:t>
            </a:r>
            <a:r>
              <a:rPr lang="es-ES_tradnl" sz="2400" dirty="0"/>
              <a:t> los datos</a:t>
            </a:r>
          </a:p>
          <a:p>
            <a:pPr>
              <a:lnSpc>
                <a:spcPct val="100000"/>
              </a:lnSpc>
            </a:pPr>
            <a:r>
              <a:rPr lang="es-ES_tradnl" sz="2400" dirty="0"/>
              <a:t>Testear y comparar modelos</a:t>
            </a:r>
          </a:p>
          <a:p>
            <a:pPr>
              <a:lnSpc>
                <a:spcPct val="100000"/>
              </a:lnSpc>
            </a:pPr>
            <a:r>
              <a:rPr lang="es-ES_tradnl" sz="2400" dirty="0"/>
              <a:t>Estimaciones Condicional en las Medias (regresión)</a:t>
            </a:r>
          </a:p>
          <a:p>
            <a:pPr>
              <a:lnSpc>
                <a:spcPct val="100000"/>
              </a:lnSpc>
            </a:pPr>
            <a:endParaRPr lang="es-ES_tradn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4A4FC-9FC3-3390-27D6-0734112A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04B2B43-A54A-6920-A715-9057A80AB354}"/>
              </a:ext>
            </a:extLst>
          </p:cNvPr>
          <p:cNvGraphicFramePr/>
          <p:nvPr/>
        </p:nvGraphicFramePr>
        <p:xfrm>
          <a:off x="838201" y="3283528"/>
          <a:ext cx="9954490" cy="3437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738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Paramétricos vs. No paramétricos: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Distinción</a:t>
            </a:r>
            <a:r>
              <a:rPr lang="es-ES_tradnl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47B10-5A07-445E-D93F-5A3BAA3D5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Lo que conocemos: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Estimación Paramétrica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00B2FA-DBD2-9275-5E2F-BF6ED49D33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Conocemos la forma funcional de una variable aleatoria continua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Ejemplo: Distribución Normal </a:t>
                </a:r>
                <a:endParaRPr lang="es-ES_tradnl" dirty="0">
                  <a:solidFill>
                    <a:srgbClr val="00206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Parámetros: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_tradnl" dirty="0"/>
                  <a:t> 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¿Ejemplos? 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00B2FA-DBD2-9275-5E2F-BF6ED49D33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5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1A74A-50AB-ECD9-F7E7-D668B2A8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28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9C22-4B30-47BE-8AD2-7D0A5A42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Limitaciones: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Modelos Paramétricos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3AA73F-5B8B-C239-2BDF-AA9A697E9F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Impone una estructura de la variable de interés </a:t>
                </a:r>
                <a14:m>
                  <m:oMath xmlns:m="http://schemas.openxmlformats.org/officeDocument/2006/math">
                    <m:r>
                      <a:rPr lang="es-ES_tradnl" b="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en función de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Supuesto: Modelo lineal: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accent2"/>
                    </a:solidFill>
                  </a:rPr>
                  <a:t>Riesgos</a:t>
                </a:r>
                <a:r>
                  <a:rPr lang="es-ES_tradnl" dirty="0"/>
                  <a:t> de una </a:t>
                </a:r>
                <a:r>
                  <a:rPr lang="es-ES_tradnl" dirty="0">
                    <a:solidFill>
                      <a:srgbClr val="002060"/>
                    </a:solidFill>
                  </a:rPr>
                  <a:t>mala especificación</a:t>
                </a:r>
                <a:r>
                  <a:rPr lang="es-ES_tradnl" dirty="0"/>
                  <a:t>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Hacer inferencia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Predecir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Recomendaciones de política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3AA73F-5B8B-C239-2BDF-AA9A697E9F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93A8E-093E-FEB5-BAFA-D4AC7085D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0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FAFF-4C45-E378-7187-C67146163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Modelos No Paramétricos: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</a:t>
            </a:r>
            <a:r>
              <a:rPr lang="es-ES_tradnl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7F507-9472-CF65-C0E4-51B12149A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Remplazamos funciones de densidad y distribuciones </a:t>
            </a:r>
            <a:r>
              <a:rPr lang="es-ES_tradnl" dirty="0">
                <a:solidFill>
                  <a:schemeClr val="accent2"/>
                </a:solidFill>
              </a:rPr>
              <a:t>desconocidas</a:t>
            </a:r>
            <a:r>
              <a:rPr lang="es-ES_tradnl" dirty="0"/>
              <a:t> con </a:t>
            </a:r>
            <a:r>
              <a:rPr lang="es-ES_tradnl" dirty="0">
                <a:solidFill>
                  <a:srgbClr val="002060"/>
                </a:solidFill>
              </a:rPr>
              <a:t>estimadores de densidad no paramétricos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B050"/>
                </a:solidFill>
              </a:rPr>
              <a:t>Ventaja Intuitiva</a:t>
            </a:r>
            <a:r>
              <a:rPr lang="es-ES_tradnl" dirty="0"/>
              <a:t>: Con muchos datos, esto estimadores revelan aspectos de los datos que son </a:t>
            </a:r>
            <a:r>
              <a:rPr lang="es-ES_tradnl" dirty="0">
                <a:solidFill>
                  <a:srgbClr val="002060"/>
                </a:solidFill>
              </a:rPr>
              <a:t>invisibles</a:t>
            </a:r>
            <a:r>
              <a:rPr lang="es-ES_tradnl" dirty="0"/>
              <a:t> a las técnicas paramétricas 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B050"/>
                </a:solidFill>
              </a:rPr>
              <a:t>Ventaja Técnica</a:t>
            </a:r>
            <a:r>
              <a:rPr lang="es-ES_tradnl" dirty="0"/>
              <a:t>: Estimadores</a:t>
            </a:r>
            <a:r>
              <a:rPr lang="es-ES_tradnl" dirty="0">
                <a:solidFill>
                  <a:srgbClr val="002060"/>
                </a:solidFill>
              </a:rPr>
              <a:t> consistentes </a:t>
            </a:r>
            <a:r>
              <a:rPr lang="es-ES_tradnl" dirty="0"/>
              <a:t>bajo supuestos menos restrictivos que los paramétricos</a:t>
            </a:r>
          </a:p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A5529-2227-9A72-9998-C583EEA8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No Paramétricos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/>
              <a:t>Formalmente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92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4BD0-CDCC-DA4B-6AC3-BC0180AE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Objetivo: Conocer la  Distribución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Variable aleatoria </a:t>
                </a:r>
                <a:r>
                  <a:rPr lang="es-ES_tradnl" dirty="0">
                    <a:solidFill>
                      <a:srgbClr val="0070C0"/>
                    </a:solidFill>
                  </a:rPr>
                  <a:t>continua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Estimar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Similar a estimar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Ejemplo</a:t>
                </a:r>
                <a:r>
                  <a:rPr lang="es-ES_tradnl" dirty="0"/>
                  <a:t>: conocer la distribución del ingreso familiar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(¿</a:t>
                </a:r>
                <a:r>
                  <a:rPr lang="es-ES_tradnl" dirty="0">
                    <a:solidFill>
                      <a:srgbClr val="002060"/>
                    </a:solidFill>
                  </a:rPr>
                  <a:t>otros</a:t>
                </a:r>
                <a:r>
                  <a:rPr lang="es-ES_tradnl" dirty="0"/>
                  <a:t>?)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D573-01FB-ED11-81FA-AEF8DB2C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1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52487-2F41-45F2-844D-5C6B98F2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Una distribución teórica conocida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A25BC0F-9D56-19CF-E0E1-47A66358A75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Función de densidad Normal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A25BC0F-9D56-19CF-E0E1-47A66358A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966" b="-166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 descr="A diagram of a function&#10;&#10;Description automatically generated">
            <a:extLst>
              <a:ext uri="{FF2B5EF4-FFF2-40B4-BE49-F238E27FC236}">
                <a16:creationId xmlns:a16="http://schemas.microsoft.com/office/drawing/2014/main" id="{EA99AE2A-9FC7-4360-AC12-9B51CB6556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2973106"/>
            <a:ext cx="5157787" cy="274852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68C0ABAC-67C6-4156-4C13-3770EE54A55D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lang="es-ES_tradnl" dirty="0"/>
                  <a:t>Función acumulada Normal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68C0ABAC-67C6-4156-4C13-3770EE54A5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4"/>
                <a:stretch>
                  <a:fillRect l="-1956" b="-166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Content Placeholder 11" descr="A graph of a function&#10;&#10;Description automatically generated">
            <a:extLst>
              <a:ext uri="{FF2B5EF4-FFF2-40B4-BE49-F238E27FC236}">
                <a16:creationId xmlns:a16="http://schemas.microsoft.com/office/drawing/2014/main" id="{6267248F-36D4-7082-9D15-FEE2FD08DA9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6172200" y="2873321"/>
            <a:ext cx="5183188" cy="294809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DC89A-B02E-5CEC-F11E-9CA156CA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070FBB-BBDF-FF53-2D23-7B500A6701EB}"/>
              </a:ext>
            </a:extLst>
          </p:cNvPr>
          <p:cNvSpPr txBox="1"/>
          <p:nvPr/>
        </p:nvSpPr>
        <p:spPr>
          <a:xfrm>
            <a:off x="923542" y="5942568"/>
            <a:ext cx="10430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Devidson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&amp;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MacKinnon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(2004)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Econometric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theory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and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methods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p8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C445ACF-CCE3-6D90-43B4-EC8431A4B932}"/>
                  </a:ext>
                </a:extLst>
              </p:cNvPr>
              <p:cNvSpPr txBox="1"/>
              <p:nvPr/>
            </p:nvSpPr>
            <p:spPr>
              <a:xfrm>
                <a:off x="4425610" y="3107780"/>
                <a:ext cx="3143929" cy="708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C445ACF-CCE3-6D90-43B4-EC8431A4B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610" y="3107780"/>
                <a:ext cx="3143929" cy="708848"/>
              </a:xfrm>
              <a:prstGeom prst="rect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131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D8B4BD0-CDCC-DA4B-6AC3-BC0180AEDDA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Intuición: </a:t>
                </a: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¿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Cómo estimamos la probabilidad de tirar el dardo en un punto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?</a:t>
                </a:r>
                <a:endParaRPr lang="es-ES_tradnl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D8B4BD0-CDCC-DA4B-6AC3-BC0180AEDD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4286" r="-1206" b="-219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Aproximación</a:t>
                </a:r>
                <a:r>
                  <a:rPr lang="es-ES_tradnl" dirty="0"/>
                  <a:t>: método para estimar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que funciona para cualquier punto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_trad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ES_trad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d>
                            <m:dPr>
                              <m:ctrlPr>
                                <a:rPr lang="es-ES_trad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ES_tradnl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ES_tradnl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s-ES_tradn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b="0" i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b="0" dirty="0"/>
                  <a:t> cuán frecuentes son las realizaciones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b="0" dirty="0"/>
                  <a:t> muy cerca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b="0" dirty="0"/>
                  <a:t>?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956" b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Darts hitting the bullseye of a dartboard&#10;&#10;Description automatically generated">
            <a:extLst>
              <a:ext uri="{FF2B5EF4-FFF2-40B4-BE49-F238E27FC236}">
                <a16:creationId xmlns:a16="http://schemas.microsoft.com/office/drawing/2014/main" id="{F2BD0D5D-76C9-7272-5FB9-A376EF089D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019800" y="2026920"/>
            <a:ext cx="5594728" cy="37055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D573-01FB-ED11-81FA-AEF8DB2C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21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4BD0-CDCC-DA4B-6AC3-BC0180AE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Solución para conocer la Distribución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Variable aleatoria: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En términos generales: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𝑖𝑖𝑑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parámetro no conocido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aproximación no paramétrica sin supuestos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163" b="-3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D573-01FB-ED11-81FA-AEF8DB2C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6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4BD0-CDCC-DA4B-6AC3-BC0180AE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 términos más formales…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b="0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b="0" dirty="0"/>
                  <a:t>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b="0" dirty="0"/>
                  <a:t> cuan frecuentes son las realizaciones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b="0" dirty="0"/>
                  <a:t> muy cerca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b="0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Para una muestra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𝑖𝑖𝑑</m:t>
                    </m:r>
                  </m:oMath>
                </a14:m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lang="es-ES_tradnl" dirty="0"/>
                  <a:t>debería haber relativamente más puntos alrededor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que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D573-01FB-ED11-81FA-AEF8DB2C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5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Histogramas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ES_tradnl" sz="5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Ejemplo, Formula, Intuición</a:t>
            </a:r>
          </a:p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References</a:t>
            </a:r>
          </a:p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Chen, Yen-Chi (2024) “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STAT 425: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Introduction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to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Nonparametric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Statistics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”</a:t>
            </a:r>
          </a:p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Sosa Escudero (2020) “</a:t>
            </a:r>
            <a:r>
              <a:rPr lang="en-US" i="1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Densidad</a:t>
            </a:r>
            <a:r>
              <a:rPr lang="en-US" i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 y </a:t>
            </a:r>
            <a:r>
              <a:rPr lang="en-US" i="1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regresión</a:t>
            </a:r>
            <a:r>
              <a:rPr lang="en-US" i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 no </a:t>
            </a:r>
            <a:r>
              <a:rPr lang="en-US" i="1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paramétrica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”: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46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02624-3227-002C-342E-9C359C013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Ejemplo de Distribución del Salario en Perú</a:t>
            </a:r>
          </a:p>
        </p:txBody>
      </p:sp>
      <p:pic>
        <p:nvPicPr>
          <p:cNvPr id="6" name="Content Placeholder 5" descr="A graph of different levels of labor&#10;&#10;Description automatically generated with medium confidence">
            <a:extLst>
              <a:ext uri="{FF2B5EF4-FFF2-40B4-BE49-F238E27FC236}">
                <a16:creationId xmlns:a16="http://schemas.microsoft.com/office/drawing/2014/main" id="{B8E22593-8880-0786-DB24-8F15216B5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29840" y="1407724"/>
            <a:ext cx="7306408" cy="53137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DB267-6643-85D3-2D59-6473CA39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C492A-001E-DF98-D96A-40D6393DDA04}"/>
              </a:ext>
            </a:extLst>
          </p:cNvPr>
          <p:cNvSpPr txBox="1"/>
          <p:nvPr/>
        </p:nvSpPr>
        <p:spPr>
          <a:xfrm>
            <a:off x="211590" y="4756150"/>
            <a:ext cx="23182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Elaboración propia usando Encuesta Permanente de Empleo (EPE) Perú</a:t>
            </a:r>
          </a:p>
        </p:txBody>
      </p:sp>
    </p:spTree>
    <p:extLst>
      <p:ext uri="{BB962C8B-B14F-4D97-AF65-F5344CB8AC3E}">
        <p14:creationId xmlns:p14="http://schemas.microsoft.com/office/powerpoint/2010/main" val="4099323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4CD0-6CF2-DAA6-EA27-693EC6B2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Histograma: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Objetivo</a:t>
                </a:r>
                <a:r>
                  <a:rPr lang="es-ES_tradnl" dirty="0"/>
                  <a:t>: Estimar función de densidad de probabilidad (PDF)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Supongamos: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distinta de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Derivada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2060"/>
                    </a:solidFill>
                  </a:rPr>
                  <a:t>continua</a:t>
                </a:r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2060"/>
                    </a:solidFill>
                  </a:rPr>
                  <a:t>acotada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2A14A-FAB3-A2DD-D0F8-7F1A47D6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43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4CD0-6CF2-DAA6-EA27-693EC6B2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Histograma: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 II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Histograma</a:t>
                </a:r>
                <a:r>
                  <a:rPr lang="es-ES_tradnl" dirty="0"/>
                  <a:t>: Partición del rango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ES_tradnl" dirty="0"/>
                  <a:t> en varios </a:t>
                </a:r>
                <a:r>
                  <a:rPr lang="es-ES_tradnl" dirty="0">
                    <a:solidFill>
                      <a:srgbClr val="002060"/>
                    </a:solidFill>
                  </a:rPr>
                  <a:t>bins </a:t>
                </a:r>
                <a:r>
                  <a:rPr lang="es-ES_tradnl" dirty="0"/>
                  <a:t>usando la </a:t>
                </a:r>
                <a:r>
                  <a:rPr lang="es-ES_tradnl" dirty="0">
                    <a:solidFill>
                      <a:srgbClr val="002060"/>
                    </a:solidFill>
                  </a:rPr>
                  <a:t>cantidad de observaciones </a:t>
                </a:r>
                <a:r>
                  <a:rPr lang="es-ES_tradnl" dirty="0"/>
                  <a:t>en un bin como la </a:t>
                </a:r>
                <a:r>
                  <a:rPr lang="es-ES_tradnl" dirty="0">
                    <a:solidFill>
                      <a:srgbClr val="002060"/>
                    </a:solidFill>
                  </a:rPr>
                  <a:t>estimación</a:t>
                </a:r>
                <a:r>
                  <a:rPr lang="es-ES_tradnl" dirty="0"/>
                  <a:t> de la </a:t>
                </a:r>
                <a:r>
                  <a:rPr lang="es-ES_tradnl" dirty="0">
                    <a:solidFill>
                      <a:srgbClr val="002060"/>
                    </a:solidFill>
                  </a:rPr>
                  <a:t>densidad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ES_tradnl" dirty="0"/>
                  <a:t> le llamamos </a:t>
                </a:r>
                <a:r>
                  <a:rPr lang="es-ES_tradnl" dirty="0">
                    <a:solidFill>
                      <a:srgbClr val="002060"/>
                    </a:solidFill>
                  </a:rPr>
                  <a:t>soporte</a:t>
                </a:r>
                <a:r>
                  <a:rPr lang="es-ES_tradnl" dirty="0"/>
                  <a:t> de la función de densidad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Supongamos tenemos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_tradnl" dirty="0"/>
                  <a:t> bins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2A14A-FAB3-A2DD-D0F8-7F1A47D6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4CD0-6CF2-DAA6-EA27-693EC6B2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Histograma: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 III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_tradnl" dirty="0"/>
                  <a:t>En este caso, para un punto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s-ES_tradnl" dirty="0"/>
                  <a:t> la estimación de densidad del </a:t>
                </a:r>
                <a:r>
                  <a:rPr lang="es-ES_tradnl" dirty="0">
                    <a:solidFill>
                      <a:srgbClr val="FF0000"/>
                    </a:solidFill>
                  </a:rPr>
                  <a:t>histograma</a:t>
                </a:r>
                <a:r>
                  <a:rPr lang="es-ES_tradnl" dirty="0"/>
                  <a:t> es: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𝑎𝑛𝑐h𝑜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𝑏𝑖𝑛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0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b="-311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2A14A-FAB3-A2DD-D0F8-7F1A47D6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9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4CD0-6CF2-DAA6-EA27-693EC6B2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Histograma: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 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b="0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El histograma le asigna </a:t>
                </a:r>
                <a:r>
                  <a:rPr lang="es-ES_tradnl" dirty="0">
                    <a:solidFill>
                      <a:srgbClr val="002060"/>
                    </a:solidFill>
                  </a:rPr>
                  <a:t>igual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valor</a:t>
                </a:r>
                <a:r>
                  <a:rPr lang="es-ES_tradnl" dirty="0"/>
                  <a:t> de </a:t>
                </a:r>
                <a:r>
                  <a:rPr lang="es-ES_tradnl" dirty="0">
                    <a:solidFill>
                      <a:srgbClr val="002060"/>
                    </a:solidFill>
                  </a:rPr>
                  <a:t>densidad</a:t>
                </a:r>
                <a:r>
                  <a:rPr lang="es-ES_tradnl" dirty="0"/>
                  <a:t> a todos los puntos dentro (</a:t>
                </a:r>
                <a:r>
                  <a:rPr lang="es-ES_tradnl" dirty="0" err="1"/>
                  <a:t>within</a:t>
                </a:r>
                <a:r>
                  <a:rPr lang="es-ES_tradnl" dirty="0"/>
                  <a:t>) de un bin.</a:t>
                </a:r>
              </a:p>
              <a:p>
                <a:pPr>
                  <a:lnSpc>
                    <a:spcPct val="150000"/>
                  </a:lnSpc>
                </a:pPr>
                <a:endParaRPr lang="es-ES_tradnl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316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2A14A-FAB3-A2DD-D0F8-7F1A47D6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50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3DB9-33A4-3693-FFB5-E68FB3A04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Sesgo del Histograma: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 </a:t>
            </a:r>
            <a:endParaRPr lang="es-ES_tradnl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5BE15C7-02DB-5052-567B-97E8B11235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2189912"/>
          <a:ext cx="10515600" cy="1603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82B54-9254-8226-FA87-F6A48B8E3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1FE6B-53FB-D6D8-C07F-1DE21C6040F2}"/>
              </a:ext>
            </a:extLst>
          </p:cNvPr>
          <p:cNvSpPr txBox="1"/>
          <p:nvPr/>
        </p:nvSpPr>
        <p:spPr>
          <a:xfrm>
            <a:off x="1060704" y="4292510"/>
            <a:ext cx="10293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3600" dirty="0">
                <a:latin typeface="Gill Sans Nova Light" panose="020B0302020104020203" pitchFamily="34" charset="0"/>
              </a:rPr>
              <a:t>Más bins, nos da “más resolución” que aproxime mejor la estructura de densidad</a:t>
            </a:r>
          </a:p>
        </p:txBody>
      </p:sp>
    </p:spTree>
    <p:extLst>
      <p:ext uri="{BB962C8B-B14F-4D97-AF65-F5344CB8AC3E}">
        <p14:creationId xmlns:p14="http://schemas.microsoft.com/office/powerpoint/2010/main" val="2076472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336D-F41F-684A-8D44-E3351165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para la Visualización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57538-C70A-C83D-009A-86FB316E6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Probar:</a:t>
            </a:r>
          </a:p>
          <a:p>
            <a:pPr lvl="1"/>
            <a:r>
              <a:rPr lang="es-ES_tradnl" dirty="0"/>
              <a:t>Distintos </a:t>
            </a:r>
            <a:r>
              <a:rPr lang="es-ES_tradnl" dirty="0">
                <a:solidFill>
                  <a:srgbClr val="002060"/>
                </a:solidFill>
              </a:rPr>
              <a:t>anchos de banda </a:t>
            </a:r>
            <a:r>
              <a:rPr lang="es-ES_tradnl" dirty="0"/>
              <a:t>(largos) del histograma</a:t>
            </a:r>
          </a:p>
          <a:p>
            <a:pPr lvl="1"/>
            <a:r>
              <a:rPr lang="es-ES_tradnl" dirty="0"/>
              <a:t>Distintos números de </a:t>
            </a:r>
            <a:r>
              <a:rPr lang="es-ES_tradnl" dirty="0">
                <a:solidFill>
                  <a:srgbClr val="002060"/>
                </a:solidFill>
              </a:rPr>
              <a:t>bins</a:t>
            </a:r>
          </a:p>
          <a:p>
            <a:r>
              <a:rPr lang="es-ES_tradnl" dirty="0"/>
              <a:t>Salarios, Ingresos o Beneficios:</a:t>
            </a:r>
          </a:p>
          <a:p>
            <a:pPr lvl="1"/>
            <a:r>
              <a:rPr lang="es-ES_tradnl" dirty="0"/>
              <a:t>Útil dejar a un </a:t>
            </a:r>
            <a:r>
              <a:rPr lang="es-ES_tradnl" dirty="0">
                <a:solidFill>
                  <a:srgbClr val="002060"/>
                </a:solidFill>
              </a:rPr>
              <a:t>costado </a:t>
            </a:r>
            <a:r>
              <a:rPr lang="es-ES_tradnl" dirty="0">
                <a:solidFill>
                  <a:srgbClr val="FF0000"/>
                </a:solidFill>
              </a:rPr>
              <a:t>valores extremos </a:t>
            </a:r>
          </a:p>
          <a:p>
            <a:pPr lvl="2"/>
            <a:r>
              <a:rPr lang="es-ES_tradnl" dirty="0"/>
              <a:t>Reglas prácticas: 1% o 0.1% o usar reglas de detección de </a:t>
            </a:r>
            <a:r>
              <a:rPr lang="es-ES_tradnl" i="1" dirty="0" err="1"/>
              <a:t>outliers</a:t>
            </a:r>
            <a:r>
              <a:rPr lang="es-ES_tradnl" dirty="0"/>
              <a:t> (tutorial)</a:t>
            </a:r>
          </a:p>
          <a:p>
            <a:r>
              <a:rPr lang="es-ES_tradnl" dirty="0"/>
              <a:t>Sumar líneas verticales de promedios, medianas, o valor de corte (</a:t>
            </a:r>
            <a:r>
              <a:rPr lang="es-ES_tradnl" dirty="0" err="1"/>
              <a:t>cutoffs</a:t>
            </a:r>
            <a:r>
              <a:rPr lang="es-ES_tradnl" dirty="0"/>
              <a:t>)</a:t>
            </a:r>
          </a:p>
          <a:p>
            <a:pPr lvl="1"/>
            <a:endParaRPr lang="es-ES_tradnl" dirty="0"/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06B18-2909-5E22-6EFF-33CF14E3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45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Kernels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Sosa Escudero (2020):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i="1" dirty="0"/>
              <a:t>“</a:t>
            </a:r>
            <a:r>
              <a:rPr lang="en-US" i="1" dirty="0" err="1"/>
              <a:t>Densidad</a:t>
            </a:r>
            <a:r>
              <a:rPr lang="en-US" i="1" dirty="0"/>
              <a:t> y </a:t>
            </a:r>
            <a:r>
              <a:rPr lang="en-US" i="1" dirty="0" err="1"/>
              <a:t>regresion</a:t>
            </a:r>
            <a:r>
              <a:rPr lang="en-US" i="1" dirty="0"/>
              <a:t> no </a:t>
            </a:r>
            <a:r>
              <a:rPr lang="en-US" i="1" dirty="0" err="1"/>
              <a:t>parametrica</a:t>
            </a:r>
            <a:r>
              <a:rPr lang="en-US" i="1" dirty="0"/>
              <a:t>”</a:t>
            </a:r>
          </a:p>
          <a:p>
            <a:r>
              <a:rPr lang="en-US" sz="2600" dirty="0">
                <a:solidFill>
                  <a:srgbClr val="002060"/>
                </a:solidFill>
              </a:rPr>
              <a:t>*</a:t>
            </a:r>
            <a:r>
              <a:rPr lang="en-US" dirty="0"/>
              <a:t> Friedman, J., Hastie, T., &amp; Tibshirani, R. (2001). </a:t>
            </a:r>
            <a:r>
              <a:rPr lang="en-US" i="1" dirty="0"/>
              <a:t>The elements of statistical learning </a:t>
            </a:r>
            <a:r>
              <a:rPr lang="en-US" dirty="0"/>
              <a:t>(Vol. 1). Springer, Berlin: Springer series in statistics. </a:t>
            </a:r>
            <a:r>
              <a:rPr lang="en-US" b="1" dirty="0"/>
              <a:t>Chap. 6.2</a:t>
            </a:r>
            <a:endParaRPr lang="en-US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853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4CD0-6CF2-DAA6-EA27-693EC6B2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Histograma: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Formula e Intuición  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b="0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El histograma le asigna </a:t>
                </a:r>
                <a:r>
                  <a:rPr lang="es-ES_tradnl" dirty="0">
                    <a:solidFill>
                      <a:srgbClr val="002060"/>
                    </a:solidFill>
                  </a:rPr>
                  <a:t>igual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valor</a:t>
                </a:r>
                <a:r>
                  <a:rPr lang="es-ES_tradnl" dirty="0"/>
                  <a:t> de </a:t>
                </a:r>
                <a:r>
                  <a:rPr lang="es-ES_tradnl" dirty="0">
                    <a:solidFill>
                      <a:srgbClr val="002060"/>
                    </a:solidFill>
                  </a:rPr>
                  <a:t>densidad</a:t>
                </a:r>
                <a:r>
                  <a:rPr lang="es-ES_tradnl" dirty="0"/>
                  <a:t> a todos los puntos dentro (</a:t>
                </a:r>
                <a:r>
                  <a:rPr lang="es-ES_tradnl" dirty="0" err="1"/>
                  <a:t>within</a:t>
                </a:r>
                <a:r>
                  <a:rPr lang="es-ES_tradnl" dirty="0"/>
                  <a:t>) de un bin.</a:t>
                </a:r>
              </a:p>
              <a:p>
                <a:pPr>
                  <a:lnSpc>
                    <a:spcPct val="150000"/>
                  </a:lnSpc>
                </a:pPr>
                <a:endParaRPr lang="es-ES_tradnl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316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2A14A-FAB3-A2DD-D0F8-7F1A47D6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98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4BD0-CDCC-DA4B-6AC3-BC0180AE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Kernels: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Formula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función Kernel</a:t>
                </a:r>
                <a:r>
                  <a:rPr lang="es-ES_tradnl" dirty="0"/>
                  <a:t> continua (y generalmente) simétrica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s-ES_tradnl" dirty="0"/>
                  <a:t> ancho de banda (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smoothing bandwidth</a:t>
                </a:r>
                <a:r>
                  <a:rPr lang="es-ES_tradnl" dirty="0"/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Controlamos que tan “</a:t>
                </a:r>
                <a:r>
                  <a:rPr lang="es-ES_tradnl" dirty="0">
                    <a:solidFill>
                      <a:srgbClr val="002060"/>
                    </a:solidFill>
                  </a:rPr>
                  <a:t>suave</a:t>
                </a:r>
                <a:r>
                  <a:rPr lang="es-ES_tradnl" dirty="0"/>
                  <a:t>” es la densidad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91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D573-01FB-ED11-81FA-AEF8DB2C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55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4BD0-CDCC-DA4B-6AC3-BC0180AE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Kernels: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En cada observación se estima una pequeña función de densidad alrededor 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Suma todas las pequeñas funciones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11" t="-2383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function&#10;&#10;Description automatically generated">
            <a:extLst>
              <a:ext uri="{FF2B5EF4-FFF2-40B4-BE49-F238E27FC236}">
                <a16:creationId xmlns:a16="http://schemas.microsoft.com/office/drawing/2014/main" id="{7D5259DC-8C83-EC32-12FE-A04BDEAA5B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72923" y="1825625"/>
            <a:ext cx="4380154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D573-01FB-ED11-81FA-AEF8DB2C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657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4BD0-CDCC-DA4B-6AC3-BC0180AE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Kernels: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Donde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función Kernel</a:t>
                </a:r>
                <a:r>
                  <a:rPr lang="es-ES_tradnl" dirty="0"/>
                  <a:t> tal que:</a:t>
                </a: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s-ES_tradnl" dirty="0"/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s-ES_tradnl" dirty="0"/>
                  <a:t> (simétrico en cero)</a:t>
                </a: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 (integra 1)</a:t>
                </a: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/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i="1" dirty="0"/>
                  <a:t>Intuición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distintas formas funcionales de medir la distancia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:endParaRPr lang="es-ES_tradnl" dirty="0"/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:endParaRPr lang="es-ES_tradnl" dirty="0"/>
              </a:p>
              <a:p>
                <a:pPr>
                  <a:lnSpc>
                    <a:spcPct val="1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0814" b="-12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D573-01FB-ED11-81FA-AEF8DB2C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370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4BD0-CDCC-DA4B-6AC3-BC0180AE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Kernels: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Tipo de función 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Rectangular, uniforme, o </a:t>
                </a:r>
                <a:r>
                  <a:rPr lang="es-ES_tradnl" dirty="0">
                    <a:solidFill>
                      <a:srgbClr val="002060"/>
                    </a:solidFill>
                  </a:rPr>
                  <a:t>histogramas</a:t>
                </a:r>
                <a:r>
                  <a:rPr lang="es-ES_tradnl" dirty="0"/>
                  <a:t>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&amp;    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otherwise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Gaussian o Normal estándar: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453" b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D573-01FB-ED11-81FA-AEF8DB2C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5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4BD0-CDCC-DA4B-6AC3-BC0180AE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Kernels: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Tipo de función II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Epanechnikov (1969): función cuadrática optima de </a:t>
                </a:r>
                <a:r>
                  <a:rPr lang="es-ES_tradnl" dirty="0" err="1"/>
                  <a:t>kernel</a:t>
                </a: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 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  <m:r>
                                <m:rPr>
                                  <m:nor/>
                                </m:rPr>
                                <a:rPr lang="es-ES_tradnl" i="0" dirty="0"/>
                                <m:t> 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48547" b="-9186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D573-01FB-ED11-81FA-AEF8DB2C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549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4BD0-CDCC-DA4B-6AC3-BC0180AE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Kernels: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por tipo de función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D213D-78BA-48CD-5617-F7E577968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D573-01FB-ED11-81FA-AEF8DB2C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  <p:pic>
        <p:nvPicPr>
          <p:cNvPr id="7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19FA4841-9993-692B-AEB8-F382B276B22E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1187558" y="1690688"/>
            <a:ext cx="9682768" cy="407249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44CD11-128B-3E15-4932-39F9649F8A6E}"/>
              </a:ext>
            </a:extLst>
          </p:cNvPr>
          <p:cNvSpPr txBox="1"/>
          <p:nvPr/>
        </p:nvSpPr>
        <p:spPr>
          <a:xfrm>
            <a:off x="923542" y="5942568"/>
            <a:ext cx="5457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Hastie et al (2001)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Elements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of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Statistical learning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, p194</a:t>
            </a:r>
          </a:p>
        </p:txBody>
      </p:sp>
    </p:spTree>
    <p:extLst>
      <p:ext uri="{BB962C8B-B14F-4D97-AF65-F5344CB8AC3E}">
        <p14:creationId xmlns:p14="http://schemas.microsoft.com/office/powerpoint/2010/main" val="42313673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4BD0-CDCC-DA4B-6AC3-BC0180AE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Propiedades del estimador de densidad de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Estimador de Kernel: </a:t>
                </a:r>
                <a:r>
                  <a:rPr lang="es-ES_tradnl" dirty="0">
                    <a:solidFill>
                      <a:srgbClr val="FF0000"/>
                    </a:solidFill>
                  </a:rPr>
                  <a:t>sesgado</a:t>
                </a:r>
                <a:endParaRPr lang="es-ES_tradnl" sz="1200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Trade</a:t>
                </a:r>
                <a:r>
                  <a:rPr lang="es-ES_tradnl" dirty="0">
                    <a:solidFill>
                      <a:srgbClr val="002060"/>
                    </a:solidFill>
                  </a:rPr>
                  <a:t>-off varianza-sesgo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Mayor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bando de ancho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s-ES_tradnl" dirty="0"/>
                  <a:t>, </a:t>
                </a:r>
                <a:r>
                  <a:rPr lang="es-ES_tradnl" dirty="0">
                    <a:solidFill>
                      <a:srgbClr val="FF0000"/>
                    </a:solidFill>
                  </a:rPr>
                  <a:t>menor varianza </a:t>
                </a:r>
                <a:r>
                  <a:rPr lang="es-ES_tradnl" dirty="0"/>
                  <a:t>alrededor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(tenemos más observaciones en la ventana), pero </a:t>
                </a:r>
                <a:r>
                  <a:rPr lang="es-ES_tradnl" dirty="0">
                    <a:solidFill>
                      <a:srgbClr val="FF0000"/>
                    </a:solidFill>
                  </a:rPr>
                  <a:t>mayor sesgo </a:t>
                </a:r>
                <a:r>
                  <a:rPr lang="es-ES_tradnl" dirty="0"/>
                  <a:t>(asumimos función constante en la ventana)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D213D-78BA-48CD-5617-F7E577968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D573-01FB-ED11-81FA-AEF8DB2C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84EABB10-1A01-1A95-020D-DCB7D954CA10}"/>
              </a:ext>
            </a:extLst>
          </p:cNvPr>
          <p:cNvSpPr txBox="1"/>
          <p:nvPr/>
        </p:nvSpPr>
        <p:spPr>
          <a:xfrm>
            <a:off x="6039678" y="2019214"/>
            <a:ext cx="4913244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2800" dirty="0">
                <a:latin typeface="Gill Sans Nova Light" panose="020B0302020104020203" pitchFamily="34" charset="0"/>
              </a:rPr>
              <a:t>Demostración para Histograma</a:t>
            </a:r>
          </a:p>
        </p:txBody>
      </p:sp>
    </p:spTree>
    <p:extLst>
      <p:ext uri="{BB962C8B-B14F-4D97-AF65-F5344CB8AC3E}">
        <p14:creationId xmlns:p14="http://schemas.microsoft.com/office/powerpoint/2010/main" val="312012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Tres Aplicaciones en Economía Laboral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546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72597-D89E-22A1-8D8F-E256B880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Tres artículos explotan la estimación de densidades en el ingreso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CB5A2-D094-3C38-72D3-EF52A37CF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_tradnl" dirty="0" err="1"/>
              <a:t>Cengiz</a:t>
            </a:r>
            <a:r>
              <a:rPr lang="es-ES_tradnl" dirty="0"/>
              <a:t>, </a:t>
            </a:r>
            <a:r>
              <a:rPr lang="es-ES_tradnl" dirty="0" err="1"/>
              <a:t>Dube</a:t>
            </a:r>
            <a:r>
              <a:rPr lang="es-ES_tradnl" dirty="0"/>
              <a:t>, Linder &amp; </a:t>
            </a:r>
            <a:r>
              <a:rPr lang="es-ES_tradnl" dirty="0" err="1"/>
              <a:t>Zipperer</a:t>
            </a:r>
            <a:r>
              <a:rPr lang="es-ES_tradnl" dirty="0"/>
              <a:t> (2021)</a:t>
            </a:r>
          </a:p>
          <a:p>
            <a:pPr marL="457200" lvl="1" indent="0">
              <a:buNone/>
            </a:pPr>
            <a:r>
              <a:rPr lang="es-ES_tradnl" dirty="0"/>
              <a:t>Estiman cambios en el empleo usando </a:t>
            </a:r>
            <a:r>
              <a:rPr lang="es-ES_tradnl" dirty="0" err="1">
                <a:solidFill>
                  <a:srgbClr val="FF0000"/>
                </a:solidFill>
              </a:rPr>
              <a:t>quasi</a:t>
            </a:r>
            <a:r>
              <a:rPr lang="es-ES_tradnl" dirty="0">
                <a:solidFill>
                  <a:srgbClr val="FF0000"/>
                </a:solidFill>
              </a:rPr>
              <a:t>-histogramas</a:t>
            </a:r>
            <a:r>
              <a:rPr lang="es-ES_tradnl" dirty="0"/>
              <a:t> luego de aumentos en el salario mínimo de EEUU</a:t>
            </a:r>
          </a:p>
          <a:p>
            <a:pPr marL="457200" lvl="1" indent="0">
              <a:buNone/>
            </a:pPr>
            <a:endParaRPr lang="es-ES_tradnl" sz="1200" dirty="0"/>
          </a:p>
          <a:p>
            <a:pPr marL="514350" indent="-514350">
              <a:buFont typeface="+mj-lt"/>
              <a:buAutoNum type="arabicPeriod"/>
            </a:pPr>
            <a:r>
              <a:rPr lang="es-ES_tradnl" dirty="0"/>
              <a:t>Jales (2016)</a:t>
            </a:r>
          </a:p>
          <a:p>
            <a:pPr marL="457200" lvl="1" indent="0">
              <a:buNone/>
            </a:pPr>
            <a:r>
              <a:rPr lang="es-ES_tradnl" dirty="0"/>
              <a:t>Estima cambios en el mercado de trabajo usando densidades de </a:t>
            </a:r>
            <a:r>
              <a:rPr lang="es-ES_tradnl" dirty="0">
                <a:solidFill>
                  <a:srgbClr val="FF0000"/>
                </a:solidFill>
              </a:rPr>
              <a:t>Kernels </a:t>
            </a:r>
            <a:r>
              <a:rPr lang="es-ES_tradnl" dirty="0"/>
              <a:t>luego de cambios de salario mínimo en Brasil</a:t>
            </a:r>
          </a:p>
          <a:p>
            <a:pPr marL="0" indent="0">
              <a:buNone/>
            </a:pPr>
            <a:endParaRPr lang="es-ES_tradnl" sz="1200" dirty="0"/>
          </a:p>
          <a:p>
            <a:pPr marL="514350" indent="-514350">
              <a:buFont typeface="+mj-lt"/>
              <a:buAutoNum type="arabicPeriod" startAt="3"/>
            </a:pPr>
            <a:r>
              <a:rPr lang="es-ES_tradnl" dirty="0"/>
              <a:t>Di Nardo, </a:t>
            </a:r>
            <a:r>
              <a:rPr lang="es-ES_tradnl" dirty="0" err="1"/>
              <a:t>Fortin</a:t>
            </a:r>
            <a:r>
              <a:rPr lang="es-ES_tradnl" dirty="0"/>
              <a:t>, &amp; Lemieux (1996)</a:t>
            </a:r>
          </a:p>
          <a:p>
            <a:pPr marL="457200" lvl="1" indent="0">
              <a:buNone/>
            </a:pPr>
            <a:r>
              <a:rPr lang="es-ES_tradnl" dirty="0"/>
              <a:t>Estiman cambios de la desigualdad del ingreso usando </a:t>
            </a:r>
            <a:r>
              <a:rPr lang="es-ES_tradnl" dirty="0">
                <a:solidFill>
                  <a:srgbClr val="FF0000"/>
                </a:solidFill>
              </a:rPr>
              <a:t>Kernels</a:t>
            </a:r>
            <a:r>
              <a:rPr lang="es-ES_tradnl" dirty="0"/>
              <a:t> luego de cambios en la cantidad de empleados sindicalizados en EEUU</a:t>
            </a:r>
          </a:p>
          <a:p>
            <a:pPr lvl="1"/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86B15-D432-B7A6-BA34-EE1035167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015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Aplicación 1: “</a:t>
            </a:r>
            <a:r>
              <a:rPr lang="es-ES_tradnl" dirty="0" err="1"/>
              <a:t>quasi</a:t>
            </a:r>
            <a:r>
              <a:rPr lang="es-ES_tradnl" dirty="0"/>
              <a:t>”-Histogramas en el empleo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Cengiz, D., Dube, A., Lindner, A., &amp; </a:t>
            </a:r>
            <a:r>
              <a:rPr lang="en-US" dirty="0" err="1"/>
              <a:t>Zipperer</a:t>
            </a:r>
            <a:r>
              <a:rPr lang="en-US" dirty="0"/>
              <a:t>, B. (2019). The effect of minimum wages on low-wage jobs. </a:t>
            </a:r>
            <a:r>
              <a:rPr lang="en-US" i="1" dirty="0"/>
              <a:t>The Quarterly Journal of Economics</a:t>
            </a:r>
            <a:r>
              <a:rPr lang="en-US" dirty="0"/>
              <a:t>, 134(3), 1405-1454.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393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E957-B607-11E7-D38B-4DD78C1AA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Contexto del artículo sobre salario mínimo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CDD48-5A0C-6E85-ACDD-F25FA845F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Debate general: ¿Cuál es el impacto de subir el salario mínimo en el empleo?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Desde la política: “</a:t>
            </a:r>
            <a:r>
              <a:rPr lang="es-ES_tradnl" dirty="0">
                <a:solidFill>
                  <a:srgbClr val="002060"/>
                </a:solidFill>
              </a:rPr>
              <a:t>salario justo</a:t>
            </a:r>
            <a:r>
              <a:rPr lang="es-ES_tradnl" dirty="0"/>
              <a:t>” de los trabajadores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Desde Eco 1: predicción de </a:t>
            </a:r>
            <a:r>
              <a:rPr lang="es-ES_tradnl" dirty="0">
                <a:solidFill>
                  <a:srgbClr val="002060"/>
                </a:solidFill>
              </a:rPr>
              <a:t>desempleo</a:t>
            </a:r>
            <a:r>
              <a:rPr lang="es-ES_tradnl" dirty="0"/>
              <a:t> bajo </a:t>
            </a:r>
            <a:r>
              <a:rPr lang="es-ES_tradnl" dirty="0">
                <a:solidFill>
                  <a:srgbClr val="FF0000"/>
                </a:solidFill>
              </a:rPr>
              <a:t>competencia perfecta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En EEUU: </a:t>
            </a:r>
            <a:r>
              <a:rPr lang="es-ES_tradnl" dirty="0">
                <a:solidFill>
                  <a:srgbClr val="002060"/>
                </a:solidFill>
              </a:rPr>
              <a:t>2% de la fuerza laboral </a:t>
            </a:r>
            <a:r>
              <a:rPr lang="es-ES_tradnl" dirty="0"/>
              <a:t>cobra el salario mínimo de 7.25 USD la hora en 2018 (1.7 millones de trabajadores)</a:t>
            </a:r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CE299-E12C-E9E1-41D7-2BABA545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836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E33DF3-3691-4D54-9775-E38290C782D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20680" y="182245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600" dirty="0" err="1"/>
                  <a:t>En</a:t>
                </a:r>
                <a:r>
                  <a:rPr lang="en-US" sz="3600" dirty="0"/>
                  <a:t> </a:t>
                </a:r>
                <a:r>
                  <a:rPr lang="en-US" sz="3600" dirty="0" err="1"/>
                  <a:t>teoria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36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s-AR" sz="3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AR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s-AR" sz="36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s-AR" sz="3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AR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3600" b="0" i="1" smtClean="0">
                        <a:latin typeface="Cambria Math" panose="02040503050406030204" pitchFamily="18" charset="0"/>
                      </a:rPr>
                      <m:t>𝐸𝑚</m:t>
                    </m:r>
                    <m:sSup>
                      <m:sSupPr>
                        <m:ctrlPr>
                          <a:rPr lang="es-AR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s-AR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s-AR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s-AR" sz="36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acc>
                          <m:accPr>
                            <m:chr m:val="̅"/>
                            <m:ctrlPr>
                              <a:rPr lang="es-AR" sz="3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sz="3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acc>
                      </m:e>
                    </m:d>
                    <m:r>
                      <a:rPr lang="es-AR" sz="3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AR" sz="3600" i="1">
                        <a:latin typeface="Cambria Math" panose="02040503050406030204" pitchFamily="18" charset="0"/>
                      </a:rPr>
                      <m:t>𝐸𝑚</m:t>
                    </m:r>
                    <m:sSup>
                      <m:sSupPr>
                        <m:ctrlPr>
                          <a:rPr lang="es-AR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s-AR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s-AR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6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s-AR" sz="36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acc>
                          <m:accPr>
                            <m:chr m:val="̅"/>
                            <m:ctrlPr>
                              <a:rPr lang="es-AR" sz="3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sz="36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acc>
                      </m:e>
                    </m:d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E33DF3-3691-4D54-9775-E38290C782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20680" y="182245"/>
                <a:ext cx="10515600" cy="1325563"/>
              </a:xfrm>
              <a:blipFill>
                <a:blip r:embed="rId2"/>
                <a:stretch>
                  <a:fillRect l="-180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12ABDB8-7F93-44AB-9A12-4876239AEC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845" t="20704" r="28809" b="5302"/>
          <a:stretch/>
        </p:blipFill>
        <p:spPr>
          <a:xfrm>
            <a:off x="2926080" y="1384637"/>
            <a:ext cx="6304801" cy="51082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EEA5F8-8AA1-2D80-F5D2-DEE0529430D4}"/>
              </a:ext>
            </a:extLst>
          </p:cNvPr>
          <p:cNvSpPr txBox="1"/>
          <p:nvPr/>
        </p:nvSpPr>
        <p:spPr>
          <a:xfrm>
            <a:off x="9036424" y="1792941"/>
            <a:ext cx="22998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latin typeface="Gill Sans Nova Light" panose="020B0302020104020203" pitchFamily="34" charset="0"/>
              </a:rPr>
              <a:t>¿</a:t>
            </a:r>
            <a:r>
              <a:rPr lang="es-ES_tradnl" sz="28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Diferencias</a:t>
            </a:r>
            <a:r>
              <a:rPr lang="es-ES_tradnl" sz="2800" dirty="0">
                <a:latin typeface="Gill Sans Nova Light" panose="020B0302020104020203" pitchFamily="34" charset="0"/>
              </a:rPr>
              <a:t> con un Histograma?</a:t>
            </a:r>
          </a:p>
        </p:txBody>
      </p:sp>
    </p:spTree>
    <p:extLst>
      <p:ext uri="{BB962C8B-B14F-4D97-AF65-F5344CB8AC3E}">
        <p14:creationId xmlns:p14="http://schemas.microsoft.com/office/powerpoint/2010/main" val="21185832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30621-BE55-4291-BBA6-09E149EB2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Resultados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E9934-4CE4-422C-958B-A51B0DC7AD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77" t="18856" r="29269" b="5302"/>
          <a:stretch/>
        </p:blipFill>
        <p:spPr>
          <a:xfrm>
            <a:off x="3742006" y="298621"/>
            <a:ext cx="7217205" cy="62607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80FB8D-6218-441A-88E2-40B8352874C0}"/>
                  </a:ext>
                </a:extLst>
              </p:cNvPr>
              <p:cNvSpPr txBox="1"/>
              <p:nvPr/>
            </p:nvSpPr>
            <p:spPr>
              <a:xfrm>
                <a:off x="10594145" y="1690688"/>
                <a:ext cx="7596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1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es-AR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s-AR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80FB8D-6218-441A-88E2-40B835287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4145" y="1690688"/>
                <a:ext cx="75965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8EEEE1-9B22-42F6-BF09-E2968F71ACDE}"/>
                  </a:ext>
                </a:extLst>
              </p:cNvPr>
              <p:cNvSpPr txBox="1"/>
              <p:nvPr/>
            </p:nvSpPr>
            <p:spPr>
              <a:xfrm>
                <a:off x="10577732" y="3429000"/>
                <a:ext cx="7596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es-AR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s-AR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8EEEE1-9B22-42F6-BF09-E2968F71A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7732" y="3429000"/>
                <a:ext cx="75965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5862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7DB2-98E0-334B-A5F0-7B9EB6BF1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concluyen los autores?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BEAB1-1E79-1B51-6FD9-C069D0A69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s-ES_tradnl" dirty="0"/>
              <a:t>Concluyen que el efecto general de cambios en el salario mínimo </a:t>
            </a:r>
            <a:r>
              <a:rPr lang="es-ES_tradnl" dirty="0">
                <a:solidFill>
                  <a:srgbClr val="FF0000"/>
                </a:solidFill>
              </a:rPr>
              <a:t>no tiene ningún efecto </a:t>
            </a:r>
            <a:r>
              <a:rPr lang="es-ES_tradnl" dirty="0"/>
              <a:t>en el </a:t>
            </a:r>
            <a:r>
              <a:rPr lang="es-ES_tradnl" dirty="0">
                <a:solidFill>
                  <a:srgbClr val="002060"/>
                </a:solidFill>
              </a:rPr>
              <a:t>empleo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Incluso cuando se sube </a:t>
            </a:r>
            <a:r>
              <a:rPr lang="es-ES_tradnl" dirty="0">
                <a:solidFill>
                  <a:srgbClr val="002060"/>
                </a:solidFill>
              </a:rPr>
              <a:t>$4 </a:t>
            </a:r>
            <a:r>
              <a:rPr lang="es-ES_tradnl" dirty="0"/>
              <a:t>(salario mínimo federal 7.25)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Limitación: sector transable</a:t>
            </a:r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5CD73-08B7-3A06-D860-8292568C1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400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Aplicación 2: Kernels en la Distribución del Ingreso y Salario Mínimo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Jales, H. (2018). </a:t>
            </a:r>
            <a:r>
              <a:rPr lang="es-ES_tradnl" dirty="0" err="1"/>
              <a:t>Estimating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effects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minimum</a:t>
            </a:r>
            <a:r>
              <a:rPr lang="es-ES_tradnl" dirty="0"/>
              <a:t> </a:t>
            </a:r>
            <a:r>
              <a:rPr lang="es-ES_tradnl" dirty="0" err="1"/>
              <a:t>wage</a:t>
            </a:r>
            <a:r>
              <a:rPr lang="es-ES_tradnl" dirty="0"/>
              <a:t> in a </a:t>
            </a:r>
            <a:r>
              <a:rPr lang="es-ES_tradnl" dirty="0" err="1"/>
              <a:t>developing</a:t>
            </a:r>
            <a:r>
              <a:rPr lang="es-ES_tradnl" dirty="0"/>
              <a:t> country: A </a:t>
            </a:r>
            <a:r>
              <a:rPr lang="es-ES_tradnl" dirty="0" err="1"/>
              <a:t>density</a:t>
            </a:r>
            <a:r>
              <a:rPr lang="es-ES_tradnl" dirty="0"/>
              <a:t> </a:t>
            </a:r>
            <a:r>
              <a:rPr lang="es-ES_tradnl" dirty="0" err="1"/>
              <a:t>discontinuity</a:t>
            </a:r>
            <a:r>
              <a:rPr lang="es-ES_tradnl" dirty="0"/>
              <a:t> </a:t>
            </a:r>
            <a:r>
              <a:rPr lang="es-ES_tradnl" dirty="0" err="1"/>
              <a:t>design</a:t>
            </a:r>
            <a:r>
              <a:rPr lang="es-ES_tradnl" dirty="0"/>
              <a:t> </a:t>
            </a:r>
            <a:r>
              <a:rPr lang="es-ES_tradnl" dirty="0" err="1"/>
              <a:t>approach</a:t>
            </a:r>
            <a:r>
              <a:rPr lang="es-ES_tradnl" dirty="0"/>
              <a:t>. </a:t>
            </a:r>
            <a:r>
              <a:rPr lang="es-ES_tradnl" i="1" dirty="0"/>
              <a:t>Journal </a:t>
            </a:r>
            <a:r>
              <a:rPr lang="es-ES_tradnl" i="1" dirty="0" err="1"/>
              <a:t>of</a:t>
            </a:r>
            <a:r>
              <a:rPr lang="es-ES_tradnl" i="1" dirty="0"/>
              <a:t> </a:t>
            </a:r>
            <a:r>
              <a:rPr lang="es-ES_tradnl" i="1" dirty="0" err="1"/>
              <a:t>Applied</a:t>
            </a:r>
            <a:r>
              <a:rPr lang="es-ES_tradnl" i="1" dirty="0"/>
              <a:t> </a:t>
            </a:r>
            <a:r>
              <a:rPr lang="es-ES_tradnl" i="1" dirty="0" err="1"/>
              <a:t>Econometrics</a:t>
            </a:r>
            <a:r>
              <a:rPr lang="es-ES_tradnl" dirty="0"/>
              <a:t>, 33(1), 29-51.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430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239BF9-4438-7CBD-C3CB-3F48B0AA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Aplicación en Brasil de una idea similar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CCA83A-2B8E-E7B9-BE8D-106F21625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Jales (2018) busca estimar la </a:t>
            </a:r>
            <a:r>
              <a:rPr lang="es-ES_tradnl" dirty="0">
                <a:solidFill>
                  <a:srgbClr val="002060"/>
                </a:solidFill>
              </a:rPr>
              <a:t>distribución conjunta </a:t>
            </a:r>
            <a:r>
              <a:rPr lang="es-ES_tradnl" dirty="0"/>
              <a:t>de: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Distribución del ingreso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Distribución en el sector formal e informal 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Economía dual</a:t>
            </a:r>
            <a:r>
              <a:rPr lang="es-ES_tradnl" dirty="0"/>
              <a:t>: trabajadores deciden en que sector trabajar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C164-576E-999B-5B68-52AAF99D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03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DCC9F-E035-1D57-C489-B46510018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Distribuciones Teóricas </a:t>
            </a:r>
          </a:p>
        </p:txBody>
      </p:sp>
      <p:pic>
        <p:nvPicPr>
          <p:cNvPr id="6" name="Content Placeholder 5" descr="A comparison of a normal distribution&#10;&#10;Description automatically generated">
            <a:extLst>
              <a:ext uri="{FF2B5EF4-FFF2-40B4-BE49-F238E27FC236}">
                <a16:creationId xmlns:a16="http://schemas.microsoft.com/office/drawing/2014/main" id="{DB12C179-57B0-056F-1435-BB6EFF797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9733" y="1420522"/>
            <a:ext cx="10132534" cy="493582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51726-AF9D-40E7-52AE-504D54DC4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246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DCC9F-E035-1D57-C489-B46510018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Distribuciones de Ingreso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51726-AF9D-40E7-52AE-504D54DC4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49</a:t>
            </a:fld>
            <a:endParaRPr lang="en-US"/>
          </a:p>
        </p:txBody>
      </p:sp>
      <p:pic>
        <p:nvPicPr>
          <p:cNvPr id="8" name="Content Placeholder 7" descr="A collection of graphs showing the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B9293382-A5B4-160A-0DC2-F6E00340F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2147" y="1443038"/>
            <a:ext cx="7257627" cy="4985931"/>
          </a:xfrm>
        </p:spPr>
      </p:pic>
    </p:spTree>
    <p:extLst>
      <p:ext uri="{BB962C8B-B14F-4D97-AF65-F5344CB8AC3E}">
        <p14:creationId xmlns:p14="http://schemas.microsoft.com/office/powerpoint/2010/main" val="24041312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9867-C8D3-3033-AC06-DD39AB39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Implicancias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F45C0-13DD-4FC9-2F50-85B64DB51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_tradnl" dirty="0"/>
              <a:t>Muestra la </a:t>
            </a:r>
            <a:r>
              <a:rPr lang="es-ES_tradnl" dirty="0">
                <a:solidFill>
                  <a:srgbClr val="002060"/>
                </a:solidFill>
              </a:rPr>
              <a:t>discontinuidad</a:t>
            </a:r>
            <a:r>
              <a:rPr lang="es-ES_tradnl" dirty="0"/>
              <a:t> en el ingreso en el salario mínimo</a:t>
            </a:r>
          </a:p>
          <a:p>
            <a:pPr lvl="1"/>
            <a:r>
              <a:rPr lang="es-ES_tradnl" dirty="0"/>
              <a:t>Usa dicha discontinuidad para estimar la Probabilidad de no cumplir con el salario mínimo</a:t>
            </a:r>
          </a:p>
          <a:p>
            <a:pPr lvl="2"/>
            <a:r>
              <a:rPr lang="es-ES_tradnl" dirty="0"/>
              <a:t>Estimar probabilidad de pertenecer al sector informal</a:t>
            </a:r>
          </a:p>
          <a:p>
            <a:pPr lvl="1"/>
            <a:r>
              <a:rPr lang="es-ES_tradnl" dirty="0"/>
              <a:t>Estima una distribución latente en “ausencia del salario mínimo”</a:t>
            </a:r>
          </a:p>
          <a:p>
            <a:r>
              <a:rPr lang="es-ES_tradnl" dirty="0"/>
              <a:t>Efectos del salario mínimo en Brasil:</a:t>
            </a:r>
          </a:p>
          <a:p>
            <a:pPr lvl="1"/>
            <a:r>
              <a:rPr lang="es-ES_tradnl" dirty="0">
                <a:solidFill>
                  <a:srgbClr val="FF0000"/>
                </a:solidFill>
              </a:rPr>
              <a:t>Desempleo</a:t>
            </a:r>
            <a:r>
              <a:rPr lang="es-ES_tradnl" dirty="0"/>
              <a:t> significativo</a:t>
            </a:r>
          </a:p>
          <a:p>
            <a:pPr lvl="1"/>
            <a:r>
              <a:rPr lang="es-ES_tradnl" dirty="0">
                <a:solidFill>
                  <a:srgbClr val="00B050"/>
                </a:solidFill>
              </a:rPr>
              <a:t>Aumento</a:t>
            </a:r>
            <a:r>
              <a:rPr lang="es-ES_tradnl" dirty="0"/>
              <a:t> del sector </a:t>
            </a:r>
            <a:r>
              <a:rPr lang="es-ES_tradnl" dirty="0">
                <a:solidFill>
                  <a:srgbClr val="002060"/>
                </a:solidFill>
              </a:rPr>
              <a:t>informal</a:t>
            </a:r>
          </a:p>
          <a:p>
            <a:r>
              <a:rPr lang="es-ES_tradnl" dirty="0"/>
              <a:t>Limitación: no tiene en cuenta la dinámica de las firmas y los trabajadores en conjunto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A019F-51EC-09AA-943B-94A6A5D81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545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Aplicación 3: Kernels en la Distribución del Ingreso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John </a:t>
            </a:r>
            <a:r>
              <a:rPr lang="es-ES_tradnl" dirty="0" err="1"/>
              <a:t>DiNardo</a:t>
            </a:r>
            <a:r>
              <a:rPr lang="es-ES_tradnl" dirty="0"/>
              <a:t>, Nicole M. </a:t>
            </a:r>
            <a:r>
              <a:rPr lang="es-ES_tradnl" dirty="0" err="1"/>
              <a:t>Fortin</a:t>
            </a:r>
            <a:r>
              <a:rPr lang="es-ES_tradnl" dirty="0"/>
              <a:t> and Thomas Lemieux, 1996, “Labor </a:t>
            </a:r>
            <a:r>
              <a:rPr lang="es-ES_tradnl" dirty="0" err="1"/>
              <a:t>Market</a:t>
            </a:r>
            <a:r>
              <a:rPr lang="es-ES_tradnl" dirty="0"/>
              <a:t> </a:t>
            </a:r>
            <a:r>
              <a:rPr lang="es-ES_tradnl" dirty="0" err="1"/>
              <a:t>Institutions</a:t>
            </a:r>
            <a:r>
              <a:rPr lang="es-ES_tradnl" dirty="0"/>
              <a:t> and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Distribution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Wages</a:t>
            </a:r>
            <a:r>
              <a:rPr lang="es-ES_tradnl" dirty="0"/>
              <a:t>, 1973-1992: A </a:t>
            </a:r>
            <a:r>
              <a:rPr lang="es-ES_tradnl" dirty="0" err="1"/>
              <a:t>Semiparametric</a:t>
            </a:r>
            <a:r>
              <a:rPr lang="es-ES_tradnl" dirty="0"/>
              <a:t> </a:t>
            </a:r>
            <a:r>
              <a:rPr lang="es-ES_tradnl" dirty="0" err="1"/>
              <a:t>Approach</a:t>
            </a:r>
            <a:r>
              <a:rPr lang="es-ES_tradnl" dirty="0"/>
              <a:t>,” </a:t>
            </a:r>
            <a:r>
              <a:rPr lang="es-ES_tradnl" i="1" dirty="0" err="1"/>
              <a:t>Econometrica</a:t>
            </a:r>
            <a:r>
              <a:rPr lang="es-ES_tradnl" dirty="0"/>
              <a:t>, </a:t>
            </a:r>
            <a:r>
              <a:rPr lang="es-ES_tradnl" dirty="0" err="1"/>
              <a:t>Volume</a:t>
            </a:r>
            <a:r>
              <a:rPr lang="es-ES_tradnl" dirty="0"/>
              <a:t> 64, </a:t>
            </a:r>
            <a:r>
              <a:rPr lang="es-ES_tradnl" dirty="0" err="1"/>
              <a:t>Number</a:t>
            </a:r>
            <a:r>
              <a:rPr lang="es-ES_tradnl" dirty="0"/>
              <a:t> 5 (</a:t>
            </a:r>
            <a:r>
              <a:rPr lang="es-ES_tradnl" dirty="0" err="1"/>
              <a:t>September</a:t>
            </a:r>
            <a:r>
              <a:rPr lang="es-ES_tradnl" dirty="0"/>
              <a:t>), pp. 1001- 1044.</a:t>
            </a:r>
          </a:p>
          <a:p>
            <a:endParaRPr lang="es-ES_trad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056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5D19-2CCC-AE71-39D0-BC6A055E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Paper seminal en labor económica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A4AF9-B0C4-CAAE-A6EA-8E8C6FB1E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_tradnl" dirty="0"/>
              <a:t>Preguntas clave en labor: ¿cuál es el rol de las </a:t>
            </a:r>
            <a:r>
              <a:rPr lang="es-ES_tradnl" dirty="0">
                <a:solidFill>
                  <a:srgbClr val="002060"/>
                </a:solidFill>
              </a:rPr>
              <a:t>instituciones</a:t>
            </a:r>
            <a:r>
              <a:rPr lang="es-ES_tradnl" dirty="0"/>
              <a:t> y los </a:t>
            </a:r>
            <a:r>
              <a:rPr lang="es-ES_tradnl" dirty="0">
                <a:solidFill>
                  <a:srgbClr val="002060"/>
                </a:solidFill>
              </a:rPr>
              <a:t>mercados laborales </a:t>
            </a:r>
            <a:r>
              <a:rPr lang="es-ES_tradnl" dirty="0"/>
              <a:t>en la distribución del ingreso? </a:t>
            </a:r>
          </a:p>
          <a:p>
            <a:r>
              <a:rPr lang="es-ES_tradnl" dirty="0"/>
              <a:t>Cambios de </a:t>
            </a:r>
            <a:r>
              <a:rPr lang="es-ES_tradnl" dirty="0">
                <a:solidFill>
                  <a:srgbClr val="002060"/>
                </a:solidFill>
              </a:rPr>
              <a:t>regímenes laborales </a:t>
            </a:r>
            <a:r>
              <a:rPr lang="es-ES_tradnl" dirty="0"/>
              <a:t>más estudiados</a:t>
            </a:r>
          </a:p>
          <a:p>
            <a:pPr lvl="1"/>
            <a:r>
              <a:rPr lang="es-ES_tradnl" dirty="0"/>
              <a:t>Salario mínimo</a:t>
            </a:r>
          </a:p>
          <a:p>
            <a:pPr lvl="1"/>
            <a:r>
              <a:rPr lang="es-ES_tradnl" dirty="0"/>
              <a:t>Sindicatos (</a:t>
            </a:r>
            <a:r>
              <a:rPr lang="es-ES_tradnl" dirty="0" err="1"/>
              <a:t>Unions</a:t>
            </a:r>
            <a:r>
              <a:rPr lang="es-ES_tradnl" dirty="0"/>
              <a:t>)</a:t>
            </a:r>
          </a:p>
          <a:p>
            <a:r>
              <a:rPr lang="es-ES_tradnl" dirty="0"/>
              <a:t>Contribución principal </a:t>
            </a:r>
          </a:p>
          <a:p>
            <a:pPr lvl="1"/>
            <a:r>
              <a:rPr lang="es-ES_tradnl" dirty="0"/>
              <a:t>Usar funciones de densidad de </a:t>
            </a:r>
            <a:r>
              <a:rPr lang="es-ES_tradnl" dirty="0" err="1"/>
              <a:t>kernels</a:t>
            </a:r>
            <a:r>
              <a:rPr lang="es-ES_tradnl" dirty="0"/>
              <a:t>, teniendo en cuenta ambos cambios para crear el </a:t>
            </a:r>
            <a:r>
              <a:rPr lang="es-ES_tradnl" dirty="0">
                <a:solidFill>
                  <a:srgbClr val="002060"/>
                </a:solidFill>
              </a:rPr>
              <a:t>contrafactual</a:t>
            </a:r>
            <a:r>
              <a:rPr lang="es-ES_tradnl" dirty="0"/>
              <a:t>: distribución del ingreso en ausencia de cambios en el salario mínimo y aumento de sindicalización. 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019E2-41C7-AB77-6855-6D6A1AA5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7045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DB1C2-D0AF-C435-CB95-7EBB5A6B4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la distribución del ingreso</a:t>
            </a:r>
          </a:p>
        </p:txBody>
      </p:sp>
      <p:pic>
        <p:nvPicPr>
          <p:cNvPr id="8" name="Content Placeholder 7" descr="A graph of the effect of the effect of union&#10;&#10;Description automatically generated">
            <a:extLst>
              <a:ext uri="{FF2B5EF4-FFF2-40B4-BE49-F238E27FC236}">
                <a16:creationId xmlns:a16="http://schemas.microsoft.com/office/drawing/2014/main" id="{FB99465B-9F2D-5360-CED0-5BBCE76F7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224" y="1311124"/>
            <a:ext cx="10209551" cy="512495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22F79-CC8F-5A0E-C17D-3B80B4A6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036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Aplicaciones en Economía del Consumidor/</a:t>
            </a:r>
            <a:r>
              <a:rPr lang="es-ES_tradnl" dirty="0" err="1"/>
              <a:t>Behavioral</a:t>
            </a:r>
            <a:endParaRPr lang="es-ES_trad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061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72597-D89E-22A1-8D8F-E256B880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Dos artículos con un interesante uso de Histogramas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CB5A2-D094-3C38-72D3-EF52A37CF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s-ES_tradnl" sz="1200" dirty="0"/>
          </a:p>
          <a:p>
            <a:pPr marL="514350" indent="-514350"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Lu, Yuan, Wang, &amp; Zhang (2022)</a:t>
            </a:r>
          </a:p>
          <a:p>
            <a:pPr marL="457200" lvl="1" indent="0">
              <a:buNone/>
            </a:pPr>
            <a:r>
              <a:rPr lang="es-ES_tradnl" dirty="0"/>
              <a:t>Muestran como la disposición de </a:t>
            </a:r>
            <a:r>
              <a:rPr lang="es-ES_tradnl" dirty="0">
                <a:solidFill>
                  <a:srgbClr val="FF0000"/>
                </a:solidFill>
              </a:rPr>
              <a:t>histogramas</a:t>
            </a:r>
            <a:r>
              <a:rPr lang="es-ES_tradnl" dirty="0"/>
              <a:t> puede inducir a sesgos en la decisión de los consumidores a elegir violando reglas bien definidas </a:t>
            </a:r>
          </a:p>
          <a:p>
            <a:pPr marL="457200" lvl="1" indent="0">
              <a:buNone/>
            </a:pPr>
            <a:endParaRPr lang="es-ES_tradnl" dirty="0"/>
          </a:p>
          <a:p>
            <a:pPr marL="514350" indent="-514350"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Li &amp; Dorfman (2019)</a:t>
            </a:r>
          </a:p>
          <a:p>
            <a:pPr marL="457200" lvl="1" indent="0">
              <a:buNone/>
            </a:pPr>
            <a:r>
              <a:rPr lang="es-ES_tradnl" dirty="0"/>
              <a:t>Documenta la heterogeneidad en los hábitos de consumo de bebidas en EEUU usando </a:t>
            </a:r>
            <a:r>
              <a:rPr lang="es-ES_tradnl" dirty="0">
                <a:solidFill>
                  <a:srgbClr val="FF0000"/>
                </a:solidFill>
              </a:rPr>
              <a:t>histogramas</a:t>
            </a:r>
            <a:r>
              <a:rPr lang="es-ES_tradnl" dirty="0"/>
              <a:t> y muestran los posibles efectos de impuestos a las bebidas en su consumo según los hábitos.</a:t>
            </a:r>
          </a:p>
          <a:p>
            <a:pPr marL="0" indent="0">
              <a:buNone/>
            </a:pPr>
            <a:endParaRPr lang="es-ES_tradnl" sz="1200" dirty="0"/>
          </a:p>
          <a:p>
            <a:pPr lvl="1"/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86B15-D432-B7A6-BA34-EE1035167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285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Aplicación 1: Histogramas distorsivos entre los productos y decisiones de consumo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Lu, T., Yuan, M., Wang, C., &amp; Zhang, X. (2022). </a:t>
            </a:r>
            <a:r>
              <a:rPr lang="es-ES_tradnl" dirty="0" err="1"/>
              <a:t>Histogram</a:t>
            </a:r>
            <a:r>
              <a:rPr lang="es-ES_tradnl" dirty="0"/>
              <a:t> </a:t>
            </a:r>
            <a:r>
              <a:rPr lang="es-ES_tradnl" dirty="0" err="1"/>
              <a:t>distortion</a:t>
            </a:r>
            <a:r>
              <a:rPr lang="es-ES_tradnl" dirty="0"/>
              <a:t> </a:t>
            </a:r>
            <a:r>
              <a:rPr lang="es-ES_tradnl" dirty="0" err="1"/>
              <a:t>bias</a:t>
            </a:r>
            <a:r>
              <a:rPr lang="es-ES_tradnl" dirty="0"/>
              <a:t> in </a:t>
            </a:r>
            <a:r>
              <a:rPr lang="es-ES_tradnl" dirty="0" err="1"/>
              <a:t>consumer</a:t>
            </a:r>
            <a:r>
              <a:rPr lang="es-ES_tradnl" dirty="0"/>
              <a:t> </a:t>
            </a:r>
            <a:r>
              <a:rPr lang="es-ES_tradnl" dirty="0" err="1"/>
              <a:t>choices</a:t>
            </a:r>
            <a:r>
              <a:rPr lang="es-ES_tradnl" dirty="0"/>
              <a:t>. </a:t>
            </a:r>
            <a:r>
              <a:rPr lang="es-ES_tradnl" i="1" dirty="0"/>
              <a:t>Management </a:t>
            </a:r>
            <a:r>
              <a:rPr lang="es-ES_tradnl" i="1" dirty="0" err="1"/>
              <a:t>Science</a:t>
            </a:r>
            <a:r>
              <a:rPr lang="es-ES_tradnl" dirty="0"/>
              <a:t>, 68(12), 8963-8978.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751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FE1AD-1E7C-293F-C449-52E87099A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s-ES_tradnl" sz="4000"/>
              <a:t>Motivación: Decisiones viendo reviews</a:t>
            </a:r>
          </a:p>
        </p:txBody>
      </p:sp>
      <p:pic>
        <p:nvPicPr>
          <p:cNvPr id="12" name="Content Placeholder 11" descr="A screenshot of a map&#10;&#10;Description automatically generated">
            <a:extLst>
              <a:ext uri="{FF2B5EF4-FFF2-40B4-BE49-F238E27FC236}">
                <a16:creationId xmlns:a16="http://schemas.microsoft.com/office/drawing/2014/main" id="{77751BA8-B437-CA9D-CC59-58A801DB24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4" r="1" b="1"/>
          <a:stretch/>
        </p:blipFill>
        <p:spPr>
          <a:xfrm>
            <a:off x="1" y="10"/>
            <a:ext cx="6936390" cy="6857990"/>
          </a:xfrm>
          <a:prstGeom prst="rect">
            <a:avLst/>
          </a:prstGeo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322C402-8D01-159A-90E2-ACFCF7063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sz="2400" dirty="0"/>
              <a:t>Tomamos muchas decisiones mirando las estrellitas y los </a:t>
            </a:r>
            <a:r>
              <a:rPr lang="es-ES_tradnl" sz="2400" dirty="0" err="1"/>
              <a:t>reviews</a:t>
            </a:r>
            <a:endParaRPr lang="es-ES_tradnl" sz="2400" dirty="0"/>
          </a:p>
          <a:p>
            <a:pPr>
              <a:lnSpc>
                <a:spcPct val="150000"/>
              </a:lnSpc>
            </a:pPr>
            <a:r>
              <a:rPr lang="es-ES_tradnl" sz="2400" dirty="0">
                <a:solidFill>
                  <a:srgbClr val="002060"/>
                </a:solidFill>
              </a:rPr>
              <a:t>Ejemplo</a:t>
            </a:r>
            <a:r>
              <a:rPr lang="es-ES_tradnl" sz="2400" dirty="0"/>
              <a:t>: Google </a:t>
            </a:r>
            <a:r>
              <a:rPr lang="es-ES_tradnl" sz="2400" dirty="0" err="1"/>
              <a:t>Maps</a:t>
            </a:r>
            <a:r>
              <a:rPr lang="es-ES_tradnl" sz="2400" dirty="0"/>
              <a:t> para decidir donde tomar un café en Victoria (grafico izquierda).</a:t>
            </a:r>
          </a:p>
          <a:p>
            <a:pPr>
              <a:lnSpc>
                <a:spcPct val="150000"/>
              </a:lnSpc>
            </a:pPr>
            <a:r>
              <a:rPr lang="es-ES_tradnl" sz="2400" dirty="0">
                <a:solidFill>
                  <a:srgbClr val="002060"/>
                </a:solidFill>
              </a:rPr>
              <a:t>Rápida inspección visual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11A4C-BA0B-4445-D77E-B9844C8B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7832" y="6356350"/>
            <a:ext cx="88596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57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762156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FE1AD-1E7C-293F-C449-52E87099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Rating de películas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3E82BAEA-FC76-0309-B297-33FAA19F97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1910" y="1690688"/>
            <a:ext cx="9417903" cy="46656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11A4C-BA0B-4445-D77E-B9844C8B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58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A0B535-67B6-A951-87DD-5F4623997F16}"/>
              </a:ext>
            </a:extLst>
          </p:cNvPr>
          <p:cNvGrpSpPr/>
          <p:nvPr/>
        </p:nvGrpSpPr>
        <p:grpSpPr>
          <a:xfrm>
            <a:off x="3800186" y="1506486"/>
            <a:ext cx="4306427" cy="4986389"/>
            <a:chOff x="3800186" y="1506486"/>
            <a:chExt cx="4306427" cy="4986389"/>
          </a:xfrm>
        </p:grpSpPr>
        <p:pic>
          <p:nvPicPr>
            <p:cNvPr id="8" name="Picture 7" descr="A person holding a red button&#10;&#10;Description automatically generated">
              <a:extLst>
                <a:ext uri="{FF2B5EF4-FFF2-40B4-BE49-F238E27FC236}">
                  <a16:creationId xmlns:a16="http://schemas.microsoft.com/office/drawing/2014/main" id="{38996FC8-78C6-5800-C907-49BFA0637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0186" y="1506486"/>
              <a:ext cx="4306427" cy="498638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0970F4B-4000-E7CB-7CF2-EE18327418B6}"/>
                </a:ext>
              </a:extLst>
            </p:cNvPr>
            <p:cNvSpPr txBox="1"/>
            <p:nvPr/>
          </p:nvSpPr>
          <p:spPr>
            <a:xfrm rot="20917999">
              <a:off x="4132499" y="2046356"/>
              <a:ext cx="116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Move 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D0C1D3-D1A4-8513-32BB-273D9E2A2824}"/>
                </a:ext>
              </a:extLst>
            </p:cNvPr>
            <p:cNvSpPr txBox="1"/>
            <p:nvPr/>
          </p:nvSpPr>
          <p:spPr>
            <a:xfrm rot="20886532">
              <a:off x="5825369" y="1702180"/>
              <a:ext cx="116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Move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5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D65BF-059B-8741-0B96-5566C4F3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Idea Principal: Decisiones de consumo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F2338-4315-11F2-9510-9A5119B9E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_tradnl" sz="3600" dirty="0"/>
              <a:t>Muchas decisiones de consumo se basan en una </a:t>
            </a:r>
            <a:r>
              <a:rPr lang="es-ES_tradnl" sz="3600" dirty="0">
                <a:solidFill>
                  <a:srgbClr val="002060"/>
                </a:solidFill>
              </a:rPr>
              <a:t>evaluación visual de la distribución </a:t>
            </a:r>
            <a:r>
              <a:rPr lang="es-ES_tradnl" sz="3600" dirty="0"/>
              <a:t>de rating en forma de </a:t>
            </a:r>
            <a:r>
              <a:rPr lang="es-ES_tradnl" sz="3600" dirty="0">
                <a:solidFill>
                  <a:srgbClr val="FF0000"/>
                </a:solidFill>
              </a:rPr>
              <a:t>histogramas</a:t>
            </a:r>
          </a:p>
          <a:p>
            <a:endParaRPr lang="es-ES_tradnl" sz="1400" dirty="0">
              <a:solidFill>
                <a:srgbClr val="FF0000"/>
              </a:solidFill>
            </a:endParaRPr>
          </a:p>
          <a:p>
            <a:r>
              <a:rPr lang="es-ES_tradnl" sz="3600" dirty="0">
                <a:solidFill>
                  <a:srgbClr val="002060"/>
                </a:solidFill>
              </a:rPr>
              <a:t>Argumento principal:</a:t>
            </a:r>
            <a:r>
              <a:rPr lang="es-ES_tradnl" sz="3600" dirty="0"/>
              <a:t> </a:t>
            </a:r>
          </a:p>
          <a:p>
            <a:pPr lvl="1"/>
            <a:r>
              <a:rPr lang="es-ES_tradnl" sz="3200" dirty="0"/>
              <a:t>Sesgos cognitivos de interpretación de gráficos </a:t>
            </a:r>
          </a:p>
          <a:p>
            <a:pPr lvl="2"/>
            <a:r>
              <a:rPr lang="es-ES_tradnl" sz="2800" dirty="0"/>
              <a:t>Las distribuciones de rating pueden inducir a sesgo del consumidor </a:t>
            </a:r>
          </a:p>
          <a:p>
            <a:pPr lvl="3"/>
            <a:r>
              <a:rPr lang="es-ES_tradnl" sz="2400" dirty="0"/>
              <a:t>-&gt; </a:t>
            </a:r>
            <a:r>
              <a:rPr lang="es-ES_tradnl" sz="2400" dirty="0">
                <a:solidFill>
                  <a:srgbClr val="002060"/>
                </a:solidFill>
              </a:rPr>
              <a:t>Sesgo de Distorsión de Histogramas </a:t>
            </a:r>
            <a:r>
              <a:rPr lang="es-ES_tradnl" sz="2400" dirty="0"/>
              <a:t>(HDB)</a:t>
            </a:r>
          </a:p>
          <a:p>
            <a:pPr lvl="3"/>
            <a:r>
              <a:rPr lang="es-ES_tradnl" sz="2400" dirty="0"/>
              <a:t>Barras más largas y sobresalientes son las </a:t>
            </a:r>
            <a:r>
              <a:rPr lang="es-ES_tradnl" sz="2400" dirty="0">
                <a:solidFill>
                  <a:srgbClr val="002060"/>
                </a:solidFill>
              </a:rPr>
              <a:t>primeras</a:t>
            </a:r>
            <a:r>
              <a:rPr lang="es-ES_tradnl" sz="2400" dirty="0"/>
              <a:t> que ayudan en la evaluación rápida de un gráfico.</a:t>
            </a:r>
          </a:p>
          <a:p>
            <a:pPr marL="0" indent="0">
              <a:buNone/>
            </a:pPr>
            <a:endParaRPr lang="es-ES_tradnl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BBEE0-8F1F-D7FB-A977-8FCDCBE49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028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886B-6E83-2CAF-0864-546AFE18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Experimento con posibles ratings</a:t>
            </a:r>
          </a:p>
        </p:txBody>
      </p:sp>
      <p:pic>
        <p:nvPicPr>
          <p:cNvPr id="8" name="Content Placeholder 7" descr="A screenshot of a graph&#10;&#10;Description automatically generated">
            <a:extLst>
              <a:ext uri="{FF2B5EF4-FFF2-40B4-BE49-F238E27FC236}">
                <a16:creationId xmlns:a16="http://schemas.microsoft.com/office/drawing/2014/main" id="{7042F0FB-3938-26F7-B522-E74D0D8070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122" y="1727415"/>
            <a:ext cx="9650704" cy="440575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9374C-69F5-3990-80EE-08A95F60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60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FC8C815-B976-99D0-5512-B2CD0AFE6E5D}"/>
              </a:ext>
            </a:extLst>
          </p:cNvPr>
          <p:cNvSpPr/>
          <p:nvPr/>
        </p:nvSpPr>
        <p:spPr>
          <a:xfrm>
            <a:off x="1115122" y="2383436"/>
            <a:ext cx="4835973" cy="410943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990480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79A00-FCF2-A22C-3DE9-983D95C0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Lecciones de los estudios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D0389-697B-C281-0BE8-85DCEB7C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Los consumidores son sensibles a la forma de las distribuciones</a:t>
            </a:r>
          </a:p>
          <a:p>
            <a:endParaRPr lang="es-ES_tradnl" dirty="0"/>
          </a:p>
          <a:p>
            <a:r>
              <a:rPr lang="es-ES_tradnl" dirty="0"/>
              <a:t>Encuentran individuos que </a:t>
            </a:r>
            <a:r>
              <a:rPr lang="es-ES_tradnl" dirty="0">
                <a:solidFill>
                  <a:srgbClr val="002060"/>
                </a:solidFill>
              </a:rPr>
              <a:t>eligen películas de </a:t>
            </a:r>
            <a:r>
              <a:rPr lang="es-ES_tradnl" dirty="0">
                <a:solidFill>
                  <a:schemeClr val="accent2"/>
                </a:solidFill>
              </a:rPr>
              <a:t>bajo rating </a:t>
            </a:r>
            <a:r>
              <a:rPr lang="es-ES_tradnl" dirty="0"/>
              <a:t>por el </a:t>
            </a:r>
            <a:r>
              <a:rPr lang="es-ES_tradnl" dirty="0">
                <a:solidFill>
                  <a:srgbClr val="FF0000"/>
                </a:solidFill>
              </a:rPr>
              <a:t>alto sesgo </a:t>
            </a:r>
            <a:r>
              <a:rPr lang="es-ES_tradnl" dirty="0"/>
              <a:t>de distorsión de histogramas</a:t>
            </a:r>
          </a:p>
          <a:p>
            <a:pPr lvl="1"/>
            <a:r>
              <a:rPr lang="es-ES_tradnl" dirty="0"/>
              <a:t>Desvíos de la teoría clásica de comportamiento</a:t>
            </a:r>
          </a:p>
          <a:p>
            <a:pPr lvl="1"/>
            <a:endParaRPr lang="es-ES_tradnl" dirty="0"/>
          </a:p>
          <a:p>
            <a:r>
              <a:rPr lang="es-ES_tradnl" dirty="0"/>
              <a:t>Nos advierten de la </a:t>
            </a:r>
            <a:r>
              <a:rPr lang="es-ES_tradnl" dirty="0">
                <a:solidFill>
                  <a:srgbClr val="002060"/>
                </a:solidFill>
              </a:rPr>
              <a:t>importancia de la visualización grafica </a:t>
            </a:r>
            <a:r>
              <a:rPr lang="es-ES_tradnl" dirty="0"/>
              <a:t>de la información en las decisiones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94057-E87E-A715-49EE-561F4F3D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960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7461" y="728664"/>
            <a:ext cx="4984813" cy="3157080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_tradnl" sz="4400" dirty="0"/>
              <a:t>Aplicación 2: Hábitos de consumo de gaseosas y cervezas usando histogramas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7461" y="4072045"/>
            <a:ext cx="4984813" cy="205728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  <a:cs typeface="+mn-cs"/>
              </a:rPr>
              <a:t>Li, W., &amp; Dorfman, J. H. (2019). The implications of heterogeneous habit in consumer beverage purchases on soda and sin taxes.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  <a:cs typeface="+mn-cs"/>
              </a:rPr>
              <a:t>Food Policy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  <a:cs typeface="+mn-cs"/>
              </a:rPr>
              <a:t>, 84, 111-120.</a:t>
            </a:r>
          </a:p>
        </p:txBody>
      </p:sp>
      <p:pic>
        <p:nvPicPr>
          <p:cNvPr id="6" name="Picture 5" descr="A group of people holding beer glasses&#10;&#10;Description automatically generated">
            <a:extLst>
              <a:ext uri="{FF2B5EF4-FFF2-40B4-BE49-F238E27FC236}">
                <a16:creationId xmlns:a16="http://schemas.microsoft.com/office/drawing/2014/main" id="{7796BA86-BAE1-2ABC-1391-A36B67A8F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792" r="1" b="1"/>
          <a:stretch/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908" y="6356350"/>
            <a:ext cx="116689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78C1CC4-2077-434E-BCF1-5D01C08A9B17}" type="slidenum">
              <a:rPr lang="en-US" sz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62</a:t>
            </a:fld>
            <a:endParaRPr lang="en-US" sz="1200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72E3F3-59A2-4C2E-A1D8-5D9D9C19EA18}"/>
              </a:ext>
            </a:extLst>
          </p:cNvPr>
          <p:cNvSpPr txBox="1"/>
          <p:nvPr/>
        </p:nvSpPr>
        <p:spPr>
          <a:xfrm>
            <a:off x="3698471" y="6657945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_tradnl" sz="700">
                <a:solidFill>
                  <a:srgbClr val="FFFFFF"/>
                </a:solidFill>
                <a:hlinkClick r:id="rId4" tooltip="https://commons.wikimedia.org/wiki/File:Cheers_beer.jp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s-ES_tradnl" sz="700">
                <a:solidFill>
                  <a:srgbClr val="FFFFFF"/>
                </a:solidFill>
              </a:rPr>
              <a:t> by Unknown Author is licensed under </a:t>
            </a:r>
            <a:r>
              <a:rPr lang="es-ES_tradnl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s-ES_tradnl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6192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CB9AD-ACCD-10F0-CBA4-6656FC0F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Los consumidores somos distintos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6617D-B070-69B3-8508-F04354BE4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Impuestos específicos a hábitos </a:t>
            </a:r>
            <a:r>
              <a:rPr lang="es-ES_tradnl" dirty="0">
                <a:solidFill>
                  <a:srgbClr val="002060"/>
                </a:solidFill>
              </a:rPr>
              <a:t>no saludables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Ejemplos: cigarrillo, comida chatarra, alcohol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B050"/>
                </a:solidFill>
              </a:rPr>
              <a:t>Economistas</a:t>
            </a:r>
            <a:r>
              <a:rPr lang="es-ES_tradnl" dirty="0"/>
              <a:t>: Estiman la demanda por el producto, la posible recaudación de impuesto y cambios en el bienestar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Supuesto clave</a:t>
            </a:r>
            <a:r>
              <a:rPr lang="es-ES_tradnl" dirty="0"/>
              <a:t>: consumidores son iguales</a:t>
            </a:r>
          </a:p>
          <a:p>
            <a:pPr lvl="2">
              <a:lnSpc>
                <a:spcPct val="150000"/>
              </a:lnSpc>
            </a:pPr>
            <a:r>
              <a:rPr lang="es-ES_tradnl" dirty="0"/>
              <a:t>Preferencias</a:t>
            </a:r>
          </a:p>
          <a:p>
            <a:pPr lvl="2">
              <a:lnSpc>
                <a:spcPct val="150000"/>
              </a:lnSpc>
            </a:pPr>
            <a:r>
              <a:rPr lang="es-ES_tradnl" dirty="0"/>
              <a:t>Respuesta ante cambios en los precios (¿elasticidad?)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843A4-7867-6736-C190-70525F5ED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3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2681-6836-BA97-105A-89E14DD9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Índice de Habito en el Consumo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A1F207-9983-3532-6C44-EE119B02C7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Usan el siguiente índice de hábito de consumo: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s-ES_tradnl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s-ES_tradnl" b="0" i="1" smtClean="0">
                                          <a:latin typeface="Cambria Math" panose="02040503050406030204" pitchFamily="18" charset="0"/>
                                        </a:rPr>
                                        <m:t>𝑖𝑗𝑡</m:t>
                                      </m:r>
                                      <m:r>
                                        <a:rPr lang="es-ES_tradnl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ES_tradnl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_tradnl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𝑖𝑗𝑡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_tradnl" dirty="0"/>
                  <a:t> consumo del producto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_tradnl" dirty="0"/>
                  <a:t> en el trimestre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_tradnl" dirty="0"/>
                  <a:t> en el hogar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s-ES_tradnl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ES_tradnl" dirty="0"/>
                  <a:t> desvió estándar de consumo del producto en los últimos 8 trimestres (2 años)</a:t>
                </a:r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mientras </a:t>
                </a:r>
                <a:r>
                  <a:rPr lang="es-ES_tradnl" dirty="0">
                    <a:solidFill>
                      <a:srgbClr val="00B050"/>
                    </a:solidFill>
                  </a:rPr>
                  <a:t>más alto </a:t>
                </a:r>
                <a:r>
                  <a:rPr lang="es-ES_tradnl" dirty="0"/>
                  <a:t>el índice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:r>
                  <a:rPr lang="es-ES_tradnl" dirty="0">
                    <a:solidFill>
                      <a:srgbClr val="00B050"/>
                    </a:solidFill>
                  </a:rPr>
                  <a:t>más fuerte es el hábito </a:t>
                </a:r>
                <a:r>
                  <a:rPr lang="es-ES_tradnl" dirty="0"/>
                  <a:t>de dicho hogar en consumir ese producto.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A1F207-9983-3532-6C44-EE119B02C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901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DAFA4-5FDA-3D63-6A2B-56F9C892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000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01C6-CA04-1C09-A85F-8BE93041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Distribución de consumo de cerveza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85981-FB85-B817-AD77-CBE2ACCD3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65</a:t>
            </a:fld>
            <a:endParaRPr lang="en-US"/>
          </a:p>
        </p:txBody>
      </p:sp>
      <p:pic>
        <p:nvPicPr>
          <p:cNvPr id="8" name="Content Placeholder 7" descr="A graph of average consumption of beer&#10;&#10;Description automatically generated">
            <a:extLst>
              <a:ext uri="{FF2B5EF4-FFF2-40B4-BE49-F238E27FC236}">
                <a16:creationId xmlns:a16="http://schemas.microsoft.com/office/drawing/2014/main" id="{7B396AF4-D4D8-E908-5CAB-6DE7F22710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3946" y="1327150"/>
            <a:ext cx="9044108" cy="5029200"/>
          </a:xfrm>
        </p:spPr>
      </p:pic>
      <p:sp>
        <p:nvSpPr>
          <p:cNvPr id="3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EA7764FF-4439-0B18-340C-377CB643C507}"/>
              </a:ext>
            </a:extLst>
          </p:cNvPr>
          <p:cNvSpPr txBox="1"/>
          <p:nvPr/>
        </p:nvSpPr>
        <p:spPr>
          <a:xfrm>
            <a:off x="10268262" y="5608779"/>
            <a:ext cx="1510173" cy="5371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2800" dirty="0">
                <a:latin typeface="Gill Sans Nova Light" panose="020B0302020104020203" pitchFamily="34" charset="0"/>
              </a:rPr>
              <a:t>Gaseosas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7D05377-1BB2-4115-380D-0C1F55B7EE1B}"/>
              </a:ext>
            </a:extLst>
          </p:cNvPr>
          <p:cNvSpPr/>
          <p:nvPr/>
        </p:nvSpPr>
        <p:spPr>
          <a:xfrm>
            <a:off x="7000407" y="3552669"/>
            <a:ext cx="3617647" cy="22335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4566F084-AD41-A95F-248F-8BD56C0A289E}"/>
              </a:ext>
            </a:extLst>
          </p:cNvPr>
          <p:cNvSpPr txBox="1"/>
          <p:nvPr/>
        </p:nvSpPr>
        <p:spPr>
          <a:xfrm>
            <a:off x="6780572" y="2946025"/>
            <a:ext cx="405731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28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Consumidores inelásticos</a:t>
            </a:r>
          </a:p>
        </p:txBody>
      </p:sp>
    </p:spTree>
    <p:extLst>
      <p:ext uri="{BB962C8B-B14F-4D97-AF65-F5344CB8AC3E}">
        <p14:creationId xmlns:p14="http://schemas.microsoft.com/office/powerpoint/2010/main" val="94694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524E5-9E29-8688-2FF1-9B17DF913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Lecciones importantes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7455B-2280-627D-2784-16563410B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Al mostrar esta distribución de distintos hábitos de consumo de bebidas, los autores motivan un nuevo enfoque para estimar los </a:t>
            </a:r>
            <a:r>
              <a:rPr lang="es-ES_tradnl" dirty="0">
                <a:solidFill>
                  <a:srgbClr val="002060"/>
                </a:solidFill>
              </a:rPr>
              <a:t>efectos de un impuesto</a:t>
            </a:r>
            <a:r>
              <a:rPr lang="es-ES_tradnl" dirty="0"/>
              <a:t> en el </a:t>
            </a:r>
            <a:r>
              <a:rPr lang="es-ES_tradnl" dirty="0">
                <a:solidFill>
                  <a:srgbClr val="002060"/>
                </a:solidFill>
              </a:rPr>
              <a:t>consumo</a:t>
            </a:r>
            <a:r>
              <a:rPr lang="es-ES_tradnl" dirty="0"/>
              <a:t> y </a:t>
            </a:r>
            <a:r>
              <a:rPr lang="es-ES_tradnl" dirty="0">
                <a:solidFill>
                  <a:srgbClr val="002060"/>
                </a:solidFill>
              </a:rPr>
              <a:t>bienestar</a:t>
            </a:r>
            <a:r>
              <a:rPr lang="es-ES_tradnl" dirty="0"/>
              <a:t>. 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Implicancias</a:t>
            </a:r>
            <a:r>
              <a:rPr lang="es-ES_tradnl" dirty="0"/>
              <a:t>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Gran parte de la recaudación vendrá de </a:t>
            </a:r>
            <a:r>
              <a:rPr lang="es-ES_tradnl" dirty="0">
                <a:solidFill>
                  <a:srgbClr val="002060"/>
                </a:solidFill>
              </a:rPr>
              <a:t>consumidores inelásticos </a:t>
            </a:r>
            <a:r>
              <a:rPr lang="es-ES_tradnl" dirty="0"/>
              <a:t>(consumo fuerte por dicho producto)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Los </a:t>
            </a:r>
            <a:r>
              <a:rPr lang="es-ES_tradnl" dirty="0">
                <a:solidFill>
                  <a:srgbClr val="002060"/>
                </a:solidFill>
              </a:rPr>
              <a:t>consumidores menos “leales” </a:t>
            </a:r>
            <a:r>
              <a:rPr lang="es-ES_tradnl" dirty="0"/>
              <a:t>al producto, dejarán de consumirlo</a:t>
            </a:r>
          </a:p>
          <a:p>
            <a:pPr lvl="2">
              <a:lnSpc>
                <a:spcPct val="150000"/>
              </a:lnSpc>
            </a:pPr>
            <a:r>
              <a:rPr lang="es-ES_tradnl" dirty="0"/>
              <a:t>¿Cambios en los hábitos?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11959-6424-3B92-73BF-923818C3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198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Aplicación en Economía: Kernels en la Distribución del Ingreso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John </a:t>
            </a:r>
            <a:r>
              <a:rPr lang="es-ES_tradnl" dirty="0" err="1"/>
              <a:t>DiNardo</a:t>
            </a:r>
            <a:r>
              <a:rPr lang="es-ES_tradnl" dirty="0"/>
              <a:t>, Nicole M. </a:t>
            </a:r>
            <a:r>
              <a:rPr lang="es-ES_tradnl" dirty="0" err="1"/>
              <a:t>Fortin</a:t>
            </a:r>
            <a:r>
              <a:rPr lang="es-ES_tradnl" dirty="0"/>
              <a:t> and Thomas Lemieux, 1996, “Labor </a:t>
            </a:r>
            <a:r>
              <a:rPr lang="es-ES_tradnl" dirty="0" err="1"/>
              <a:t>Market</a:t>
            </a:r>
            <a:r>
              <a:rPr lang="es-ES_tradnl" dirty="0"/>
              <a:t> </a:t>
            </a:r>
            <a:r>
              <a:rPr lang="es-ES_tradnl" dirty="0" err="1"/>
              <a:t>Institutions</a:t>
            </a:r>
            <a:r>
              <a:rPr lang="es-ES_tradnl" dirty="0"/>
              <a:t> and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Distribution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Wages</a:t>
            </a:r>
            <a:r>
              <a:rPr lang="es-ES_tradnl" dirty="0"/>
              <a:t>, 1973-1992: A </a:t>
            </a:r>
            <a:r>
              <a:rPr lang="es-ES_tradnl" dirty="0" err="1"/>
              <a:t>Semiparametric</a:t>
            </a:r>
            <a:r>
              <a:rPr lang="es-ES_tradnl" dirty="0"/>
              <a:t> </a:t>
            </a:r>
            <a:r>
              <a:rPr lang="es-ES_tradnl" dirty="0" err="1"/>
              <a:t>Approach</a:t>
            </a:r>
            <a:r>
              <a:rPr lang="es-ES_tradnl" dirty="0"/>
              <a:t>,” </a:t>
            </a:r>
            <a:r>
              <a:rPr lang="es-ES_tradnl" i="1" dirty="0" err="1"/>
              <a:t>Econometrica</a:t>
            </a:r>
            <a:r>
              <a:rPr lang="es-ES_tradnl" dirty="0"/>
              <a:t>, </a:t>
            </a:r>
            <a:r>
              <a:rPr lang="es-ES_tradnl" dirty="0" err="1"/>
              <a:t>Volume</a:t>
            </a:r>
            <a:r>
              <a:rPr lang="es-ES_tradnl" dirty="0"/>
              <a:t> 64, </a:t>
            </a:r>
            <a:r>
              <a:rPr lang="es-ES_tradnl" dirty="0" err="1"/>
              <a:t>Number</a:t>
            </a:r>
            <a:r>
              <a:rPr lang="es-ES_tradnl" dirty="0"/>
              <a:t> 5 (</a:t>
            </a:r>
            <a:r>
              <a:rPr lang="es-ES_tradnl" dirty="0" err="1"/>
              <a:t>September</a:t>
            </a:r>
            <a:r>
              <a:rPr lang="es-ES_tradnl" dirty="0"/>
              <a:t>), pp. 1001- 1044.</a:t>
            </a:r>
          </a:p>
          <a:p>
            <a:endParaRPr lang="es-ES_trad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564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5D19-2CCC-AE71-39D0-BC6A055E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Paper seminal en Economía Laboral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A4AF9-B0C4-CAAE-A6EA-8E8C6FB1E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_tradnl" dirty="0">
                <a:solidFill>
                  <a:srgbClr val="002060"/>
                </a:solidFill>
              </a:rPr>
              <a:t>Preguntas clave</a:t>
            </a:r>
            <a:r>
              <a:rPr lang="es-ES_tradnl" dirty="0"/>
              <a:t>: ¿cuál es el rol de las </a:t>
            </a:r>
            <a:r>
              <a:rPr lang="es-ES_tradnl" dirty="0">
                <a:solidFill>
                  <a:srgbClr val="002060"/>
                </a:solidFill>
              </a:rPr>
              <a:t>instituciones</a:t>
            </a:r>
            <a:r>
              <a:rPr lang="es-ES_tradnl" dirty="0"/>
              <a:t> y los </a:t>
            </a:r>
            <a:r>
              <a:rPr lang="es-ES_tradnl" dirty="0">
                <a:solidFill>
                  <a:srgbClr val="002060"/>
                </a:solidFill>
              </a:rPr>
              <a:t>mercados laborales </a:t>
            </a:r>
            <a:r>
              <a:rPr lang="es-ES_tradnl" dirty="0"/>
              <a:t>en la distribución del ingreso? </a:t>
            </a:r>
          </a:p>
          <a:p>
            <a:endParaRPr lang="es-ES_tradnl" sz="1300" dirty="0"/>
          </a:p>
          <a:p>
            <a:r>
              <a:rPr lang="es-ES_tradnl" dirty="0"/>
              <a:t>Cambios de </a:t>
            </a:r>
            <a:r>
              <a:rPr lang="es-ES_tradnl" dirty="0">
                <a:solidFill>
                  <a:srgbClr val="002060"/>
                </a:solidFill>
              </a:rPr>
              <a:t>regímenes laborales </a:t>
            </a:r>
            <a:r>
              <a:rPr lang="es-ES_tradnl" dirty="0"/>
              <a:t>más estudiados:</a:t>
            </a:r>
          </a:p>
          <a:p>
            <a:pPr lvl="1"/>
            <a:r>
              <a:rPr lang="es-ES_tradnl" dirty="0"/>
              <a:t>Salario mínimo</a:t>
            </a:r>
          </a:p>
          <a:p>
            <a:pPr lvl="1"/>
            <a:r>
              <a:rPr lang="es-ES_tradnl" dirty="0"/>
              <a:t>Sindicatos (</a:t>
            </a:r>
            <a:r>
              <a:rPr lang="es-ES_tradnl" i="1" dirty="0" err="1"/>
              <a:t>Unions</a:t>
            </a:r>
            <a:r>
              <a:rPr lang="es-ES_tradnl" dirty="0"/>
              <a:t>)</a:t>
            </a:r>
          </a:p>
          <a:p>
            <a:pPr lvl="1"/>
            <a:endParaRPr lang="es-ES_tradnl" sz="1300" dirty="0"/>
          </a:p>
          <a:p>
            <a:r>
              <a:rPr lang="es-ES_tradnl" dirty="0">
                <a:solidFill>
                  <a:srgbClr val="00B050"/>
                </a:solidFill>
              </a:rPr>
              <a:t>Contribución</a:t>
            </a:r>
            <a:r>
              <a:rPr lang="es-ES_tradnl" dirty="0"/>
              <a:t> principal </a:t>
            </a:r>
          </a:p>
          <a:p>
            <a:pPr lvl="1"/>
            <a:r>
              <a:rPr lang="es-ES_tradnl" dirty="0"/>
              <a:t>Usar funciones de densidad de </a:t>
            </a:r>
            <a:r>
              <a:rPr lang="es-ES_tradnl" dirty="0" err="1">
                <a:solidFill>
                  <a:srgbClr val="FF0000"/>
                </a:solidFill>
              </a:rPr>
              <a:t>kernels</a:t>
            </a:r>
            <a:r>
              <a:rPr lang="es-ES_tradnl" dirty="0"/>
              <a:t>, teniendo en cuenta ambos cambios para crear el </a:t>
            </a:r>
            <a:r>
              <a:rPr lang="es-ES_tradnl" dirty="0">
                <a:solidFill>
                  <a:srgbClr val="002060"/>
                </a:solidFill>
              </a:rPr>
              <a:t>contrafactual</a:t>
            </a:r>
            <a:r>
              <a:rPr lang="es-ES_tradnl" dirty="0"/>
              <a:t>: distribución del ingreso en ausencia de cambios en el salario mínimo y aumento de sindicalización. 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019E2-41C7-AB77-6855-6D6A1AA5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602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DB1C2-D0AF-C435-CB95-7EBB5A6B4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la Distribución del Ingreso</a:t>
            </a:r>
          </a:p>
        </p:txBody>
      </p:sp>
      <p:pic>
        <p:nvPicPr>
          <p:cNvPr id="8" name="Content Placeholder 7" descr="A graph of the effect of the effect of union&#10;&#10;Description automatically generated">
            <a:extLst>
              <a:ext uri="{FF2B5EF4-FFF2-40B4-BE49-F238E27FC236}">
                <a16:creationId xmlns:a16="http://schemas.microsoft.com/office/drawing/2014/main" id="{FB99465B-9F2D-5360-CED0-5BBCE76F7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224" y="1311124"/>
            <a:ext cx="10209551" cy="512495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22F79-CC8F-5A0E-C17D-3B80B4A6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33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Repasamos los principios de visualización de datos y motivamos el foco en una sola variable de interés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Motivación </a:t>
            </a:r>
            <a:r>
              <a:rPr lang="es-ES_tradnl" dirty="0">
                <a:solidFill>
                  <a:srgbClr val="002060"/>
                </a:solidFill>
              </a:rPr>
              <a:t>principal</a:t>
            </a:r>
            <a:r>
              <a:rPr lang="es-ES_tradnl" dirty="0"/>
              <a:t> para usar métodos no paramétricos en Economía: </a:t>
            </a:r>
            <a:r>
              <a:rPr lang="es-ES_tradnl" dirty="0">
                <a:solidFill>
                  <a:srgbClr val="002060"/>
                </a:solidFill>
              </a:rPr>
              <a:t>Distribuciones de Ingreso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Dos métodos </a:t>
            </a:r>
            <a:r>
              <a:rPr lang="es-ES_tradnl" dirty="0"/>
              <a:t>no paramétricos: 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Histogramas</a:t>
            </a:r>
            <a:r>
              <a:rPr lang="es-ES_tradnl" dirty="0"/>
              <a:t>, idea y formalmente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Kernels</a:t>
            </a:r>
            <a:r>
              <a:rPr lang="es-ES_tradnl" dirty="0"/>
              <a:t>: formula, intuición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Discutimos por primera vez del </a:t>
            </a:r>
            <a:r>
              <a:rPr lang="es-ES_tradnl" dirty="0">
                <a:solidFill>
                  <a:srgbClr val="002060"/>
                </a:solidFill>
              </a:rPr>
              <a:t>trade-off varianza-sesgo</a:t>
            </a:r>
            <a:endParaRPr lang="es-ES_tradnl" dirty="0"/>
          </a:p>
          <a:p>
            <a:pPr>
              <a:lnSpc>
                <a:spcPct val="150000"/>
              </a:lnSpc>
            </a:pPr>
            <a:r>
              <a:rPr lang="es-ES_tradnl" dirty="0"/>
              <a:t>Revisamos la relevancia de hacer un buen histograma y </a:t>
            </a:r>
            <a:r>
              <a:rPr lang="es-ES_tradnl" dirty="0" err="1"/>
              <a:t>kernels</a:t>
            </a:r>
            <a:r>
              <a:rPr lang="es-ES_tradnl" dirty="0"/>
              <a:t> con aplicaciones en </a:t>
            </a:r>
            <a:r>
              <a:rPr lang="es-ES_tradnl" dirty="0">
                <a:solidFill>
                  <a:srgbClr val="002060"/>
                </a:solidFill>
              </a:rPr>
              <a:t>Economía Laboral y del Consumidor/</a:t>
            </a:r>
            <a:r>
              <a:rPr lang="es-ES_tradnl" dirty="0" err="1">
                <a:solidFill>
                  <a:srgbClr val="002060"/>
                </a:solidFill>
              </a:rPr>
              <a:t>Behavioral</a:t>
            </a:r>
            <a:endParaRPr lang="es-ES_tradnl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87264-3936-E01F-69E6-755BDAD7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Demostraciones opcionales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DBC37-65BC-D07C-22F6-12C163A79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6AA5B-BB72-FCCC-E30C-19365D0A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832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4CD0-6CF2-DAA6-EA27-693EC6B2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Demostración del Sesgo 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Calculando la Esperanza del Estimador de Densidad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2791" b="-697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2A14A-FAB3-A2DD-D0F8-7F1A47D6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74</a:t>
            </a:fld>
            <a:endParaRPr lang="en-US"/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3ABA12DB-DC03-674C-7B78-FD77DD8C61EE}"/>
              </a:ext>
            </a:extLst>
          </p:cNvPr>
          <p:cNvSpPr txBox="1"/>
          <p:nvPr/>
        </p:nvSpPr>
        <p:spPr>
          <a:xfrm>
            <a:off x="7991061" y="5915353"/>
            <a:ext cx="2743199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2800" dirty="0">
                <a:latin typeface="Gill Sans Nova Light" panose="020B0302020104020203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6578226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4CD0-6CF2-DAA6-EA27-693EC6B2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Demostración del Sesgo II: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Calculando la Esperanza del Estimador de Densidad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FB3B7C-34DE-B6CA-F8B2-0C4B1B6A0F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2A14A-FAB3-A2DD-D0F8-7F1A47D6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AEC2EB-5298-DE95-1FEF-33F19EDCC28E}"/>
                  </a:ext>
                </a:extLst>
              </p:cNvPr>
              <p:cNvSpPr txBox="1"/>
              <p:nvPr/>
            </p:nvSpPr>
            <p:spPr>
              <a:xfrm>
                <a:off x="8258175" y="4245671"/>
                <a:ext cx="3757613" cy="95410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_tradnl" sz="2800" dirty="0">
                    <a:solidFill>
                      <a:srgbClr val="FF0000"/>
                    </a:solidFill>
                    <a:latin typeface="Gill Sans Nova Light" panose="020B0302020104020203" pitchFamily="34" charset="0"/>
                  </a:rPr>
                  <a:t>Teorema del Valor Medio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ES_tradnl" sz="2800" dirty="0">
                  <a:solidFill>
                    <a:srgbClr val="FF0000"/>
                  </a:solidFill>
                  <a:latin typeface="Gill Sans Nova Light" panose="020B0302020104020203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AEC2EB-5298-DE95-1FEF-33F19EDCC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175" y="4245671"/>
                <a:ext cx="3757613" cy="954107"/>
              </a:xfrm>
              <a:prstGeom prst="rect">
                <a:avLst/>
              </a:prstGeom>
              <a:blipFill>
                <a:blip r:embed="rId4"/>
                <a:stretch>
                  <a:fillRect l="-2685" t="-5195" r="-2685" b="-1039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04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8BA0A-F903-1F5F-C97D-F1207BFC5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Demostración del Sesgo III: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Definición de sesgo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496B9-EED3-CB0F-84D5-AFA7F74B2E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ES_tradnl" dirty="0"/>
                  <a:t>Definicion de sesgo de un estimador: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𝑠𝑒𝑠𝑔𝑜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sesgo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_trad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están </a:t>
                </a:r>
                <a:r>
                  <a:rPr lang="es-ES_tradnl" dirty="0">
                    <a:solidFill>
                      <a:srgbClr val="002060"/>
                    </a:solidFill>
                  </a:rPr>
                  <a:t>dentro</a:t>
                </a:r>
                <a:r>
                  <a:rPr lang="es-ES_tradnl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s-ES_tradnl" dirty="0"/>
                  <a:t>, cuyo ancho total es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Por lo tanto: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496B9-EED3-CB0F-84D5-AFA7F74B2E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3198" b="-2122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3338D-84DA-B5AC-CF68-313E382BC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950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3DB9-33A4-3693-FFB5-E68FB3A04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Sesgo del Histograma: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 </a:t>
            </a:r>
            <a:endParaRPr lang="es-ES_tradnl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5BE15C7-02DB-5052-567B-97E8B11235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2189912"/>
          <a:ext cx="10515600" cy="1603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82B54-9254-8226-FA87-F6A48B8E3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1FE6B-53FB-D6D8-C07F-1DE21C6040F2}"/>
              </a:ext>
            </a:extLst>
          </p:cNvPr>
          <p:cNvSpPr txBox="1"/>
          <p:nvPr/>
        </p:nvSpPr>
        <p:spPr>
          <a:xfrm>
            <a:off x="1060704" y="4292510"/>
            <a:ext cx="10293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3600" dirty="0">
                <a:latin typeface="Gill Sans Nova Light" panose="020B0302020104020203" pitchFamily="34" charset="0"/>
              </a:rPr>
              <a:t>Más bins, nos da “más resolución” que aproxime mejor la estructura de densidad</a:t>
            </a:r>
          </a:p>
        </p:txBody>
      </p:sp>
    </p:spTree>
    <p:extLst>
      <p:ext uri="{BB962C8B-B14F-4D97-AF65-F5344CB8AC3E}">
        <p14:creationId xmlns:p14="http://schemas.microsoft.com/office/powerpoint/2010/main" val="334695394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01C6-CA04-1C09-A85F-8BE93041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Distribución de consumo de gaseosas</a:t>
            </a:r>
          </a:p>
        </p:txBody>
      </p:sp>
      <p:pic>
        <p:nvPicPr>
          <p:cNvPr id="6" name="Content Placeholder 5" descr="A graph of a number of people&#10;&#10;Description automatically generated">
            <a:extLst>
              <a:ext uri="{FF2B5EF4-FFF2-40B4-BE49-F238E27FC236}">
                <a16:creationId xmlns:a16="http://schemas.microsoft.com/office/drawing/2014/main" id="{D6AEA320-2F6D-9985-620E-E417F966A0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1991" y="1324692"/>
            <a:ext cx="9088017" cy="503165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85981-FB85-B817-AD77-CBE2ACCD3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78</a:t>
            </a:fld>
            <a:endParaRPr lang="en-US"/>
          </a:p>
        </p:txBody>
      </p:sp>
      <p:sp>
        <p:nvSpPr>
          <p:cNvPr id="3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F9B1BE28-CFBE-8F36-D37E-D042D590BF46}"/>
              </a:ext>
            </a:extLst>
          </p:cNvPr>
          <p:cNvSpPr txBox="1"/>
          <p:nvPr/>
        </p:nvSpPr>
        <p:spPr>
          <a:xfrm>
            <a:off x="10640008" y="5608779"/>
            <a:ext cx="1138427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2800" dirty="0">
                <a:latin typeface="Gill Sans Nova Light" panose="020B0302020104020203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302276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5657</TotalTime>
  <Words>3190</Words>
  <Application>Microsoft Macintosh PowerPoint</Application>
  <PresentationFormat>Panorámica</PresentationFormat>
  <Paragraphs>493</Paragraphs>
  <Slides>78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78</vt:i4>
      </vt:variant>
    </vt:vector>
  </HeadingPairs>
  <TitlesOfParts>
    <vt:vector size="87" baseType="lpstr">
      <vt:lpstr>Arial</vt:lpstr>
      <vt:lpstr>Calibri</vt:lpstr>
      <vt:lpstr>Cambria Math</vt:lpstr>
      <vt:lpstr>Gill Sans Nova Light</vt:lpstr>
      <vt:lpstr>Goudy Old Style</vt:lpstr>
      <vt:lpstr>Lato</vt:lpstr>
      <vt:lpstr>Times</vt:lpstr>
      <vt:lpstr>Times New Roman</vt:lpstr>
      <vt:lpstr>Office Theme</vt:lpstr>
      <vt:lpstr>Visualización II:  Métodos No Paramétricos: Histogramas &amp; Kernels</vt:lpstr>
      <vt:lpstr>En la clase de hoy</vt:lpstr>
      <vt:lpstr>Cuestiones operativas del curso: Próximos Deadlines</vt:lpstr>
      <vt:lpstr>Orden de Temas: Secuencia de Trabajo con Datos</vt:lpstr>
      <vt:lpstr>Motivación: Una primera mirada a los datos</vt:lpstr>
      <vt:lpstr>Estadística Descriptiva y Visualización </vt:lpstr>
      <vt:lpstr>Breve repaso de los principios de visualización de datos</vt:lpstr>
      <vt:lpstr>¿Por qué es importante una buena estrategia de visualización de datos?</vt:lpstr>
      <vt:lpstr>¡Practicamos de nuevo!</vt:lpstr>
      <vt:lpstr>En esta Clase nos enfocamos en Una Variable</vt:lpstr>
      <vt:lpstr>¿Para que usamos métodos no paramétricos?</vt:lpstr>
      <vt:lpstr>Métodos Paramétricos vs. No paramétricos: Distinción </vt:lpstr>
      <vt:lpstr>Lo que conocemos: Estimación Paramétrica</vt:lpstr>
      <vt:lpstr>Limitaciones: Modelos Paramétricos</vt:lpstr>
      <vt:lpstr>Modelos No Paramétricos: Idea </vt:lpstr>
      <vt:lpstr>Métodos No Paramétricos</vt:lpstr>
      <vt:lpstr>Objetivo: Conocer la  Distribución</vt:lpstr>
      <vt:lpstr>Una distribución teórica conocida</vt:lpstr>
      <vt:lpstr>Intuición: ¿Cómo estimamos la probabilidad de tirar el dardo en un punto y_0?</vt:lpstr>
      <vt:lpstr>Solución para conocer la Distribución</vt:lpstr>
      <vt:lpstr>Intuición: En términos más formales…</vt:lpstr>
      <vt:lpstr>Histogramas</vt:lpstr>
      <vt:lpstr>Ejemplo de Distribución del Salario en Perú</vt:lpstr>
      <vt:lpstr>Histograma: Formalmente I</vt:lpstr>
      <vt:lpstr>Histograma: Formalmente II</vt:lpstr>
      <vt:lpstr>Histograma: Formalmente III</vt:lpstr>
      <vt:lpstr>Histograma: Intuición  </vt:lpstr>
      <vt:lpstr>Sesgo del Histograma: Intuición </vt:lpstr>
      <vt:lpstr>Consideraciones para la Visualización</vt:lpstr>
      <vt:lpstr>Kernels</vt:lpstr>
      <vt:lpstr>Histograma: Formula e Intuición   </vt:lpstr>
      <vt:lpstr>Kernels: Formula</vt:lpstr>
      <vt:lpstr>Kernels: Intuición </vt:lpstr>
      <vt:lpstr>Kernels: Formalmente</vt:lpstr>
      <vt:lpstr>Kernels: Tipo de función I</vt:lpstr>
      <vt:lpstr>Kernels: Tipo de función II</vt:lpstr>
      <vt:lpstr>Kernels: Ilustración por tipo de función</vt:lpstr>
      <vt:lpstr>Propiedades del estimador de densidad de Kernel</vt:lpstr>
      <vt:lpstr>Tres Aplicaciones en Economía Laboral </vt:lpstr>
      <vt:lpstr>Tres artículos explotan la estimación de densidades en el ingreso</vt:lpstr>
      <vt:lpstr>Aplicación 1: “quasi”-Histogramas en el empleo</vt:lpstr>
      <vt:lpstr>Contexto del artículo sobre salario mínimo</vt:lpstr>
      <vt:lpstr>En teoria Δb+Δa=Emp^1 [w&lt;W ̅ ]-Emp^0 [w&lt;W ̅ ]</vt:lpstr>
      <vt:lpstr>Resultados</vt:lpstr>
      <vt:lpstr>¿Qué concluyen los autores? </vt:lpstr>
      <vt:lpstr>Aplicación 2: Kernels en la Distribución del Ingreso y Salario Mínimo </vt:lpstr>
      <vt:lpstr>Aplicación en Brasil de una idea similar</vt:lpstr>
      <vt:lpstr>Distribuciones Teóricas </vt:lpstr>
      <vt:lpstr>Distribuciones de Ingreso</vt:lpstr>
      <vt:lpstr>Implicancias</vt:lpstr>
      <vt:lpstr>Aplicación 3: Kernels en la Distribución del Ingreso</vt:lpstr>
      <vt:lpstr>Paper seminal en labor económica</vt:lpstr>
      <vt:lpstr>Ilustración de la distribución del ingreso</vt:lpstr>
      <vt:lpstr>Aplicaciones en Economía del Consumidor/Behavioral</vt:lpstr>
      <vt:lpstr>Dos artículos con un interesante uso de Histogramas</vt:lpstr>
      <vt:lpstr>Aplicación 1: Histogramas distorsivos entre los productos y decisiones de consumo</vt:lpstr>
      <vt:lpstr>Motivación: Decisiones viendo reviews</vt:lpstr>
      <vt:lpstr>Motivación: Rating de películas</vt:lpstr>
      <vt:lpstr>Idea Principal: Decisiones de consumo</vt:lpstr>
      <vt:lpstr>Experimento con posibles ratings</vt:lpstr>
      <vt:lpstr>Lecciones de los estudios</vt:lpstr>
      <vt:lpstr>Aplicación 2: Hábitos de consumo de gaseosas y cervezas usando histogramas</vt:lpstr>
      <vt:lpstr>Motivación: Los consumidores somos distintos</vt:lpstr>
      <vt:lpstr>Índice de Habito en el Consumo</vt:lpstr>
      <vt:lpstr>Distribución de consumo de cerveza</vt:lpstr>
      <vt:lpstr>Lecciones importantes</vt:lpstr>
      <vt:lpstr>Aplicación en Economía: Kernels en la Distribución del Ingreso</vt:lpstr>
      <vt:lpstr>Paper seminal en Economía Laboral</vt:lpstr>
      <vt:lpstr>Ilustración de la Distribución del Ingreso</vt:lpstr>
      <vt:lpstr>Conclusiones finales</vt:lpstr>
      <vt:lpstr>¿Qué aprendimos hoy?</vt:lpstr>
      <vt:lpstr>¿Dudas, consultas?</vt:lpstr>
      <vt:lpstr>Demostraciones opcionales</vt:lpstr>
      <vt:lpstr>Demostración del Sesgo I: Calculando la Esperanza del Estimador de Densidad </vt:lpstr>
      <vt:lpstr>Demostración del Sesgo II: Calculando la Esperanza del Estimador de Densidad </vt:lpstr>
      <vt:lpstr>Demostración del Sesgo III: Definición de sesgo</vt:lpstr>
      <vt:lpstr>Sesgo del Histograma: Intuición </vt:lpstr>
      <vt:lpstr>Distribución de consumo de gaseosas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María Noelia Romero</cp:lastModifiedBy>
  <cp:revision>370</cp:revision>
  <dcterms:created xsi:type="dcterms:W3CDTF">2023-06-12T20:51:31Z</dcterms:created>
  <dcterms:modified xsi:type="dcterms:W3CDTF">2026-07-13T21:08:56Z</dcterms:modified>
</cp:coreProperties>
</file>