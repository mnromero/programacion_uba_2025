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423" r:id="rId2"/>
    <p:sldId id="275" r:id="rId3"/>
    <p:sldId id="479" r:id="rId4"/>
    <p:sldId id="491" r:id="rId5"/>
    <p:sldId id="480" r:id="rId6"/>
    <p:sldId id="353" r:id="rId7"/>
    <p:sldId id="484" r:id="rId8"/>
    <p:sldId id="269" r:id="rId9"/>
    <p:sldId id="355" r:id="rId10"/>
    <p:sldId id="356" r:id="rId11"/>
    <p:sldId id="357" r:id="rId12"/>
    <p:sldId id="485" r:id="rId13"/>
    <p:sldId id="351" r:id="rId14"/>
    <p:sldId id="260" r:id="rId15"/>
    <p:sldId id="266" r:id="rId16"/>
    <p:sldId id="270" r:id="rId17"/>
    <p:sldId id="272" r:id="rId18"/>
    <p:sldId id="271" r:id="rId19"/>
    <p:sldId id="273" r:id="rId20"/>
    <p:sldId id="352" r:id="rId21"/>
    <p:sldId id="474" r:id="rId22"/>
    <p:sldId id="476" r:id="rId23"/>
    <p:sldId id="365" r:id="rId24"/>
    <p:sldId id="486" r:id="rId25"/>
    <p:sldId id="487" r:id="rId26"/>
    <p:sldId id="488" r:id="rId27"/>
    <p:sldId id="489" r:id="rId28"/>
    <p:sldId id="418" r:id="rId29"/>
    <p:sldId id="419" r:id="rId30"/>
    <p:sldId id="469" r:id="rId31"/>
    <p:sldId id="470" r:id="rId32"/>
    <p:sldId id="471" r:id="rId33"/>
    <p:sldId id="425" r:id="rId34"/>
    <p:sldId id="412" r:id="rId35"/>
    <p:sldId id="413" r:id="rId36"/>
    <p:sldId id="415" r:id="rId37"/>
    <p:sldId id="433" r:id="rId38"/>
    <p:sldId id="434" r:id="rId39"/>
    <p:sldId id="429" r:id="rId40"/>
    <p:sldId id="435" r:id="rId41"/>
    <p:sldId id="321" r:id="rId42"/>
    <p:sldId id="346" r:id="rId43"/>
    <p:sldId id="261" r:id="rId44"/>
    <p:sldId id="436" r:id="rId45"/>
    <p:sldId id="492" r:id="rId46"/>
    <p:sldId id="350" r:id="rId47"/>
    <p:sldId id="493" r:id="rId48"/>
    <p:sldId id="437" r:id="rId49"/>
    <p:sldId id="494" r:id="rId50"/>
    <p:sldId id="370" r:id="rId51"/>
    <p:sldId id="495" r:id="rId52"/>
    <p:sldId id="380" r:id="rId53"/>
    <p:sldId id="381" r:id="rId54"/>
    <p:sldId id="438" r:id="rId55"/>
    <p:sldId id="361" r:id="rId56"/>
    <p:sldId id="337" r:id="rId57"/>
    <p:sldId id="490" r:id="rId58"/>
    <p:sldId id="472" r:id="rId59"/>
    <p:sldId id="496" r:id="rId60"/>
    <p:sldId id="444" r:id="rId61"/>
    <p:sldId id="475" r:id="rId62"/>
    <p:sldId id="362" r:id="rId63"/>
    <p:sldId id="414" r:id="rId64"/>
    <p:sldId id="363" r:id="rId65"/>
    <p:sldId id="364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275"/>
          </p14:sldIdLst>
        </p14:section>
        <p14:section name="Metodos de Regularización" id="{E88B167C-240A-0549-97F6-55B4EA87ED19}">
          <p14:sldIdLst>
            <p14:sldId id="479"/>
            <p14:sldId id="491"/>
            <p14:sldId id="480"/>
          </p14:sldIdLst>
        </p14:section>
        <p14:section name="Ridge" id="{09EC6EB6-84D5-B645-95B0-97EE1B61C1A6}">
          <p14:sldIdLst>
            <p14:sldId id="353"/>
            <p14:sldId id="484"/>
            <p14:sldId id="269"/>
            <p14:sldId id="355"/>
            <p14:sldId id="356"/>
            <p14:sldId id="357"/>
            <p14:sldId id="485"/>
          </p14:sldIdLst>
        </p14:section>
        <p14:section name="LASSO" id="{75D31724-3B6C-E842-978D-4FEEBABBFA4D}">
          <p14:sldIdLst>
            <p14:sldId id="351"/>
            <p14:sldId id="260"/>
            <p14:sldId id="266"/>
            <p14:sldId id="270"/>
            <p14:sldId id="272"/>
            <p14:sldId id="271"/>
            <p14:sldId id="273"/>
            <p14:sldId id="352"/>
            <p14:sldId id="474"/>
            <p14:sldId id="476"/>
          </p14:sldIdLst>
        </p14:section>
        <p14:section name="Elastic Net" id="{695A93C9-D55B-3F41-BED1-F70892F53DE0}">
          <p14:sldIdLst>
            <p14:sldId id="365"/>
            <p14:sldId id="486"/>
            <p14:sldId id="487"/>
            <p14:sldId id="488"/>
          </p14:sldIdLst>
        </p14:section>
        <p14:section name="Cross-validation para elegir parametro de penalidad" id="{51DE51B1-C3AB-6D43-9F6E-017755FCB704}">
          <p14:sldIdLst>
            <p14:sldId id="489"/>
            <p14:sldId id="418"/>
            <p14:sldId id="419"/>
          </p14:sldIdLst>
        </p14:section>
        <p14:section name="Comparacion de Modelos" id="{ACB54C49-81E3-6241-B182-58B8CCA1881C}">
          <p14:sldIdLst>
            <p14:sldId id="469"/>
            <p14:sldId id="470"/>
            <p14:sldId id="471"/>
            <p14:sldId id="425"/>
            <p14:sldId id="412"/>
            <p14:sldId id="413"/>
            <p14:sldId id="415"/>
          </p14:sldIdLst>
        </p14:section>
        <p14:section name="Motivacion de uso de LASSO en Economia Aplicada" id="{262539A9-F58C-1E48-99D5-5DB443030ADD}">
          <p14:sldIdLst>
            <p14:sldId id="433"/>
            <p14:sldId id="434"/>
            <p14:sldId id="429"/>
            <p14:sldId id="435"/>
            <p14:sldId id="321"/>
          </p14:sldIdLst>
        </p14:section>
        <p14:section name="Paper Wüthrich y Zhu (2023)" id="{5623DDE8-0602-0D4F-AFA1-3B05F3F0BCCE}">
          <p14:sldIdLst>
            <p14:sldId id="346"/>
            <p14:sldId id="261"/>
            <p14:sldId id="436"/>
            <p14:sldId id="492"/>
            <p14:sldId id="350"/>
            <p14:sldId id="493"/>
            <p14:sldId id="437"/>
            <p14:sldId id="494"/>
            <p14:sldId id="370"/>
            <p14:sldId id="495"/>
          </p14:sldIdLst>
        </p14:section>
        <p14:section name="Implicancias en la Practica" id="{2A8F00C1-A656-6B47-8F58-4626AEBA6AE1}">
          <p14:sldIdLst>
            <p14:sldId id="380"/>
            <p14:sldId id="381"/>
            <p14:sldId id="438"/>
            <p14:sldId id="361"/>
          </p14:sldIdLst>
        </p14:section>
        <p14:section name="Conclusiones finales" id="{30AE4762-25DE-C74D-AF95-4AEC0CC37FB0}">
          <p14:sldIdLst>
            <p14:sldId id="337"/>
            <p14:sldId id="490"/>
            <p14:sldId id="472"/>
            <p14:sldId id="496"/>
            <p14:sldId id="444"/>
          </p14:sldIdLst>
        </p14:section>
        <p14:section name="Caso particular n&lt;=p" id="{DE2C1E0D-ED22-D24B-AD93-E2812707BE82}">
          <p14:sldIdLst>
            <p14:sldId id="475"/>
            <p14:sldId id="362"/>
            <p14:sldId id="414"/>
            <p14:sldId id="363"/>
            <p14:sldId id="3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70"/>
    <p:restoredTop sz="86578"/>
  </p:normalViewPr>
  <p:slideViewPr>
    <p:cSldViewPr snapToGrid="0">
      <p:cViewPr varScale="1">
        <p:scale>
          <a:sx n="90" d="100"/>
          <a:sy n="90" d="100"/>
        </p:scale>
        <p:origin x="1064" y="184"/>
      </p:cViewPr>
      <p:guideLst/>
    </p:cSldViewPr>
  </p:slideViewPr>
  <p:outlineViewPr>
    <p:cViewPr>
      <p:scale>
        <a:sx n="33" d="100"/>
        <a:sy n="33" d="100"/>
      </p:scale>
      <p:origin x="0" y="-402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delSld modSld modSection">
      <pc:chgData name="María Noelia Romero" userId="2133f5768dfc5791" providerId="LiveId" clId="{0168CA65-A813-5033-94B8-EF4605FC29D1}" dt="2026-08-24T18:12:21.995" v="2" actId="2696"/>
      <pc:docMkLst>
        <pc:docMk/>
      </pc:docMkLst>
      <pc:sldChg chg="del">
        <pc:chgData name="María Noelia Romero" userId="2133f5768dfc5791" providerId="LiveId" clId="{0168CA65-A813-5033-94B8-EF4605FC29D1}" dt="2026-08-24T18:12:21.995" v="2" actId="2696"/>
        <pc:sldMkLst>
          <pc:docMk/>
          <pc:sldMk cId="1383536908" sldId="326"/>
        </pc:sldMkLst>
      </pc:sldChg>
      <pc:sldChg chg="modSp mod">
        <pc:chgData name="María Noelia Romero" userId="2133f5768dfc5791" providerId="LiveId" clId="{0168CA65-A813-5033-94B8-EF4605FC29D1}" dt="2026-08-24T18:12:17.820" v="1" actId="20577"/>
        <pc:sldMkLst>
          <pc:docMk/>
          <pc:sldMk cId="3979653562" sldId="423"/>
        </pc:sldMkLst>
        <pc:spChg chg="mod">
          <ac:chgData name="María Noelia Romero" userId="2133f5768dfc5791" providerId="LiveId" clId="{0168CA65-A813-5033-94B8-EF4605FC29D1}" dt="2026-08-24T18:12:17.820" v="1" actId="20577"/>
          <ac:spMkLst>
            <pc:docMk/>
            <pc:sldMk cId="3979653562" sldId="423"/>
            <ac:spMk id="3" creationId="{C1F55BDD-1493-5FB8-8EDB-106F9B36291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399397-5271-A44D-931E-CE8A5032CA62}" type="doc">
      <dgm:prSet loTypeId="urn:microsoft.com/office/officeart/2005/8/layout/venn1" loCatId="" qsTypeId="urn:microsoft.com/office/officeart/2005/8/quickstyle/simple1#1" qsCatId="simple" csTypeId="urn:microsoft.com/office/officeart/2005/8/colors/accent1_2#1" csCatId="accent1" phldr="1"/>
      <dgm:spPr/>
    </dgm:pt>
    <dgm:pt modelId="{D645291C-634A-9D4D-AF8D-1974C16CE94C}">
      <dgm:prSet phldrT="[Text]"/>
      <dgm:spPr/>
      <dgm:t>
        <a:bodyPr/>
        <a:lstStyle/>
        <a:p>
          <a:r>
            <a:rPr lang="es-ES_tradnl" b="1" noProof="0" dirty="0">
              <a:latin typeface="Gill Sans Nova Light" panose="020B0302020104020203" pitchFamily="34" charset="0"/>
            </a:rPr>
            <a:t>Causales</a:t>
          </a:r>
        </a:p>
      </dgm:t>
    </dgm:pt>
    <dgm:pt modelId="{D91281F8-581A-8D46-B28C-24757F4DBD46}" type="parTrans" cxnId="{13A34497-D268-0F44-8563-98A7DD62A752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0E04F1EF-7D18-5847-A90D-BE83A84ECB26}" type="sibTrans" cxnId="{13A34497-D268-0F44-8563-98A7DD62A752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D39B2A59-0417-E143-A188-2193E92EACC4}">
      <dgm:prSet phldrT="[Text]"/>
      <dgm:spPr/>
      <dgm:t>
        <a:bodyPr/>
        <a:lstStyle/>
        <a:p>
          <a:r>
            <a:rPr lang="es-ES_tradnl" b="1" noProof="0" dirty="0">
              <a:latin typeface="Gill Sans Nova Light" panose="020B0302020104020203" pitchFamily="34" charset="0"/>
            </a:rPr>
            <a:t>No causales</a:t>
          </a:r>
        </a:p>
      </dgm:t>
    </dgm:pt>
    <dgm:pt modelId="{103DE782-7443-C149-A08E-47B0B24AC9BB}" type="parTrans" cxnId="{6B06C49B-FA80-D541-95F8-A58E760C0327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2D6FE148-90E0-384C-AFE4-3A906B112E8B}" type="sibTrans" cxnId="{6B06C49B-FA80-D541-95F8-A58E760C0327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A3DEC174-53DE-F148-BD46-F981A2A02C59}">
      <dgm:prSet phldrT="[Text]"/>
      <dgm:spPr/>
      <dgm:t>
        <a:bodyPr/>
        <a:lstStyle/>
        <a:p>
          <a:r>
            <a:rPr lang="es-ES_tradnl" noProof="0" dirty="0">
              <a:latin typeface="Gill Sans Nova Light" panose="020B0302020104020203" pitchFamily="34" charset="0"/>
            </a:rPr>
            <a:t>Predicción</a:t>
          </a:r>
        </a:p>
      </dgm:t>
    </dgm:pt>
    <dgm:pt modelId="{C9149A08-0C15-B640-9547-415A54957282}" type="parTrans" cxnId="{F0B506D2-B9AE-FA46-81F7-BE496B131F12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9F159931-2437-8A4C-828E-D89116860F04}" type="sibTrans" cxnId="{F0B506D2-B9AE-FA46-81F7-BE496B131F12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E7E0A5E1-F0F5-C54C-9542-5C716020FC28}">
      <dgm:prSet phldrT="[Text]"/>
      <dgm:spPr/>
      <dgm:t>
        <a:bodyPr/>
        <a:lstStyle/>
        <a:p>
          <a:r>
            <a:rPr lang="es-ES_tradnl" noProof="0" dirty="0">
              <a:latin typeface="Gill Sans Nova Light" panose="020B0302020104020203" pitchFamily="34" charset="0"/>
            </a:rPr>
            <a:t>Descriptivas</a:t>
          </a:r>
        </a:p>
      </dgm:t>
    </dgm:pt>
    <dgm:pt modelId="{2C6E09EC-EC89-464C-82F4-CD8B51F4BE72}" type="parTrans" cxnId="{C43EF028-B277-5643-85DD-162EE2307726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E501C745-1F32-9F48-942E-88574655E388}" type="sibTrans" cxnId="{C43EF028-B277-5643-85DD-162EE2307726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67C99BA3-DFF5-2048-B8B7-93088ACE6D8D}">
      <dgm:prSet phldrT="[Text]"/>
      <dgm:spPr/>
      <dgm:t>
        <a:bodyPr/>
        <a:lstStyle/>
        <a:p>
          <a:r>
            <a:rPr lang="es-ES_tradnl" noProof="0" dirty="0">
              <a:latin typeface="Gill Sans Nova Light" panose="020B0302020104020203" pitchFamily="34" charset="0"/>
            </a:rPr>
            <a:t>Metodológicas</a:t>
          </a:r>
        </a:p>
      </dgm:t>
    </dgm:pt>
    <dgm:pt modelId="{B0502750-10F1-074F-950F-85B3127220D6}" type="parTrans" cxnId="{74A8C64F-EF71-1744-A700-802FFC6B5C9D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7359F3C8-50BF-5540-8100-93F75AA6A850}" type="sibTrans" cxnId="{74A8C64F-EF71-1744-A700-802FFC6B5C9D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DC2E96E6-5725-064C-A898-E4B720533286}">
      <dgm:prSet phldrT="[Text]"/>
      <dgm:spPr/>
      <dgm:t>
        <a:bodyPr/>
        <a:lstStyle/>
        <a:p>
          <a:r>
            <a:rPr lang="en-US" b="0" noProof="0" dirty="0">
              <a:latin typeface="Gill Sans Nova Light" panose="020B0302020104020203" pitchFamily="34" charset="0"/>
            </a:rPr>
            <a:t>Policy</a:t>
          </a:r>
        </a:p>
      </dgm:t>
    </dgm:pt>
    <dgm:pt modelId="{23FDC850-706A-D048-B59D-4D7BBCBAB679}" type="parTrans" cxnId="{5374FCD2-61E3-7E40-8D59-059B3CB022EC}">
      <dgm:prSet/>
      <dgm:spPr/>
      <dgm:t>
        <a:bodyPr/>
        <a:lstStyle/>
        <a:p>
          <a:endParaRPr lang="en-US">
            <a:latin typeface="Gill Sans Nova Light" panose="020B0302020104020203" pitchFamily="34" charset="0"/>
          </a:endParaRPr>
        </a:p>
      </dgm:t>
    </dgm:pt>
    <dgm:pt modelId="{4611D246-4F0E-5947-ADFE-0756B87B0B64}" type="sibTrans" cxnId="{5374FCD2-61E3-7E40-8D59-059B3CB022EC}">
      <dgm:prSet/>
      <dgm:spPr/>
      <dgm:t>
        <a:bodyPr/>
        <a:lstStyle/>
        <a:p>
          <a:endParaRPr lang="en-US">
            <a:latin typeface="Gill Sans Nova Light" panose="020B0302020104020203" pitchFamily="34" charset="0"/>
          </a:endParaRPr>
        </a:p>
      </dgm:t>
    </dgm:pt>
    <dgm:pt modelId="{3DF49E8E-1834-BD4F-BA06-6493C1ED29A8}">
      <dgm:prSet phldrT="[Text]"/>
      <dgm:spPr/>
      <dgm:t>
        <a:bodyPr/>
        <a:lstStyle/>
        <a:p>
          <a:r>
            <a:rPr lang="en-US" b="0" noProof="0" dirty="0">
              <a:latin typeface="Gill Sans Nova Light" panose="020B0302020104020203" pitchFamily="34" charset="0"/>
            </a:rPr>
            <a:t>CRT</a:t>
          </a:r>
        </a:p>
      </dgm:t>
    </dgm:pt>
    <dgm:pt modelId="{CE29518A-1754-E844-91E0-DF8B64A12167}" type="parTrans" cxnId="{2C51E7B9-22D7-0A45-B67E-D56C0CEDF674}">
      <dgm:prSet/>
      <dgm:spPr/>
      <dgm:t>
        <a:bodyPr/>
        <a:lstStyle/>
        <a:p>
          <a:endParaRPr lang="en-US">
            <a:latin typeface="Gill Sans Nova Light" panose="020B0302020104020203" pitchFamily="34" charset="0"/>
          </a:endParaRPr>
        </a:p>
      </dgm:t>
    </dgm:pt>
    <dgm:pt modelId="{9E2D524D-6C60-724A-BE62-7C6E966434C0}" type="sibTrans" cxnId="{2C51E7B9-22D7-0A45-B67E-D56C0CEDF674}">
      <dgm:prSet/>
      <dgm:spPr/>
      <dgm:t>
        <a:bodyPr/>
        <a:lstStyle/>
        <a:p>
          <a:endParaRPr lang="en-US">
            <a:latin typeface="Gill Sans Nova Light" panose="020B0302020104020203" pitchFamily="34" charset="0"/>
          </a:endParaRPr>
        </a:p>
      </dgm:t>
    </dgm:pt>
    <dgm:pt modelId="{61CF03BA-71EB-E248-8EDC-1D84CC302784}">
      <dgm:prSet phldrT="[Text]"/>
      <dgm:spPr/>
      <dgm:t>
        <a:bodyPr/>
        <a:lstStyle/>
        <a:p>
          <a:r>
            <a:rPr lang="en-US" b="0" noProof="0" dirty="0">
              <a:latin typeface="Gill Sans Nova Light" panose="020B0302020104020203" pitchFamily="34" charset="0"/>
            </a:rPr>
            <a:t>Natural experiments</a:t>
          </a:r>
        </a:p>
      </dgm:t>
    </dgm:pt>
    <dgm:pt modelId="{34DA0E8F-1FA9-664E-8F6F-4B90DB880341}" type="parTrans" cxnId="{CD0D8A88-6430-E34F-9B51-0C010C4F1C98}">
      <dgm:prSet/>
      <dgm:spPr/>
      <dgm:t>
        <a:bodyPr/>
        <a:lstStyle/>
        <a:p>
          <a:endParaRPr lang="en-US">
            <a:latin typeface="Gill Sans Nova Light" panose="020B0302020104020203" pitchFamily="34" charset="0"/>
          </a:endParaRPr>
        </a:p>
      </dgm:t>
    </dgm:pt>
    <dgm:pt modelId="{5634A290-BA0F-DC44-AE0D-B52708A628AF}" type="sibTrans" cxnId="{CD0D8A88-6430-E34F-9B51-0C010C4F1C98}">
      <dgm:prSet/>
      <dgm:spPr/>
      <dgm:t>
        <a:bodyPr/>
        <a:lstStyle/>
        <a:p>
          <a:endParaRPr lang="en-US">
            <a:latin typeface="Gill Sans Nova Light" panose="020B0302020104020203" pitchFamily="34" charset="0"/>
          </a:endParaRPr>
        </a:p>
      </dgm:t>
    </dgm:pt>
    <dgm:pt modelId="{2EFA11C3-939B-1B45-8E64-9DC4492AE9C7}" type="pres">
      <dgm:prSet presAssocID="{3C399397-5271-A44D-931E-CE8A5032CA62}" presName="compositeShape" presStyleCnt="0">
        <dgm:presLayoutVars>
          <dgm:chMax val="7"/>
          <dgm:dir/>
          <dgm:resizeHandles val="exact"/>
        </dgm:presLayoutVars>
      </dgm:prSet>
      <dgm:spPr/>
    </dgm:pt>
    <dgm:pt modelId="{C74C11E0-275C-AD42-9C50-50E901C5B9C4}" type="pres">
      <dgm:prSet presAssocID="{D645291C-634A-9D4D-AF8D-1974C16CE94C}" presName="circ1" presStyleLbl="vennNode1" presStyleIdx="0" presStyleCnt="3"/>
      <dgm:spPr/>
    </dgm:pt>
    <dgm:pt modelId="{EDBA2248-5475-E942-A455-3F61D6CEEEAF}" type="pres">
      <dgm:prSet presAssocID="{D645291C-634A-9D4D-AF8D-1974C16CE94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45A6AC2-25A0-304B-9B61-2499B70D7EF6}" type="pres">
      <dgm:prSet presAssocID="{D39B2A59-0417-E143-A188-2193E92EACC4}" presName="circ2" presStyleLbl="vennNode1" presStyleIdx="1" presStyleCnt="3"/>
      <dgm:spPr/>
    </dgm:pt>
    <dgm:pt modelId="{D5E0C319-1F65-E44B-A11B-6E7F6918745E}" type="pres">
      <dgm:prSet presAssocID="{D39B2A59-0417-E143-A188-2193E92EACC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5513EEF-CB85-AE45-8FB5-78A7499B0B17}" type="pres">
      <dgm:prSet presAssocID="{67C99BA3-DFF5-2048-B8B7-93088ACE6D8D}" presName="circ3" presStyleLbl="vennNode1" presStyleIdx="2" presStyleCnt="3"/>
      <dgm:spPr/>
    </dgm:pt>
    <dgm:pt modelId="{7BD762EC-7718-D648-BDAB-88B75599FE6C}" type="pres">
      <dgm:prSet presAssocID="{67C99BA3-DFF5-2048-B8B7-93088ACE6D8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EA972A01-8AEB-834E-8195-FB973B65F783}" type="presOf" srcId="{61CF03BA-71EB-E248-8EDC-1D84CC302784}" destId="{C74C11E0-275C-AD42-9C50-50E901C5B9C4}" srcOrd="0" destOrd="3" presId="urn:microsoft.com/office/officeart/2005/8/layout/venn1"/>
    <dgm:cxn modelId="{3C2E530C-85A6-754E-A84F-B4BEFD42C414}" type="presOf" srcId="{3DF49E8E-1834-BD4F-BA06-6493C1ED29A8}" destId="{C74C11E0-275C-AD42-9C50-50E901C5B9C4}" srcOrd="0" destOrd="2" presId="urn:microsoft.com/office/officeart/2005/8/layout/venn1"/>
    <dgm:cxn modelId="{A459650D-BC71-F44C-BAD3-0CC1097BD6E8}" type="presOf" srcId="{E7E0A5E1-F0F5-C54C-9542-5C716020FC28}" destId="{D5E0C319-1F65-E44B-A11B-6E7F6918745E}" srcOrd="1" destOrd="2" presId="urn:microsoft.com/office/officeart/2005/8/layout/venn1"/>
    <dgm:cxn modelId="{9184EB19-9A71-AD49-A6AB-2F09E35CCA9F}" type="presOf" srcId="{D39B2A59-0417-E143-A188-2193E92EACC4}" destId="{445A6AC2-25A0-304B-9B61-2499B70D7EF6}" srcOrd="0" destOrd="0" presId="urn:microsoft.com/office/officeart/2005/8/layout/venn1"/>
    <dgm:cxn modelId="{6531E824-CF20-6C4C-B24B-F48ABED921E8}" type="presOf" srcId="{D645291C-634A-9D4D-AF8D-1974C16CE94C}" destId="{EDBA2248-5475-E942-A455-3F61D6CEEEAF}" srcOrd="1" destOrd="0" presId="urn:microsoft.com/office/officeart/2005/8/layout/venn1"/>
    <dgm:cxn modelId="{C43EF028-B277-5643-85DD-162EE2307726}" srcId="{D39B2A59-0417-E143-A188-2193E92EACC4}" destId="{E7E0A5E1-F0F5-C54C-9542-5C716020FC28}" srcOrd="1" destOrd="0" parTransId="{2C6E09EC-EC89-464C-82F4-CD8B51F4BE72}" sibTransId="{E501C745-1F32-9F48-942E-88574655E388}"/>
    <dgm:cxn modelId="{F114CC39-FD69-164D-B603-4CE0EF0B29F7}" type="presOf" srcId="{67C99BA3-DFF5-2048-B8B7-93088ACE6D8D}" destId="{7BD762EC-7718-D648-BDAB-88B75599FE6C}" srcOrd="1" destOrd="0" presId="urn:microsoft.com/office/officeart/2005/8/layout/venn1"/>
    <dgm:cxn modelId="{6BE0714D-AF3C-0044-B5FB-A043C2D8DFA6}" type="presOf" srcId="{3C399397-5271-A44D-931E-CE8A5032CA62}" destId="{2EFA11C3-939B-1B45-8E64-9DC4492AE9C7}" srcOrd="0" destOrd="0" presId="urn:microsoft.com/office/officeart/2005/8/layout/venn1"/>
    <dgm:cxn modelId="{315A8E4E-E5A1-3E46-AEBF-FECA2247826C}" type="presOf" srcId="{3DF49E8E-1834-BD4F-BA06-6493C1ED29A8}" destId="{EDBA2248-5475-E942-A455-3F61D6CEEEAF}" srcOrd="1" destOrd="2" presId="urn:microsoft.com/office/officeart/2005/8/layout/venn1"/>
    <dgm:cxn modelId="{74A8C64F-EF71-1744-A700-802FFC6B5C9D}" srcId="{3C399397-5271-A44D-931E-CE8A5032CA62}" destId="{67C99BA3-DFF5-2048-B8B7-93088ACE6D8D}" srcOrd="2" destOrd="0" parTransId="{B0502750-10F1-074F-950F-85B3127220D6}" sibTransId="{7359F3C8-50BF-5540-8100-93F75AA6A850}"/>
    <dgm:cxn modelId="{ABB1F159-CA16-9D47-9DC3-74D0C11C6C69}" type="presOf" srcId="{E7E0A5E1-F0F5-C54C-9542-5C716020FC28}" destId="{445A6AC2-25A0-304B-9B61-2499B70D7EF6}" srcOrd="0" destOrd="2" presId="urn:microsoft.com/office/officeart/2005/8/layout/venn1"/>
    <dgm:cxn modelId="{7FC73068-C926-0245-9ED2-7383D882F17F}" type="presOf" srcId="{A3DEC174-53DE-F148-BD46-F981A2A02C59}" destId="{445A6AC2-25A0-304B-9B61-2499B70D7EF6}" srcOrd="0" destOrd="1" presId="urn:microsoft.com/office/officeart/2005/8/layout/venn1"/>
    <dgm:cxn modelId="{CD0D8A88-6430-E34F-9B51-0C010C4F1C98}" srcId="{D645291C-634A-9D4D-AF8D-1974C16CE94C}" destId="{61CF03BA-71EB-E248-8EDC-1D84CC302784}" srcOrd="2" destOrd="0" parTransId="{34DA0E8F-1FA9-664E-8F6F-4B90DB880341}" sibTransId="{5634A290-BA0F-DC44-AE0D-B52708A628AF}"/>
    <dgm:cxn modelId="{D03B2593-AFD9-1A49-8F42-4B9217A55674}" type="presOf" srcId="{61CF03BA-71EB-E248-8EDC-1D84CC302784}" destId="{EDBA2248-5475-E942-A455-3F61D6CEEEAF}" srcOrd="1" destOrd="3" presId="urn:microsoft.com/office/officeart/2005/8/layout/venn1"/>
    <dgm:cxn modelId="{13A34497-D268-0F44-8563-98A7DD62A752}" srcId="{3C399397-5271-A44D-931E-CE8A5032CA62}" destId="{D645291C-634A-9D4D-AF8D-1974C16CE94C}" srcOrd="0" destOrd="0" parTransId="{D91281F8-581A-8D46-B28C-24757F4DBD46}" sibTransId="{0E04F1EF-7D18-5847-A90D-BE83A84ECB26}"/>
    <dgm:cxn modelId="{6B06C49B-FA80-D541-95F8-A58E760C0327}" srcId="{3C399397-5271-A44D-931E-CE8A5032CA62}" destId="{D39B2A59-0417-E143-A188-2193E92EACC4}" srcOrd="1" destOrd="0" parTransId="{103DE782-7443-C149-A08E-47B0B24AC9BB}" sibTransId="{2D6FE148-90E0-384C-AFE4-3A906B112E8B}"/>
    <dgm:cxn modelId="{84D7B9A0-65D4-B24A-A2B9-BE005821AB76}" type="presOf" srcId="{67C99BA3-DFF5-2048-B8B7-93088ACE6D8D}" destId="{05513EEF-CB85-AE45-8FB5-78A7499B0B17}" srcOrd="0" destOrd="0" presId="urn:microsoft.com/office/officeart/2005/8/layout/venn1"/>
    <dgm:cxn modelId="{221959B6-08BE-3543-A979-DEB5B8E983F4}" type="presOf" srcId="{D39B2A59-0417-E143-A188-2193E92EACC4}" destId="{D5E0C319-1F65-E44B-A11B-6E7F6918745E}" srcOrd="1" destOrd="0" presId="urn:microsoft.com/office/officeart/2005/8/layout/venn1"/>
    <dgm:cxn modelId="{2C51E7B9-22D7-0A45-B67E-D56C0CEDF674}" srcId="{D645291C-634A-9D4D-AF8D-1974C16CE94C}" destId="{3DF49E8E-1834-BD4F-BA06-6493C1ED29A8}" srcOrd="1" destOrd="0" parTransId="{CE29518A-1754-E844-91E0-DF8B64A12167}" sibTransId="{9E2D524D-6C60-724A-BE62-7C6E966434C0}"/>
    <dgm:cxn modelId="{15DF1DC0-5292-374B-8B87-84F86906FD25}" type="presOf" srcId="{DC2E96E6-5725-064C-A898-E4B720533286}" destId="{EDBA2248-5475-E942-A455-3F61D6CEEEAF}" srcOrd="1" destOrd="1" presId="urn:microsoft.com/office/officeart/2005/8/layout/venn1"/>
    <dgm:cxn modelId="{F0B506D2-B9AE-FA46-81F7-BE496B131F12}" srcId="{D39B2A59-0417-E143-A188-2193E92EACC4}" destId="{A3DEC174-53DE-F148-BD46-F981A2A02C59}" srcOrd="0" destOrd="0" parTransId="{C9149A08-0C15-B640-9547-415A54957282}" sibTransId="{9F159931-2437-8A4C-828E-D89116860F04}"/>
    <dgm:cxn modelId="{015055D2-A959-CF44-BB31-FEA693DAC31B}" type="presOf" srcId="{DC2E96E6-5725-064C-A898-E4B720533286}" destId="{C74C11E0-275C-AD42-9C50-50E901C5B9C4}" srcOrd="0" destOrd="1" presId="urn:microsoft.com/office/officeart/2005/8/layout/venn1"/>
    <dgm:cxn modelId="{5374FCD2-61E3-7E40-8D59-059B3CB022EC}" srcId="{D645291C-634A-9D4D-AF8D-1974C16CE94C}" destId="{DC2E96E6-5725-064C-A898-E4B720533286}" srcOrd="0" destOrd="0" parTransId="{23FDC850-706A-D048-B59D-4D7BBCBAB679}" sibTransId="{4611D246-4F0E-5947-ADFE-0756B87B0B64}"/>
    <dgm:cxn modelId="{6E26D1D5-5962-CE42-B94C-1658E808C78E}" type="presOf" srcId="{A3DEC174-53DE-F148-BD46-F981A2A02C59}" destId="{D5E0C319-1F65-E44B-A11B-6E7F6918745E}" srcOrd="1" destOrd="1" presId="urn:microsoft.com/office/officeart/2005/8/layout/venn1"/>
    <dgm:cxn modelId="{BBF2E6E5-AA80-3E42-8FAE-E808D5BD7519}" type="presOf" srcId="{D645291C-634A-9D4D-AF8D-1974C16CE94C}" destId="{C74C11E0-275C-AD42-9C50-50E901C5B9C4}" srcOrd="0" destOrd="0" presId="urn:microsoft.com/office/officeart/2005/8/layout/venn1"/>
    <dgm:cxn modelId="{449C6A8A-C1C7-924A-A3E4-0AA64C3C98C6}" type="presParOf" srcId="{2EFA11C3-939B-1B45-8E64-9DC4492AE9C7}" destId="{C74C11E0-275C-AD42-9C50-50E901C5B9C4}" srcOrd="0" destOrd="0" presId="urn:microsoft.com/office/officeart/2005/8/layout/venn1"/>
    <dgm:cxn modelId="{812B0A13-E0D2-4C44-A7BC-51C8E3D8E28E}" type="presParOf" srcId="{2EFA11C3-939B-1B45-8E64-9DC4492AE9C7}" destId="{EDBA2248-5475-E942-A455-3F61D6CEEEAF}" srcOrd="1" destOrd="0" presId="urn:microsoft.com/office/officeart/2005/8/layout/venn1"/>
    <dgm:cxn modelId="{946633CB-9CAF-FD49-9A6B-7F7BCE1D978A}" type="presParOf" srcId="{2EFA11C3-939B-1B45-8E64-9DC4492AE9C7}" destId="{445A6AC2-25A0-304B-9B61-2499B70D7EF6}" srcOrd="2" destOrd="0" presId="urn:microsoft.com/office/officeart/2005/8/layout/venn1"/>
    <dgm:cxn modelId="{83AB5B87-40C6-C645-9E0C-C8BB4D1908EA}" type="presParOf" srcId="{2EFA11C3-939B-1B45-8E64-9DC4492AE9C7}" destId="{D5E0C319-1F65-E44B-A11B-6E7F6918745E}" srcOrd="3" destOrd="0" presId="urn:microsoft.com/office/officeart/2005/8/layout/venn1"/>
    <dgm:cxn modelId="{557F0A41-DE31-6745-B9DA-806728D27F95}" type="presParOf" srcId="{2EFA11C3-939B-1B45-8E64-9DC4492AE9C7}" destId="{05513EEF-CB85-AE45-8FB5-78A7499B0B17}" srcOrd="4" destOrd="0" presId="urn:microsoft.com/office/officeart/2005/8/layout/venn1"/>
    <dgm:cxn modelId="{4530E203-42C7-4F4C-9B55-0C9F12523675}" type="presParOf" srcId="{2EFA11C3-939B-1B45-8E64-9DC4492AE9C7}" destId="{7BD762EC-7718-D648-BDAB-88B75599FE6C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4C11E0-275C-AD42-9C50-50E901C5B9C4}">
      <dsp:nvSpPr>
        <dsp:cNvPr id="0" name=""/>
        <dsp:cNvSpPr/>
      </dsp:nvSpPr>
      <dsp:spPr>
        <a:xfrm>
          <a:off x="1285398" y="54391"/>
          <a:ext cx="2610802" cy="261080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1" kern="1200" noProof="0" dirty="0">
              <a:latin typeface="Gill Sans Nova Light" panose="020B0302020104020203" pitchFamily="34" charset="0"/>
            </a:rPr>
            <a:t>Causales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noProof="0" dirty="0">
              <a:latin typeface="Gill Sans Nova Light" panose="020B0302020104020203" pitchFamily="34" charset="0"/>
            </a:rPr>
            <a:t>Policy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noProof="0" dirty="0">
              <a:latin typeface="Gill Sans Nova Light" panose="020B0302020104020203" pitchFamily="34" charset="0"/>
            </a:rPr>
            <a:t>CRT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noProof="0" dirty="0">
              <a:latin typeface="Gill Sans Nova Light" panose="020B0302020104020203" pitchFamily="34" charset="0"/>
            </a:rPr>
            <a:t>Natural experiments</a:t>
          </a:r>
        </a:p>
      </dsp:txBody>
      <dsp:txXfrm>
        <a:off x="1633505" y="511282"/>
        <a:ext cx="1914588" cy="1174861"/>
      </dsp:txXfrm>
    </dsp:sp>
    <dsp:sp modelId="{445A6AC2-25A0-304B-9B61-2499B70D7EF6}">
      <dsp:nvSpPr>
        <dsp:cNvPr id="0" name=""/>
        <dsp:cNvSpPr/>
      </dsp:nvSpPr>
      <dsp:spPr>
        <a:xfrm>
          <a:off x="2227463" y="1686143"/>
          <a:ext cx="2610802" cy="261080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1" kern="1200" noProof="0" dirty="0">
              <a:latin typeface="Gill Sans Nova Light" panose="020B0302020104020203" pitchFamily="34" charset="0"/>
            </a:rPr>
            <a:t>No causales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500" kern="1200" noProof="0" dirty="0">
              <a:latin typeface="Gill Sans Nova Light" panose="020B0302020104020203" pitchFamily="34" charset="0"/>
            </a:rPr>
            <a:t>Predicción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500" kern="1200" noProof="0" dirty="0">
              <a:latin typeface="Gill Sans Nova Light" panose="020B0302020104020203" pitchFamily="34" charset="0"/>
            </a:rPr>
            <a:t>Descriptivas</a:t>
          </a:r>
        </a:p>
      </dsp:txBody>
      <dsp:txXfrm>
        <a:off x="3025933" y="2360600"/>
        <a:ext cx="1566481" cy="1435941"/>
      </dsp:txXfrm>
    </dsp:sp>
    <dsp:sp modelId="{05513EEF-CB85-AE45-8FB5-78A7499B0B17}">
      <dsp:nvSpPr>
        <dsp:cNvPr id="0" name=""/>
        <dsp:cNvSpPr/>
      </dsp:nvSpPr>
      <dsp:spPr>
        <a:xfrm>
          <a:off x="343333" y="1686143"/>
          <a:ext cx="2610802" cy="261080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kern="1200" noProof="0" dirty="0">
              <a:latin typeface="Gill Sans Nova Light" panose="020B0302020104020203" pitchFamily="34" charset="0"/>
            </a:rPr>
            <a:t>Metodológicas</a:t>
          </a:r>
        </a:p>
      </dsp:txBody>
      <dsp:txXfrm>
        <a:off x="589184" y="2360600"/>
        <a:ext cx="1566481" cy="1435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24/8/26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0472D-4056-9726-1926-5177B7903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5EDF8-BCC1-47EF-4D47-4A8F1D839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0F883-F8FF-D42A-997F-ED267E1B6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* Ver la </a:t>
            </a:r>
            <a:r>
              <a:rPr lang="es-ES_tradnl" dirty="0" err="1"/>
              <a:t>intro</a:t>
            </a:r>
            <a:r>
              <a:rPr lang="es-ES_tradnl" dirty="0"/>
              <a:t> y motivación en estos dos capítulos.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7767D-A865-0DC1-7129-84D3C375F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55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6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00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77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10327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87940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4329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89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27049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03896-E1DC-2DA7-DFA8-825C1823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51154-1130-8A75-EDED-6130A2416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ECB2C-4503-2958-12EE-76F0542E3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EBEC8-AB4F-283B-53DB-C1376FD7A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64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21180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5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79580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14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10232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83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200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s-AR" sz="1200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Lectura Obligatoria</a:t>
            </a:r>
            <a:r>
              <a:rPr lang="en-US" dirty="0">
                <a:effectLst/>
              </a:rPr>
              <a:t> </a:t>
            </a: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844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s-ES_tradnl" dirty="0"/>
          </a:p>
          <a:p>
            <a:pPr marL="0" indent="0">
              <a:buNone/>
            </a:pPr>
            <a:r>
              <a:rPr lang="es-ES_tradnl" dirty="0"/>
              <a:t>Este </a:t>
            </a:r>
            <a:r>
              <a:rPr lang="es-ES_tradnl" dirty="0" err="1"/>
              <a:t>paper</a:t>
            </a:r>
            <a:r>
              <a:rPr lang="es-ES_tradnl" dirty="0"/>
              <a:t> hace el punto que incluso con un </a:t>
            </a:r>
            <a:r>
              <a:rPr lang="es-ES_tradnl" dirty="0" err="1"/>
              <a:t>research</a:t>
            </a:r>
            <a:r>
              <a:rPr lang="es-ES_tradnl" dirty="0"/>
              <a:t> </a:t>
            </a:r>
            <a:r>
              <a:rPr lang="es-ES_tradnl" dirty="0" err="1"/>
              <a:t>design</a:t>
            </a:r>
            <a:r>
              <a:rPr lang="es-ES_tradnl" dirty="0"/>
              <a:t> super creíble como con un RCT, post-</a:t>
            </a:r>
            <a:r>
              <a:rPr lang="es-ES_tradnl" dirty="0" err="1"/>
              <a:t>double</a:t>
            </a:r>
            <a:r>
              <a:rPr lang="es-ES_tradnl" dirty="0"/>
              <a:t> LASSO o </a:t>
            </a:r>
            <a:r>
              <a:rPr lang="es-ES_tradnl" dirty="0" err="1"/>
              <a:t>debiased</a:t>
            </a:r>
            <a:r>
              <a:rPr lang="es-ES_tradnl" dirty="0"/>
              <a:t> LASSO puede fallar al elegir los controles de la estimación, introduciendo sesgo. Por lo tanto, dando lugar a una mala interpretación de causalidad a los coeficientes estimados y obteniendo conclusiones que sean “</a:t>
            </a:r>
            <a:r>
              <a:rPr lang="es-ES_tradnl" dirty="0" err="1"/>
              <a:t>misleading</a:t>
            </a:r>
            <a:r>
              <a:rPr lang="es-ES_tradnl" dirty="0"/>
              <a:t>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315826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s-ES_tradnl" dirty="0"/>
          </a:p>
          <a:p>
            <a:pPr marL="0" indent="0">
              <a:buNone/>
            </a:pPr>
            <a:r>
              <a:rPr lang="es-ES_tradnl" dirty="0"/>
              <a:t>Este </a:t>
            </a:r>
            <a:r>
              <a:rPr lang="es-ES_tradnl" dirty="0" err="1"/>
              <a:t>paper</a:t>
            </a:r>
            <a:r>
              <a:rPr lang="es-ES_tradnl" dirty="0"/>
              <a:t> hace el punto que incluso con un </a:t>
            </a:r>
            <a:r>
              <a:rPr lang="es-ES_tradnl" dirty="0" err="1"/>
              <a:t>research</a:t>
            </a:r>
            <a:r>
              <a:rPr lang="es-ES_tradnl" dirty="0"/>
              <a:t> </a:t>
            </a:r>
            <a:r>
              <a:rPr lang="es-ES_tradnl" dirty="0" err="1"/>
              <a:t>design</a:t>
            </a:r>
            <a:r>
              <a:rPr lang="es-ES_tradnl" dirty="0"/>
              <a:t> super creíble como con un RCT, post-</a:t>
            </a:r>
            <a:r>
              <a:rPr lang="es-ES_tradnl" dirty="0" err="1"/>
              <a:t>double</a:t>
            </a:r>
            <a:r>
              <a:rPr lang="es-ES_tradnl" dirty="0"/>
              <a:t> LASSO o </a:t>
            </a:r>
            <a:r>
              <a:rPr lang="es-ES_tradnl" dirty="0" err="1"/>
              <a:t>debiased</a:t>
            </a:r>
            <a:r>
              <a:rPr lang="es-ES_tradnl" dirty="0"/>
              <a:t> LASSO puede fallar al elegir los controles de la estimación, introduciendo sesgo. Por lo tanto, dando lugar a una mala interpretación de causalidad a los coeficientes estimados y obteniendo conclusiones que sean “</a:t>
            </a:r>
            <a:r>
              <a:rPr lang="es-ES_tradnl" dirty="0" err="1"/>
              <a:t>misleading</a:t>
            </a:r>
            <a:r>
              <a:rPr lang="es-ES_tradnl" dirty="0"/>
              <a:t>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653022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285417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095540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48685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En el </a:t>
                </a:r>
                <a:r>
                  <a:rPr lang="es-ES_tradnl" dirty="0" err="1"/>
                  <a:t>paper</a:t>
                </a:r>
                <a:r>
                  <a:rPr lang="es-ES_tradnl" dirty="0"/>
                  <a:t> los autores se refieren a la distribución el “Oracle </a:t>
                </a:r>
                <a:r>
                  <a:rPr lang="es-ES_tradnl" dirty="0" err="1"/>
                  <a:t>estimator</a:t>
                </a:r>
                <a:r>
                  <a:rPr lang="es-ES_tradnl" dirty="0"/>
                  <a:t>”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de regresar</a:t>
                </a:r>
                <a:r>
                  <a:rPr lang="es-ES_tradnl" baseline="0" dirty="0"/>
                  <a:t> los residuos de Y (luego de regresar Y en X, </a:t>
                </a:r>
                <a:r>
                  <a:rPr lang="es-ES_tradnl" baseline="0" dirty="0" err="1"/>
                  <a:t>eq</a:t>
                </a:r>
                <a:r>
                  <a:rPr lang="es-ES_tradnl" baseline="0" dirty="0"/>
                  <a:t> 7) en los residuos del tratamiento (D en X, </a:t>
                </a:r>
                <a:r>
                  <a:rPr lang="es-ES_tradnl" baseline="0" dirty="0" err="1"/>
                  <a:t>eq</a:t>
                </a:r>
                <a:r>
                  <a:rPr lang="es-ES_tradnl" baseline="0" dirty="0"/>
                  <a:t> 8). Por FWL, esto es es equivalente a la estimación OLS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es-ES_tradnl" dirty="0"/>
                  <a:t> de Y en D y X (con el conjunto de las </a:t>
                </a:r>
                <a:r>
                  <a:rPr lang="es-ES_tradnl" dirty="0" err="1"/>
                  <a:t>Xs</a:t>
                </a:r>
                <a:r>
                  <a:rPr lang="es-ES_tradnl" dirty="0"/>
                  <a:t> seleccionadas en el paso 7</a:t>
                </a:r>
                <a:r>
                  <a:rPr lang="es-ES_tradnl" baseline="0" dirty="0"/>
                  <a:t> y 8 de post-</a:t>
                </a:r>
                <a:r>
                  <a:rPr lang="es-ES_tradnl" baseline="0" dirty="0" err="1"/>
                  <a:t>double</a:t>
                </a:r>
                <a:r>
                  <a:rPr lang="es-ES_tradnl" baseline="0" dirty="0"/>
                  <a:t> </a:t>
                </a:r>
                <a:r>
                  <a:rPr lang="es-ES_tradnl" baseline="0" dirty="0" err="1"/>
                  <a:t>lasso</a:t>
                </a:r>
                <a:r>
                  <a:rPr lang="es-ES_tradnl" baseline="0" dirty="0"/>
                  <a:t>)</a:t>
                </a:r>
              </a:p>
              <a:p>
                <a:r>
                  <a:rPr lang="es-ES_tradnl" baseline="0" dirty="0"/>
                  <a:t>La figura asume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aseline="0" dirty="0"/>
                  <a:t>k=5 que significa que solo hay 5 variables relevantes 200 variable X generadas de distribución normal conjunta.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aseline="0" dirty="0"/>
                  <a:t>Asume iguales coeficientes de X en la </a:t>
                </a:r>
                <a:r>
                  <a:rPr lang="es-ES_tradnl" baseline="0" dirty="0" err="1"/>
                  <a:t>eq</a:t>
                </a:r>
                <a:r>
                  <a:rPr lang="es-ES_tradnl" baseline="0" dirty="0"/>
                  <a:t> 1 (</a:t>
                </a:r>
                <a:r>
                  <a:rPr lang="es-ES_tradnl" baseline="0" dirty="0" err="1"/>
                  <a:t>reg</a:t>
                </a:r>
                <a:r>
                  <a:rPr lang="es-ES_tradnl" baseline="0" dirty="0"/>
                  <a:t> Y en D y X) y 2 (</a:t>
                </a:r>
                <a:r>
                  <a:rPr lang="es-ES_tradnl" baseline="0" dirty="0" err="1"/>
                  <a:t>reg</a:t>
                </a:r>
                <a:r>
                  <a:rPr lang="es-ES_tradnl" baseline="0" dirty="0"/>
                  <a:t> D en X)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aseline="0" dirty="0"/>
                  <a:t>Asume un efecto nulo del tratamiento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baseline="0" dirty="0"/>
                  <a:t> (ojo con eso)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baseline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ES_tradnl" baseline="0" dirty="0"/>
                  <a:t>Los autores no nos aclaran en esta </a:t>
                </a:r>
                <a:r>
                  <a:rPr lang="es-ES_tradnl" baseline="0" dirty="0" err="1"/>
                  <a:t>seccion</a:t>
                </a:r>
                <a:r>
                  <a:rPr lang="es-ES_tradnl" baseline="0" dirty="0"/>
                  <a:t> cuántas veces simulan datos para generar los histogramas de la distribución de estimadores y numero de variables elegidas en las figuras 1 y 2. En la </a:t>
                </a:r>
                <a:r>
                  <a:rPr lang="es-ES_tradnl" baseline="0" dirty="0" err="1"/>
                  <a:t>Seccion</a:t>
                </a:r>
                <a:r>
                  <a:rPr lang="es-ES_tradnl" baseline="0" dirty="0"/>
                  <a:t> V.A. aclara que hacen 1000 simulaciones.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_tradnl" baseline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ES_tradnl" baseline="0" dirty="0"/>
                  <a:t>Pueden asociar: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="0" baseline="0" dirty="0"/>
                  <a:t>Escenario ”malo” a los paneles (c) en ambas figuras con el sector </a:t>
                </a:r>
                <a:r>
                  <a:rPr lang="es-ES_tradnl" b="1" baseline="0" dirty="0"/>
                  <a:t>A</a:t>
                </a:r>
                <a:r>
                  <a:rPr lang="es-ES_tradnl" b="0" baseline="0" dirty="0"/>
                  <a:t> de la figura 1, donde es muy poco probable que elijamos las 5 variables relevantes y tiene el agravante de que el sesgo es alto porque los coeficientes de dichas 5 variables son muy distintas a 0.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s-ES_tradnl" b="0" baseline="0" dirty="0"/>
                  <a:t>Escenario “no </a:t>
                </a:r>
                <a:r>
                  <a:rPr lang="es-ES_tradnl" b="0" baseline="0" dirty="0" err="1"/>
                  <a:t>taaaan</a:t>
                </a:r>
                <a:r>
                  <a:rPr lang="es-ES_tradnl" b="0" baseline="0" dirty="0"/>
                  <a:t> malo” a los </a:t>
                </a:r>
                <a:r>
                  <a:rPr lang="es-ES_tradnl" b="0" baseline="0" dirty="0" err="1"/>
                  <a:t>panels</a:t>
                </a:r>
                <a:r>
                  <a:rPr lang="es-ES_tradnl" b="0" baseline="0" dirty="0"/>
                  <a:t> (d) en ambas figuras con el sector </a:t>
                </a:r>
                <a:r>
                  <a:rPr lang="es-ES_tradnl" b="1" baseline="0" dirty="0"/>
                  <a:t>B</a:t>
                </a:r>
                <a:r>
                  <a:rPr lang="es-ES_tradnl" b="0" baseline="0" dirty="0"/>
                  <a:t> de la figura 1, donde la probabilidad de elegir las 5 variables relevantes es muy baja, pero como los coeficientes son muy cercanos a 0, el sesgo es pequeño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s-ES_tradnl" baseline="0" dirty="0"/>
                  <a:t>Escenario “bueno” de los </a:t>
                </a:r>
                <a:r>
                  <a:rPr lang="es-ES_tradnl" baseline="0" dirty="0" err="1"/>
                  <a:t>panels</a:t>
                </a:r>
                <a:r>
                  <a:rPr lang="es-ES_tradnl" baseline="0" dirty="0"/>
                  <a:t> (a) en ambas figuras con el sector </a:t>
                </a:r>
                <a:r>
                  <a:rPr lang="es-ES_tradnl" b="1" baseline="0" dirty="0"/>
                  <a:t>C, </a:t>
                </a:r>
                <a:r>
                  <a:rPr lang="es-ES_tradnl" b="0" baseline="0" dirty="0"/>
                  <a:t>de la figura 1, donde se elige a las 5 variables relevantes con muy alta probabilidad en las M simulaciones y bajo sesgo por variable omitida.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b="0" baseline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_tradnl" b="1" baseline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baseline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En el </a:t>
                </a:r>
                <a:r>
                  <a:rPr lang="es-ES_tradnl" dirty="0" err="1"/>
                  <a:t>paper</a:t>
                </a:r>
                <a:r>
                  <a:rPr lang="es-ES_tradnl" dirty="0"/>
                  <a:t> los autores se refieren a la distribución el “Oracle </a:t>
                </a:r>
                <a:r>
                  <a:rPr lang="es-ES_tradnl" dirty="0" err="1"/>
                  <a:t>estimator</a:t>
                </a:r>
                <a:r>
                  <a:rPr lang="es-ES_tradnl" dirty="0"/>
                  <a:t>” de </a:t>
                </a:r>
                <a:r>
                  <a:rPr lang="en-US" b="0" i="0">
                    <a:latin typeface="Cambria Math" panose="02040503050406030204" pitchFamily="18" charset="0"/>
                  </a:rPr>
                  <a:t>𝛼</a:t>
                </a:r>
                <a:r>
                  <a:rPr lang="es-ES_tradnl" dirty="0"/>
                  <a:t> de regresar</a:t>
                </a:r>
                <a:r>
                  <a:rPr lang="es-ES_tradnl" baseline="0" dirty="0"/>
                  <a:t> los residuos de Y (luego de regresar Y en X, </a:t>
                </a:r>
                <a:r>
                  <a:rPr lang="es-ES_tradnl" baseline="0" dirty="0" err="1"/>
                  <a:t>eq</a:t>
                </a:r>
                <a:r>
                  <a:rPr lang="es-ES_tradnl" baseline="0" dirty="0"/>
                  <a:t> 7) en los residuos del tratamiento (D en X, </a:t>
                </a:r>
                <a:r>
                  <a:rPr lang="es-ES_tradnl" baseline="0" dirty="0" err="1"/>
                  <a:t>eq</a:t>
                </a:r>
                <a:r>
                  <a:rPr lang="es-ES_tradnl" baseline="0" dirty="0"/>
                  <a:t> 8). Por FWL, esto es es equivalente a la estimación OLS </a:t>
                </a:r>
                <a:r>
                  <a:rPr lang="es-ES_tradnl" i="0">
                    <a:latin typeface="Cambria Math" panose="02040503050406030204" pitchFamily="18" charset="0"/>
                  </a:rPr>
                  <a:t>𝛼</a:t>
                </a:r>
                <a:r>
                  <a:rPr lang="es-ES_tradnl" b="0" i="0">
                    <a:latin typeface="Cambria Math" panose="02040503050406030204" pitchFamily="18" charset="0"/>
                  </a:rPr>
                  <a:t> ̃</a:t>
                </a:r>
                <a:r>
                  <a:rPr lang="es-ES_tradnl" dirty="0"/>
                  <a:t> de Y en D y X (con el conjunto de las </a:t>
                </a:r>
                <a:r>
                  <a:rPr lang="es-ES_tradnl" dirty="0" err="1"/>
                  <a:t>Xs</a:t>
                </a:r>
                <a:r>
                  <a:rPr lang="es-ES_tradnl" dirty="0"/>
                  <a:t> seleccionadas en el paso 7</a:t>
                </a:r>
                <a:r>
                  <a:rPr lang="es-ES_tradnl" baseline="0" dirty="0"/>
                  <a:t> y 8 de post-</a:t>
                </a:r>
                <a:r>
                  <a:rPr lang="es-ES_tradnl" baseline="0" dirty="0" err="1"/>
                  <a:t>double</a:t>
                </a:r>
                <a:r>
                  <a:rPr lang="es-ES_tradnl" baseline="0" dirty="0"/>
                  <a:t> </a:t>
                </a:r>
                <a:r>
                  <a:rPr lang="es-ES_tradnl" baseline="0" dirty="0" err="1"/>
                  <a:t>lasso</a:t>
                </a:r>
                <a:r>
                  <a:rPr lang="es-ES_tradnl" baseline="0" dirty="0"/>
                  <a:t>)</a:t>
                </a:r>
              </a:p>
              <a:p>
                <a:r>
                  <a:rPr lang="es-ES_tradnl" baseline="0" dirty="0"/>
                  <a:t>La figura asume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aseline="0" dirty="0"/>
                  <a:t>k=5 que significa que solo hay 5 variables relevantes 200 variable X generadas de distribución normal conjunta.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aseline="0" dirty="0"/>
                  <a:t>Asume iguales coeficientes de X en la </a:t>
                </a:r>
                <a:r>
                  <a:rPr lang="es-ES_tradnl" baseline="0" dirty="0" err="1"/>
                  <a:t>eq</a:t>
                </a:r>
                <a:r>
                  <a:rPr lang="es-ES_tradnl" baseline="0" dirty="0"/>
                  <a:t> 1 (</a:t>
                </a:r>
                <a:r>
                  <a:rPr lang="es-ES_tradnl" baseline="0" dirty="0" err="1"/>
                  <a:t>reg</a:t>
                </a:r>
                <a:r>
                  <a:rPr lang="es-ES_tradnl" baseline="0" dirty="0"/>
                  <a:t> Y en D y X) y 2 (</a:t>
                </a:r>
                <a:r>
                  <a:rPr lang="es-ES_tradnl" baseline="0" dirty="0" err="1"/>
                  <a:t>reg</a:t>
                </a:r>
                <a:r>
                  <a:rPr lang="es-ES_tradnl" baseline="0" dirty="0"/>
                  <a:t> D en X)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aseline="0" dirty="0"/>
                  <a:t>Asume un efecto nulo del tratamiento </a:t>
                </a:r>
                <a:r>
                  <a:rPr lang="en-US" b="0" i="0">
                    <a:latin typeface="Cambria Math" panose="02040503050406030204" pitchFamily="18" charset="0"/>
                  </a:rPr>
                  <a:t>𝛼^∗=0</a:t>
                </a:r>
                <a:r>
                  <a:rPr lang="es-ES_tradnl" baseline="0" dirty="0"/>
                  <a:t> (ojo con eso)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baseline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ES_tradnl" baseline="0" dirty="0"/>
                  <a:t>Los autores no nos aclaran en esta </a:t>
                </a:r>
                <a:r>
                  <a:rPr lang="es-ES_tradnl" baseline="0" dirty="0" err="1"/>
                  <a:t>seccion</a:t>
                </a:r>
                <a:r>
                  <a:rPr lang="es-ES_tradnl" baseline="0" dirty="0"/>
                  <a:t> cuántas veces simulan datos para generar los histogramas de la distribución de estimadores y numero de variables elegidas en las figuras 1 y 2. En la </a:t>
                </a:r>
                <a:r>
                  <a:rPr lang="es-ES_tradnl" baseline="0" dirty="0" err="1"/>
                  <a:t>Seccion</a:t>
                </a:r>
                <a:r>
                  <a:rPr lang="es-ES_tradnl" baseline="0" dirty="0"/>
                  <a:t> V.A. aclara que hacen 1000 simulaciones.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_tradnl" baseline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ES_tradnl" baseline="0" dirty="0"/>
                  <a:t>Pueden asociar: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="0" baseline="0" dirty="0"/>
                  <a:t>Escenario ”malo” a los paneles (c) en ambas figuras con el sector </a:t>
                </a:r>
                <a:r>
                  <a:rPr lang="es-ES_tradnl" b="1" baseline="0" dirty="0"/>
                  <a:t>A</a:t>
                </a:r>
                <a:r>
                  <a:rPr lang="es-ES_tradnl" b="0" baseline="0" dirty="0"/>
                  <a:t> de la figura 1, donde es muy poco probable que elijamos las 5 variables relevantes y tiene el agravante de que el sesgo es alto porque los coeficientes de dichas 5 variables son muy distintas a 0.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s-ES_tradnl" b="0" baseline="0" dirty="0"/>
                  <a:t>Escenario “no </a:t>
                </a:r>
                <a:r>
                  <a:rPr lang="es-ES_tradnl" b="0" baseline="0" dirty="0" err="1"/>
                  <a:t>taaaan</a:t>
                </a:r>
                <a:r>
                  <a:rPr lang="es-ES_tradnl" b="0" baseline="0" dirty="0"/>
                  <a:t> malo” a los </a:t>
                </a:r>
                <a:r>
                  <a:rPr lang="es-ES_tradnl" b="0" baseline="0" dirty="0" err="1"/>
                  <a:t>panels</a:t>
                </a:r>
                <a:r>
                  <a:rPr lang="es-ES_tradnl" b="0" baseline="0" dirty="0"/>
                  <a:t> (d) en ambas figuras con el sector </a:t>
                </a:r>
                <a:r>
                  <a:rPr lang="es-ES_tradnl" b="1" baseline="0" dirty="0"/>
                  <a:t>B</a:t>
                </a:r>
                <a:r>
                  <a:rPr lang="es-ES_tradnl" b="0" baseline="0" dirty="0"/>
                  <a:t> de la figura 1, donde la probabilidad de elegir las 5 variables relevantes es muy baja, pero como los coeficientes son muy cercanos a 0, el sesgo es pequeño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s-ES_tradnl" baseline="0" dirty="0"/>
                  <a:t>Escenario “bueno” de los </a:t>
                </a:r>
                <a:r>
                  <a:rPr lang="es-ES_tradnl" baseline="0" dirty="0" err="1"/>
                  <a:t>panels</a:t>
                </a:r>
                <a:r>
                  <a:rPr lang="es-ES_tradnl" baseline="0" dirty="0"/>
                  <a:t> (a) en ambas figuras con el sector </a:t>
                </a:r>
                <a:r>
                  <a:rPr lang="es-ES_tradnl" b="1" baseline="0" dirty="0"/>
                  <a:t>C, </a:t>
                </a:r>
                <a:r>
                  <a:rPr lang="es-ES_tradnl" b="0" baseline="0" dirty="0"/>
                  <a:t>de la figura 1, donde se elige a las 5 variables relevantes con muy alta probabilidad en las M simulaciones y bajo sesgo por variable omitida.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b="0" baseline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_tradnl" b="1" baseline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baseline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910907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4763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86377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56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45A92-8635-BC44-5C03-F90B62A9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26824-122D-3193-FFA0-BE35829C2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34BEC-057D-3374-544A-BEA8BA854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6410E-173F-F5C4-B864-E6A56F3F1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84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00F8-7FFC-5341-ADE9-35A49375D21C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58FC-9A6A-6A4B-BC45-38DA2CDC520C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57393-515B-1A47-A87A-8640CC03CD21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A069-A1EA-0F47-A741-49B3A660719F}" type="datetime1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4583-8738-D446-A561-042FC1E653E3}" type="datetime1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A491-31D3-4F46-B45E-95FC60EFF440}" type="datetime1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22F5C-5B3E-AE45-9D2D-54D56FEFFDFB}" type="datetime1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CDE3-54E0-7D4C-8C01-682D9A3E8683}" type="datetime1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DF334-1367-DE42-B433-657F08CBBA33}" type="datetime1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A313-D30E-C24D-B5E3-47AF40650833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59BE-6406-4040-81F6-DB3E248EDC37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6C47D364-D30F-3243-95CC-D040B3E96DD2}" type="datetime1">
              <a:rPr lang="en-US" noProof="0" smtClean="0"/>
              <a:t>8/24/26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6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mixtape.scunning.com/01-introduction#do-not-confuse-correlation-with-causality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Métodos de Regularización: </a:t>
            </a:r>
            <a:b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Ridge, LASSO &amp; Elastic Net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08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ES_tradnl" sz="3200"/>
              <a:t>En la clase de hoy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de regularización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Ridge ⭐︎ </a:t>
            </a:r>
          </a:p>
          <a:p>
            <a:pPr marL="514350" indent="-514350">
              <a:buAutoNum type="arabicPeriod"/>
            </a:pPr>
            <a:r>
              <a:rPr lang="es-ES_tradnl" dirty="0"/>
              <a:t>LASSO︎ ⭐︎</a:t>
            </a:r>
          </a:p>
          <a:p>
            <a:pPr marL="514350" indent="-514350">
              <a:buAutoNum type="arabicPeriod"/>
            </a:pPr>
            <a:r>
              <a:rPr lang="es-ES_tradnl" dirty="0"/>
              <a:t>Elastic Net  ⭐︎</a:t>
            </a:r>
          </a:p>
          <a:p>
            <a:pPr marL="514350" indent="-514350">
              <a:buAutoNum type="arabicPeriod"/>
            </a:pPr>
            <a:r>
              <a:rPr lang="es-ES_tradnl" dirty="0"/>
              <a:t>Comparación formal y visual de métodos  </a:t>
            </a:r>
          </a:p>
        </p:txBody>
      </p:sp>
      <p:pic>
        <p:nvPicPr>
          <p:cNvPr id="5" name="Graphic 1" descr="Brain in head outline">
            <a:extLst>
              <a:ext uri="{FF2B5EF4-FFF2-40B4-BE49-F238E27FC236}">
                <a16:creationId xmlns:a16="http://schemas.microsoft.com/office/drawing/2014/main" id="{161E704C-660A-51E5-F0B0-64F29A9312F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274182" y="1566745"/>
            <a:ext cx="4155978" cy="41559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2152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7BB9-5237-1A62-42B8-5B6494586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767B-5105-2AF5-D3EB-6E5799411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de Regularización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2E611-8587-D967-8B63-90D0BF59A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7294B-1812-21A1-C48D-E775926D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36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4FA80-C2FC-5030-9317-34C8E868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Problemas de MCO en la practica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74C709-9CC9-1B2C-23FE-9084A451BE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Cuando estimamos un modelo de regresión lineal por MCO pueden surgir problemas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:</a:t>
                </a:r>
                <a:r>
                  <a:rPr lang="es-ES_tradnl" dirty="0"/>
                  <a:t> ejemplo: tenemos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s-ES_tradnl" dirty="0"/>
                  <a:t> departamentos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s-ES_tradnl" dirty="0"/>
                  <a:t> características: # de habitaciones, #baño, m</a:t>
                </a:r>
                <a:r>
                  <a:rPr lang="es-ES_tradnl" baseline="30000" dirty="0"/>
                  <a:t>2</a:t>
                </a:r>
                <a:r>
                  <a:rPr lang="es-ES_tradnl" dirty="0"/>
                  <a:t>, # ambientes, piso, antigüedad, etc.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Alta multicolinealidad </a:t>
                </a:r>
                <a:r>
                  <a:rPr lang="es-ES_tradnl" dirty="0"/>
                  <a:t>entre los predictores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problema para predecir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? 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Maldición de la dimensionalidad</a:t>
                </a:r>
                <a:r>
                  <a:rPr lang="es-ES_tradnl" dirty="0"/>
                  <a:t>: extender el modelo lineal con polinomio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74C709-9CC9-1B2C-23FE-9084A451BE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r="-36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9FF01F-48E4-3005-D73D-93256A6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6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E2EF-E25C-8220-204A-3FF3860E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Idea de “regularizar”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761C2C-6857-3471-21A7-E9DF84941BD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Técnica que </a:t>
                </a:r>
                <a:r>
                  <a:rPr lang="es-ES_tradnl" dirty="0">
                    <a:solidFill>
                      <a:srgbClr val="002060"/>
                    </a:solidFill>
                  </a:rPr>
                  <a:t>restringe</a:t>
                </a:r>
                <a:r>
                  <a:rPr lang="es-ES_tradnl" dirty="0"/>
                  <a:t> el espacio de los posibles coeficientes estimados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Reduce coeficientes hacia 0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accent1"/>
                    </a:solidFill>
                  </a:rPr>
                  <a:t>Sesgamos</a:t>
                </a:r>
                <a:r>
                  <a:rPr lang="es-ES_tradnl" dirty="0"/>
                  <a:t>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s con tal de </a:t>
                </a:r>
                <a:r>
                  <a:rPr lang="es-ES_tradnl" dirty="0">
                    <a:solidFill>
                      <a:srgbClr val="00B050"/>
                    </a:solidFill>
                  </a:rPr>
                  <a:t>bajar drásticamente</a:t>
                </a:r>
                <a:r>
                  <a:rPr lang="es-ES_tradnl" dirty="0"/>
                  <a:t> la varianza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761C2C-6857-3471-21A7-E9DF84941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689" r="-293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56E9C-D367-3FFB-2BD1-AD6AB4EA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3DE359C-4DF8-F898-02FE-E3CB54631D67}"/>
              </a:ext>
            </a:extLst>
          </p:cNvPr>
          <p:cNvGrpSpPr/>
          <p:nvPr/>
        </p:nvGrpSpPr>
        <p:grpSpPr>
          <a:xfrm>
            <a:off x="6172202" y="1214170"/>
            <a:ext cx="5516874" cy="4970935"/>
            <a:chOff x="6675126" y="1266521"/>
            <a:chExt cx="5516874" cy="497093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1E22E73-5D92-674B-6E30-2EA13D607FBC}"/>
                </a:ext>
              </a:extLst>
            </p:cNvPr>
            <p:cNvCxnSpPr/>
            <p:nvPr/>
          </p:nvCxnSpPr>
          <p:spPr>
            <a:xfrm>
              <a:off x="6675126" y="5539437"/>
              <a:ext cx="44500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67F1CBD-8C9B-0588-30E0-FFD0716763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5126" y="1591325"/>
              <a:ext cx="0" cy="39481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FAB9256-9FB9-AE8A-515B-41BC20A657F6}"/>
                </a:ext>
              </a:extLst>
            </p:cNvPr>
            <p:cNvSpPr/>
            <p:nvPr/>
          </p:nvSpPr>
          <p:spPr>
            <a:xfrm>
              <a:off x="6949446" y="1897077"/>
              <a:ext cx="3749040" cy="1584959"/>
            </a:xfrm>
            <a:custGeom>
              <a:avLst/>
              <a:gdLst>
                <a:gd name="connsiteX0" fmla="*/ 0 w 3749040"/>
                <a:gd name="connsiteY0" fmla="*/ 0 h 1829151"/>
                <a:gd name="connsiteX1" fmla="*/ 1783080 w 3749040"/>
                <a:gd name="connsiteY1" fmla="*/ 1828800 h 1829151"/>
                <a:gd name="connsiteX2" fmla="*/ 3749040 w 3749040"/>
                <a:gd name="connsiteY2" fmla="*/ 121920 h 18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040" h="1829151">
                  <a:moveTo>
                    <a:pt x="0" y="0"/>
                  </a:moveTo>
                  <a:cubicBezTo>
                    <a:pt x="579120" y="904240"/>
                    <a:pt x="1158240" y="1808480"/>
                    <a:pt x="1783080" y="1828800"/>
                  </a:cubicBezTo>
                  <a:cubicBezTo>
                    <a:pt x="2407920" y="1849120"/>
                    <a:pt x="3078480" y="985520"/>
                    <a:pt x="3749040" y="12192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BB02A1D-874C-0594-3301-F72895024F89}"/>
                </a:ext>
              </a:extLst>
            </p:cNvPr>
            <p:cNvSpPr/>
            <p:nvPr/>
          </p:nvSpPr>
          <p:spPr>
            <a:xfrm>
              <a:off x="6949446" y="3482036"/>
              <a:ext cx="4053835" cy="1615442"/>
            </a:xfrm>
            <a:custGeom>
              <a:avLst/>
              <a:gdLst>
                <a:gd name="connsiteX0" fmla="*/ 0 w 4373880"/>
                <a:gd name="connsiteY0" fmla="*/ 0 h 3517945"/>
                <a:gd name="connsiteX1" fmla="*/ 1859280 w 4373880"/>
                <a:gd name="connsiteY1" fmla="*/ 3078480 h 3517945"/>
                <a:gd name="connsiteX2" fmla="*/ 4373880 w 4373880"/>
                <a:gd name="connsiteY2" fmla="*/ 3429000 h 35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3880" h="3517945">
                  <a:moveTo>
                    <a:pt x="0" y="0"/>
                  </a:moveTo>
                  <a:cubicBezTo>
                    <a:pt x="565150" y="1253490"/>
                    <a:pt x="1130300" y="2506980"/>
                    <a:pt x="1859280" y="3078480"/>
                  </a:cubicBezTo>
                  <a:cubicBezTo>
                    <a:pt x="2588260" y="3649980"/>
                    <a:pt x="3481070" y="3539490"/>
                    <a:pt x="4373880" y="342900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65FC491-2C69-DE17-C354-3BE8B2766B20}"/>
                </a:ext>
              </a:extLst>
            </p:cNvPr>
            <p:cNvSpPr/>
            <p:nvPr/>
          </p:nvSpPr>
          <p:spPr>
            <a:xfrm>
              <a:off x="6987556" y="3482036"/>
              <a:ext cx="3749035" cy="1688456"/>
            </a:xfrm>
            <a:custGeom>
              <a:avLst/>
              <a:gdLst>
                <a:gd name="connsiteX0" fmla="*/ 0 w 3810000"/>
                <a:gd name="connsiteY0" fmla="*/ 2971800 h 2983857"/>
                <a:gd name="connsiteX1" fmla="*/ 1752600 w 3810000"/>
                <a:gd name="connsiteY1" fmla="*/ 2529840 h 2983857"/>
                <a:gd name="connsiteX2" fmla="*/ 3810000 w 3810000"/>
                <a:gd name="connsiteY2" fmla="*/ 0 h 298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0" h="2983857">
                  <a:moveTo>
                    <a:pt x="0" y="2971800"/>
                  </a:moveTo>
                  <a:cubicBezTo>
                    <a:pt x="558800" y="2998470"/>
                    <a:pt x="1117600" y="3025140"/>
                    <a:pt x="1752600" y="2529840"/>
                  </a:cubicBezTo>
                  <a:cubicBezTo>
                    <a:pt x="2387600" y="2034540"/>
                    <a:pt x="3098800" y="1017270"/>
                    <a:pt x="381000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175AA9-4BAB-6729-A79B-6FA1C4DB37E8}"/>
                </a:ext>
              </a:extLst>
            </p:cNvPr>
            <p:cNvSpPr txBox="1"/>
            <p:nvPr/>
          </p:nvSpPr>
          <p:spPr>
            <a:xfrm>
              <a:off x="9982201" y="5714236"/>
              <a:ext cx="20421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Complejidad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C8CD32-6A65-EF95-EA0F-D69F5E9B9FA8}"/>
                </a:ext>
              </a:extLst>
            </p:cNvPr>
            <p:cNvSpPr txBox="1"/>
            <p:nvPr/>
          </p:nvSpPr>
          <p:spPr>
            <a:xfrm>
              <a:off x="6705608" y="1266521"/>
              <a:ext cx="123443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247831-5391-4F81-AADC-2D09C60C7154}"/>
                    </a:ext>
                  </a:extLst>
                </p:cNvPr>
                <p:cNvSpPr txBox="1"/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s-ES_tradnl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247831-5391-4F81-AADC-2D09C60C71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blipFill>
                  <a:blip r:embed="rId4"/>
                  <a:stretch>
                    <a:fillRect t="-4348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1F15D18-C962-F692-0B53-148962D9AD5C}"/>
                    </a:ext>
                  </a:extLst>
                </p:cNvPr>
                <p:cNvSpPr txBox="1"/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s-ES_tradnl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1F15D18-C962-F692-0B53-148962D9A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blipFill>
                  <a:blip r:embed="rId5"/>
                  <a:stretch>
                    <a:fillRect t="-6383" b="-1276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D565A3F-1D21-AE35-F29A-D9AB52AEE5CE}"/>
                    </a:ext>
                  </a:extLst>
                </p:cNvPr>
                <p:cNvSpPr txBox="1"/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𝑆𝑒𝑠𝑔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s-ES_tradnl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D565A3F-1D21-AE35-F29A-D9AB52AEE5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blipFill>
                  <a:blip r:embed="rId6"/>
                  <a:stretch>
                    <a:fillRect t="-6383" b="-1276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9351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Regularización I: Ridge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6.2.1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67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3BB90-F0BD-14EA-120C-FE0FD186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9C77A53-FDE1-9853-2EC1-C60265FA26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ES_tradnl" dirty="0"/>
                  <a:t>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s-ES_tradnl" dirty="0"/>
                  <a:t> dado, consideremos la siguiente función objetivo a minimizar: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(el primer coeficiente corresponde al intercepto)</a:t>
                </a:r>
              </a:p>
              <a:p>
                <a:r>
                  <a:rPr lang="es-ES_tradnl" dirty="0"/>
                  <a:t>¿Si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?</a:t>
                </a:r>
              </a:p>
              <a:p>
                <a:r>
                  <a:rPr lang="es-ES_tradnl" dirty="0"/>
                  <a:t>¿Si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s-ES_tradnl" dirty="0"/>
                  <a:t>?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s-ES_tradnl" dirty="0"/>
                  <a:t> penaliza el ajuste</a:t>
                </a:r>
              </a:p>
              <a:p>
                <a:r>
                  <a:rPr lang="es-ES_tradnl" dirty="0"/>
                  <a:t>¿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?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9C77A53-FDE1-9853-2EC1-C60265FA26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19" t="-20930" b="-2209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A8B5FA-76D0-9FF8-BFB6-84073FAC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014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Caso simple 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 predictor, normalizado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Un solo predictor, un solo coeficiente</a:t>
                </a:r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Predictor estandarizado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En este caso, el estimador de MCO es: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𝑀𝐶𝑂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36047" b="-5436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B297B-C9D3-58DF-01A6-937F89F4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5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4917-EB47-DD94-600B-751A92253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Caso simple II: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 predictor, normalizado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6AF20-3F7F-C786-CD1F-3C6C682880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ES_tradnl" dirty="0"/>
                  <a:t>FOC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0" smtClean="0">
                          <a:latin typeface="Cambria Math" panose="02040503050406030204" pitchFamily="18" charset="0"/>
                        </a:rPr>
                        <m:t>−2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+2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Despejando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Solución es siempre </a:t>
                </a:r>
                <a:r>
                  <a:rPr lang="es-ES_tradnl" i="1" dirty="0"/>
                  <a:t>interior</a:t>
                </a:r>
                <a:r>
                  <a:rPr lang="es-ES_tradnl" dirty="0"/>
                  <a:t> </a:t>
                </a:r>
              </a:p>
              <a:p>
                <a:r>
                  <a:rPr lang="es-ES_tradnl" dirty="0"/>
                  <a:t>Solución “</a:t>
                </a:r>
                <a:r>
                  <a:rPr lang="es-ES_tradnl" dirty="0">
                    <a:solidFill>
                      <a:srgbClr val="00B050"/>
                    </a:solidFill>
                  </a:rPr>
                  <a:t>corrida hacia cero</a:t>
                </a:r>
                <a:r>
                  <a:rPr lang="es-ES_tradnl" dirty="0"/>
                  <a:t>” con respecto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r>
                  <a:rPr lang="es-ES_tradnl" dirty="0"/>
                  <a:t> (</a:t>
                </a:r>
                <a:r>
                  <a:rPr lang="es-ES_tradnl" i="1" dirty="0"/>
                  <a:t>Shrinkage/regularización</a:t>
                </a:r>
                <a:r>
                  <a:rPr lang="es-ES_tradnl" dirty="0"/>
                  <a:t>)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6AF20-3F7F-C786-CD1F-3C6C682880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5756" r="-362" b="-3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BEE34-2C67-0477-7AD1-E12DC84B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1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6050C-CAB0-03C6-974E-D22D1AB0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/>
              <a:t>Comparación de Métodos:</a:t>
            </a:r>
            <a:br>
              <a:rPr lang="es-ES_tradnl" dirty="0"/>
            </a:b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Bajo los supuestos clásicos con un predictor normalizado</a:t>
            </a:r>
            <a:endParaRPr lang="es-ES_trad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FB308-0ACD-D34E-BEF9-1A5F94D9C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es-ES_tradnl" sz="3600" dirty="0"/>
              <a:t>MCO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5FC362F-8651-1BDE-E14F-BB60B66F1C7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b="0" dirty="0"/>
                  <a:t>Insesgado: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𝑀𝐶𝑂</m:t>
                            </m:r>
                          </m:sub>
                        </m:sSub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Varianza: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b>
                          </m:sSub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Error Cuadrático Medio: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𝐶𝑀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b>
                          </m:sSub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5FC362F-8651-1BDE-E14F-BB60B66F1C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57" t="-24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F49FAD-B7B6-7BF3-8CA6-1F05023F7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r>
              <a:rPr lang="es-ES_tradnl" sz="3600" dirty="0"/>
              <a:t>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F1617AD-4580-E0E1-0429-64642F8CBB1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/>
                  <a:t>S</a:t>
                </a:r>
                <a:r>
                  <a:rPr lang="es-ES_tradnl" b="0" dirty="0"/>
                  <a:t>esgado: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s-ES_tradnl" dirty="0"/>
              </a:p>
              <a:p>
                <a:r>
                  <a:rPr lang="es-ES_tradnl" dirty="0"/>
                  <a:t>Menor Varianza: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Error Cuadrático Medio: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sz="2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𝐶𝑀</m:t>
                      </m:r>
                      <m:d>
                        <m:dPr>
                          <m:ctrlPr>
                            <a:rPr lang="es-ES_tradnl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6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s-ES_tradnl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ES_tradnl" sz="2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_tradnl" sz="2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num>
                                <m:den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_tradnl" sz="26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F1617AD-4580-E0E1-0429-64642F8CBB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445" t="-68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AD9D02-F2DB-D77F-3317-6240F9B22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6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9D97-C0FF-341C-2E0A-68E2391A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/>
              <a:t>Comparación de Métodos (</a:t>
            </a:r>
            <a:r>
              <a:rPr lang="es-ES_tradnl" i="1" dirty="0"/>
              <a:t>continua</a:t>
            </a:r>
            <a:r>
              <a:rPr lang="es-ES_tradnl" dirty="0"/>
              <a:t>):</a:t>
            </a:r>
            <a:br>
              <a:rPr lang="es-ES_tradnl" dirty="0"/>
            </a:b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Bajo los supuestos clásicos con un predictor normalizado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F70401-4842-1F0F-5B9C-F348D4AE1C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¿Quién predice mejor?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𝐶𝑀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_tradnl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𝐶𝑀</m:t>
                      </m:r>
                      <m:d>
                        <m:d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 suficiente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para que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𝐶𝑀</m:t>
                    </m:r>
                    <m:d>
                      <m:d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𝑀𝐶𝑂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𝐶𝑀</m:t>
                    </m:r>
                    <m:d>
                      <m:d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Para todo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, existe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/>
                  <a:t> de modo que Ridge le “gana” a MCO.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En este caso, es posible derivar una condición necesaria y suficiente. Pero no es generalizable al caso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variables (</a:t>
                </a:r>
                <a:r>
                  <a:rPr lang="es-ES_tradnl" sz="3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Theobald, 1974</a:t>
                </a:r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F70401-4842-1F0F-5B9C-F348D4AE1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872" r="-6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D759E-A9E0-1153-729F-9C0858F4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01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F1C9-899D-4B82-13FA-4D032A94E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Comentarios técnicos &amp; Consideraciones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740F8-2AD9-AC39-89E8-23C5DB7182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Usar con datos previamente </a:t>
                </a:r>
                <a:r>
                  <a:rPr lang="es-ES_tradnl" dirty="0">
                    <a:solidFill>
                      <a:srgbClr val="002060"/>
                    </a:solidFill>
                  </a:rPr>
                  <a:t>estandarizados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b="1" dirty="0">
                    <a:solidFill>
                      <a:srgbClr val="7030A0"/>
                    </a:solidFill>
                  </a:rPr>
                  <a:t>Resultado</a:t>
                </a:r>
                <a:r>
                  <a:rPr lang="es-ES_tradnl" dirty="0">
                    <a:solidFill>
                      <a:srgbClr val="00206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es </a:t>
                </a:r>
                <a:r>
                  <a:rPr lang="es-ES_tradnl" dirty="0" err="1"/>
                  <a:t>equivarianza</a:t>
                </a:r>
                <a:r>
                  <a:rPr lang="es-ES_tradnl" dirty="0"/>
                  <a:t> de escala (</a:t>
                </a:r>
                <a:r>
                  <a:rPr lang="es-ES_tradnl" i="1" dirty="0" err="1"/>
                  <a:t>scale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equivariance</a:t>
                </a:r>
                <a:r>
                  <a:rPr lang="es-ES_tradnl" dirty="0"/>
                  <a:t>).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Probar que si multiplicamos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por una constante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chemeClr val="accent2"/>
                    </a:solidFill>
                  </a:rPr>
                  <a:t>Aclaración práctica</a:t>
                </a:r>
                <a:r>
                  <a:rPr lang="es-ES_tradnl" dirty="0"/>
                  <a:t>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En tutorial, hay variables dummies y se estandarizan -&gt; función </a:t>
                </a:r>
                <a:r>
                  <a:rPr lang="es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StandardScaler</a:t>
                </a:r>
                <a:r>
                  <a:rPr lang="es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US" dirty="0">
                    <a:solidFill>
                      <a:srgbClr val="002060"/>
                    </a:solidFill>
                  </a:rPr>
                  <a:t>En la practica (TPs</a:t>
                </a:r>
                <a:r>
                  <a:rPr lang="es-US" dirty="0"/>
                  <a:t>): </a:t>
                </a:r>
                <a:r>
                  <a:rPr lang="es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StandardScaler</a:t>
                </a:r>
                <a:r>
                  <a:rPr lang="es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</a:t>
                </a:r>
                <a:r>
                  <a:rPr lang="es-US" dirty="0"/>
                  <a:t>solo para las variables numéricas y dejar las variables dummies (con 0s y 1s)</a:t>
                </a: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740F8-2AD9-AC39-89E8-23C5DB7182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1FCB8-2E9E-803E-9716-17FC82DC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16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Regularización II: LASSO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6.2.2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43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LASSO: </a:t>
            </a:r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Least Absolute Shrinkage and Selection Operator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s-ES_tradnl" dirty="0"/>
                  <a:t> dado, consideremos la siguiente función objetivo a minimizar: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(el primer coeficiente corresponde al intercepto)</a:t>
                </a:r>
              </a:p>
              <a:p>
                <a:r>
                  <a:rPr lang="es-ES_tradnl" dirty="0"/>
                  <a:t>Las intuiciones coinciden con Ridge, pero el problema es completamente </a:t>
                </a:r>
                <a:r>
                  <a:rPr lang="es-ES_tradnl" dirty="0">
                    <a:solidFill>
                      <a:srgbClr val="002060"/>
                    </a:solidFill>
                  </a:rPr>
                  <a:t>diferente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68" t="-18314" b="-61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ED606-8EB0-E87B-CF5B-FB9A06DB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9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LASSO (</a:t>
            </a:r>
            <a:r>
              <a:rPr lang="es-ES_tradnl" i="1" dirty="0"/>
              <a:t>continua</a:t>
            </a:r>
            <a:r>
              <a:rPr lang="es-ES_tradn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es una función </a:t>
                </a:r>
                <a:r>
                  <a:rPr lang="es-ES_tradnl" dirty="0">
                    <a:solidFill>
                      <a:srgbClr val="FF0000"/>
                    </a:solidFill>
                  </a:rPr>
                  <a:t>no diferenciable</a:t>
                </a:r>
                <a:r>
                  <a:rPr lang="es-ES_tradnl" dirty="0"/>
                  <a:t>.</a:t>
                </a:r>
                <a:endParaRPr lang="es-ES_tradnl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LASSO</a:t>
                </a:r>
                <a:r>
                  <a:rPr lang="es-ES_tradnl" dirty="0"/>
                  <a:t>: automáticamente </a:t>
                </a:r>
                <a:r>
                  <a:rPr lang="es-ES_tradnl" dirty="0">
                    <a:solidFill>
                      <a:srgbClr val="002060"/>
                    </a:solidFill>
                  </a:rPr>
                  <a:t>elige</a:t>
                </a:r>
                <a:r>
                  <a:rPr lang="es-ES_tradnl" dirty="0"/>
                  <a:t> que variables entran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s-ES_tradnl" dirty="0"/>
                  <a:t>) y cuales no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¿Por qué? Coeficientes anulados como ‘soluciones de esquina’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942" r="-844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24360-6B32-E6BE-57A1-8A6480EB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0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Solución esquina: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 predictor, normalizado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𝜆𝛽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≥0 </m:t>
                              </m:r>
                            </m:e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𝜆𝛽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   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No diferenciable 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Cuadrática y diferenciable 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0814" b="-1947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C6AF8-7918-99BA-F5DB-436F08CC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2E65CE-3653-8912-0E4D-181B4B3D80C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sz="4000" dirty="0"/>
                  <a:t>Visualización de escenarios posibles con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sz="4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ES_tradnl" sz="4000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2E65CE-3653-8912-0E4D-181B4B3D8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6588D3A9-30C8-A04D-EBE8-BFCD956EE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260852" y="1576387"/>
            <a:ext cx="6845300" cy="481218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62484B-FBC5-D5FA-6105-B8AE0855BCF9}"/>
                  </a:ext>
                </a:extLst>
              </p:cNvPr>
              <p:cNvSpPr txBox="1"/>
              <p:nvPr/>
            </p:nvSpPr>
            <p:spPr>
              <a:xfrm>
                <a:off x="442877" y="2713866"/>
                <a:ext cx="3635854" cy="2381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s-ES_tradnl" sz="2400" dirty="0"/>
              </a:p>
              <a:p>
                <a:endParaRPr lang="es-ES_tradnl" sz="2400" dirty="0">
                  <a:latin typeface="Gill Sans Nova Light" panose="020B030202010402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_tradnl" sz="2400" dirty="0">
                    <a:latin typeface="Gill Sans Nova Light" panose="020B0302020104020203" pitchFamily="34" charset="0"/>
                  </a:rPr>
                  <a:t>Solución interior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_tradnl" sz="2400" dirty="0">
                    <a:latin typeface="Gill Sans Nova Light" panose="020B0302020104020203" pitchFamily="34" charset="0"/>
                  </a:rPr>
                  <a:t>Solución esquina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sz="2400" dirty="0">
                    <a:latin typeface="Gill Sans Nova Light" panose="020B0302020104020203" pitchFamily="34" charset="0"/>
                  </a:rPr>
                  <a:t> </a:t>
                </a:r>
              </a:p>
              <a:p>
                <a:endParaRPr lang="es-ES_tradnl" sz="2400" dirty="0">
                  <a:latin typeface="Gill Sans Nova Light" panose="020B0302020104020203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62484B-FBC5-D5FA-6105-B8AE0855B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77" y="2713866"/>
                <a:ext cx="3635854" cy="2381293"/>
              </a:xfrm>
              <a:prstGeom prst="rect">
                <a:avLst/>
              </a:prstGeom>
              <a:blipFill>
                <a:blip r:embed="rId5"/>
                <a:stretch>
                  <a:fillRect l="-243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05A7C39-76FF-2DE4-435E-47BBB538FAB1}"/>
              </a:ext>
            </a:extLst>
          </p:cNvPr>
          <p:cNvSpPr txBox="1"/>
          <p:nvPr/>
        </p:nvSpPr>
        <p:spPr>
          <a:xfrm>
            <a:off x="4394201" y="632359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WSE(2021)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E90D06-BC72-7C92-8FA9-575AE9FF6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734E5C-EBC3-365E-C1F6-DACCD5C31894}"/>
                  </a:ext>
                </a:extLst>
              </p:cNvPr>
              <p:cNvSpPr txBox="1"/>
              <p:nvPr/>
            </p:nvSpPr>
            <p:spPr>
              <a:xfrm>
                <a:off x="4847755" y="4935195"/>
                <a:ext cx="2248487" cy="5986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subSup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𝜆𝛽</m:t>
                      </m:r>
                    </m:oMath>
                  </m:oMathPara>
                </a14:m>
                <a:endParaRPr lang="es-ES_tradnl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734E5C-EBC3-365E-C1F6-DACCD5C31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755" y="4935195"/>
                <a:ext cx="2248487" cy="598647"/>
              </a:xfrm>
              <a:prstGeom prst="rect">
                <a:avLst/>
              </a:prstGeom>
              <a:blipFill>
                <a:blip r:embed="rId6"/>
                <a:stretch>
                  <a:fillRect l="-28492" t="-140816" b="-20408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9F9BC6-121E-D722-15A1-BC3211E44F83}"/>
                  </a:ext>
                </a:extLst>
              </p:cNvPr>
              <p:cNvSpPr txBox="1"/>
              <p:nvPr/>
            </p:nvSpPr>
            <p:spPr>
              <a:xfrm>
                <a:off x="7344246" y="4941199"/>
                <a:ext cx="2532707" cy="576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subSup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𝜆𝛽</m:t>
                      </m:r>
                    </m:oMath>
                  </m:oMathPara>
                </a14:m>
                <a:endParaRPr lang="es-ES_tradnl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9F9BC6-121E-D722-15A1-BC3211E44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246" y="4941199"/>
                <a:ext cx="2532707" cy="576054"/>
              </a:xfrm>
              <a:prstGeom prst="rect">
                <a:avLst/>
              </a:prstGeom>
              <a:blipFill>
                <a:blip r:embed="rId7"/>
                <a:stretch>
                  <a:fillRect l="-19802" t="-146809" b="-219149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D26C65-D114-FC42-E159-B42383DD8E8F}"/>
                  </a:ext>
                </a:extLst>
              </p:cNvPr>
              <p:cNvSpPr txBox="1"/>
              <p:nvPr/>
            </p:nvSpPr>
            <p:spPr>
              <a:xfrm>
                <a:off x="3295648" y="1787222"/>
                <a:ext cx="12128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s-ES_tradnl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D26C65-D114-FC42-E159-B42383DD8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648" y="1787222"/>
                <a:ext cx="1212852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47FF9CC-3320-17C0-31F9-D574C5D75A60}"/>
              </a:ext>
            </a:extLst>
          </p:cNvPr>
          <p:cNvSpPr txBox="1"/>
          <p:nvPr/>
        </p:nvSpPr>
        <p:spPr>
          <a:xfrm>
            <a:off x="2726267" y="19168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1B0153-77F4-367E-F0FE-DA2072633BC3}"/>
              </a:ext>
            </a:extLst>
          </p:cNvPr>
          <p:cNvSpPr/>
          <p:nvPr/>
        </p:nvSpPr>
        <p:spPr>
          <a:xfrm>
            <a:off x="6858000" y="3982480"/>
            <a:ext cx="626533" cy="5893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3E110E-AD61-61FE-51BE-D98A2195F427}"/>
              </a:ext>
            </a:extLst>
          </p:cNvPr>
          <p:cNvSpPr/>
          <p:nvPr/>
        </p:nvSpPr>
        <p:spPr>
          <a:xfrm rot="823857">
            <a:off x="7924666" y="4303422"/>
            <a:ext cx="1892887" cy="72839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8127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4055-51F6-CB70-063D-5660896C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Formalmente: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Solución esquina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ES_tradnl" dirty="0"/>
                  <a:t>Recuerden para el caso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  <m:sup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ES_trad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𝜆𝛽</m:t>
                    </m:r>
                  </m:oMath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num>
                        <m:den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s-ES_tradnl" b="0" i="0" smtClean="0">
                          <a:latin typeface="Cambria Math" panose="02040503050406030204" pitchFamily="18" charset="0"/>
                        </a:rPr>
                        <m:t>=−2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𝛽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0" smtClean="0">
                          <a:latin typeface="Cambria Math" panose="02040503050406030204" pitchFamily="18" charset="0"/>
                        </a:rPr>
                        <m:t>=−2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≥2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s-ES_tradnl" dirty="0"/>
                  <a:t>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>
                    <a:latin typeface="Gill Sans Nova Light" panose="020B0302020104020203" pitchFamily="34" charset="0"/>
                  </a:rPr>
                  <a:t> 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18895" b="-311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C37DB-3F29-23DE-B0A5-F517058E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7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EA1-43B9-289B-6E00-41311F6C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Formalmente: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Solución interior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&lt;2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s-ES_tradnl" dirty="0"/>
                  <a:t>, la solución es </a:t>
                </a:r>
                <a:r>
                  <a:rPr lang="es-ES_tradnl" i="1" dirty="0"/>
                  <a:t>interior</a:t>
                </a:r>
                <a:r>
                  <a:rPr lang="es-ES_tradnl" dirty="0"/>
                  <a:t>.</a:t>
                </a:r>
              </a:p>
              <a:p>
                <a:r>
                  <a:rPr lang="es-ES_tradnl" dirty="0"/>
                  <a:t>De las condiciones de primer orden de MCO: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0" smtClean="0">
                          <a:latin typeface="Cambria Math" panose="02040503050406030204" pitchFamily="18" charset="0"/>
                        </a:rPr>
                        <m:t>−2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_tradnl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𝑀𝐶𝑂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_tradnl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FF0000"/>
                    </a:solidFill>
                  </a:rPr>
                  <a:t>Regularización</a:t>
                </a:r>
                <a:r>
                  <a:rPr lang="es-ES_tradnl" dirty="0"/>
                  <a:t> (</a:t>
                </a:r>
                <a:r>
                  <a:rPr lang="es-ES_tradnl" i="1" dirty="0" err="1"/>
                  <a:t>Shrinkage</a:t>
                </a:r>
                <a:r>
                  <a:rPr lang="es-ES_tradnl" dirty="0"/>
                  <a:t>): la solución esta corrida hacia cero con respecto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endParaRPr lang="es-ES_tradnl" dirty="0"/>
              </a:p>
              <a:p>
                <a:r>
                  <a:rPr lang="es-ES_tradnl" dirty="0"/>
                  <a:t>El caso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es completamente simétrico 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151" r="-1689" b="-959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07A25-43CD-5B4F-5337-4927E245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4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26E3-4AED-B53B-D2B4-443B98FC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Intuiciones para Economistas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06A97-CBDB-36BC-ED29-F868E827D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0      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𝑀𝐶𝑂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≤2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¿Intuición? En 0 el costo por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sube y el de ajuste baja.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uno sube más rápido que lo que el termino de ajuste baja, entonces conviene quedarse en cero.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En caso contrario conviene moverse afuera de cero.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Moverse de cero si la relación es lo </a:t>
                </a:r>
                <a:r>
                  <a:rPr lang="es-ES_tradnl" dirty="0">
                    <a:solidFill>
                      <a:srgbClr val="002060"/>
                    </a:solidFill>
                  </a:rPr>
                  <a:t>suficientemente fuerte</a:t>
                </a:r>
                <a:r>
                  <a:rPr lang="es-ES_tradnl" dirty="0"/>
                  <a:t>, para evitar la penalización.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06A97-CBDB-36BC-ED29-F868E827D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744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EF798-F215-8655-FF42-D61C227D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92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C8D96-1C2E-B421-E49A-CB15435E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7753-4006-481A-D62A-625CCD62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Consideraciones: Objetivos &amp; en la Práctica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423BD-F2F5-0672-80BC-D97605C5D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Predicción</a:t>
                </a:r>
                <a:r>
                  <a:rPr lang="es-ES_tradnl" i="1" dirty="0"/>
                  <a:t>:</a:t>
                </a:r>
                <a:r>
                  <a:rPr lang="es-ES_tradnl" dirty="0"/>
                  <a:t> Minimizar error de pronóstico (Ridge, LASSO)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Dimensionalidad</a:t>
                </a:r>
                <a:r>
                  <a:rPr lang="es-ES_tradnl" i="1" dirty="0"/>
                  <a:t>:</a:t>
                </a:r>
                <a:r>
                  <a:rPr lang="es-ES_tradnl" dirty="0"/>
                  <a:t> reducir el espacio de los predictores (LASSO)</a:t>
                </a:r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En la </a:t>
                </a:r>
                <a:r>
                  <a:rPr lang="es-ES_tradnl" dirty="0">
                    <a:solidFill>
                      <a:srgbClr val="002060"/>
                    </a:solidFill>
                  </a:rPr>
                  <a:t>práctica</a:t>
                </a:r>
                <a:r>
                  <a:rPr lang="es-ES_tradnl" dirty="0"/>
                  <a:t>: Ridge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s-ES_tradnl" dirty="0"/>
                  <a:t> LASSO</a:t>
                </a:r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Problema adicional</a:t>
                </a:r>
                <a:r>
                  <a:rPr lang="es-ES_tradnl" i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i="1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Ridge y LASSO </a:t>
                </a:r>
                <a:r>
                  <a:rPr lang="es-ES_tradnl" dirty="0">
                    <a:solidFill>
                      <a:srgbClr val="00B050"/>
                    </a:solidFill>
                  </a:rPr>
                  <a:t>funcionan</a:t>
                </a:r>
                <a:r>
                  <a:rPr lang="es-ES_tradnl" dirty="0"/>
                  <a:t> 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423BD-F2F5-0672-80BC-D97605C5D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r="-1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376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BCE4-F21A-7F69-B70D-2748561C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C5C0A-17AC-DDEE-8FB4-5551A5A9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Problemas en la práctica con LASSO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BAC54-1C76-E9BF-2972-E75D8F56A3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Elige como </a:t>
                </a:r>
                <a:r>
                  <a:rPr lang="es-ES_tradnl" dirty="0">
                    <a:solidFill>
                      <a:srgbClr val="002060"/>
                    </a:solidFill>
                  </a:rPr>
                  <a:t>máximo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variables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Ridge no tiene este problema cuando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(ver </a:t>
                </a:r>
                <a:r>
                  <a:rPr lang="es-ES_tradnl" dirty="0">
                    <a:hlinkClick r:id="rId2" action="ppaction://hlinksldjump"/>
                  </a:rPr>
                  <a:t>Apéndice</a:t>
                </a:r>
                <a:r>
                  <a:rPr lang="es-ES_tradnl" dirty="0"/>
                  <a:t>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Si hay </a:t>
                </a:r>
                <a:r>
                  <a:rPr lang="es-ES_tradnl" dirty="0">
                    <a:solidFill>
                      <a:srgbClr val="FF0000"/>
                    </a:solidFill>
                  </a:rPr>
                  <a:t>alta multicolinealidad</a:t>
                </a:r>
                <a:r>
                  <a:rPr lang="es-ES_tradnl" dirty="0"/>
                  <a:t> entre predictores, elije una sola arbitrariamente.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LASSO </a:t>
                </a:r>
                <a:r>
                  <a:rPr lang="es-ES_tradnl" dirty="0">
                    <a:solidFill>
                      <a:srgbClr val="FF0000"/>
                    </a:solidFill>
                  </a:rPr>
                  <a:t>más inestable </a:t>
                </a:r>
                <a:r>
                  <a:rPr lang="es-ES_tradnl" dirty="0"/>
                  <a:t>para la predicción.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Ridge </a:t>
                </a:r>
                <a:r>
                  <a:rPr lang="es-ES_tradnl" dirty="0">
                    <a:solidFill>
                      <a:srgbClr val="00B050"/>
                    </a:solidFill>
                  </a:rPr>
                  <a:t>mejor que </a:t>
                </a:r>
                <a:r>
                  <a:rPr lang="es-ES_tradnl" dirty="0"/>
                  <a:t>LASSO en términos de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s-ES_tradn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_tradnl" i="1" dirty="0">
                            <a:latin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Elastic net (solución)</a:t>
                </a:r>
                <a:r>
                  <a:rPr lang="es-ES_tradnl" dirty="0"/>
                  <a:t>: predice bien, reduce dimensionalidad, elige bien grupos de variables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BAC54-1C76-E9BF-2972-E75D8F56A3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r="-1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77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Regularización III: Elastic Net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Zou, H. y Hastie, T., 2005, Regularization and variable selection via the elastic net, </a:t>
            </a:r>
            <a:r>
              <a:rPr lang="en-US" i="1" dirty="0"/>
              <a:t>Journal of the Royal Statistical Society</a:t>
            </a:r>
            <a:r>
              <a:rPr lang="en-US" dirty="0"/>
              <a:t>, 67, 2, 301-320.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65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44B9-3C81-0A91-899E-19776929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Naive Elastic Net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8BA596-0E83-4881-12B1-C3DF4F112A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sz="1400" dirty="0"/>
              </a:p>
              <a:p>
                <a:pPr marL="0" indent="0">
                  <a:buNone/>
                </a:pPr>
                <a:endParaRPr lang="es-ES_tradnl" sz="1400" dirty="0"/>
              </a:p>
              <a:p>
                <a:r>
                  <a:rPr lang="es-ES_tradnl" dirty="0"/>
                  <a:t>Mezcla LASSO y Ridge</a:t>
                </a:r>
              </a:p>
              <a:p>
                <a:r>
                  <a:rPr lang="es-ES_tradnl" dirty="0"/>
                  <a:t>La parte de LASSO elige predictores</a:t>
                </a:r>
              </a:p>
              <a:p>
                <a:r>
                  <a:rPr lang="es-ES_tradnl" dirty="0"/>
                  <a:t>La convexidad estricta de la penalidad (Ridge) resuelve el problema de inestabilidad por agrupamiento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8BA596-0E83-4881-12B1-C3DF4F112A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383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824C0-3190-8FB8-8EA8-067C481E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45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6A82-4939-BF85-DEE9-4402B1C5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Naive Elastic Net: </a:t>
            </a:r>
            <a:br>
              <a:rPr lang="es-ES_tradnl" dirty="0"/>
            </a:b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Bajo el supuesto un predictor estandarizado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14664-BB38-CC3A-7F95-9BD32FD3FD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ES_tradnl" dirty="0"/>
                  <a:t> entonces</a:t>
                </a:r>
              </a:p>
              <a:p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𝑀𝐶𝑂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s-ES_tradnl" dirty="0"/>
                  <a:t> es la parte positiva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b="0" dirty="0"/>
                  <a:t>Decir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s-ES_tradnl" dirty="0"/>
                  <a:t> 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s-ES_tradnl" dirty="0"/>
                  <a:t> si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en caso contrario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14664-BB38-CC3A-7F95-9BD32FD3F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88B43-02BE-6987-737E-CABB565E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72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5FA6E-873C-035B-208A-067CEEAC6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Elastic Net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19E83-C654-8715-44CE-596B858C36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𝑛𝑒𝑛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Versión reescalada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elimina la </a:t>
                </a:r>
                <a:r>
                  <a:rPr lang="es-ES_tradnl" dirty="0">
                    <a:solidFill>
                      <a:srgbClr val="002060"/>
                    </a:solidFill>
                  </a:rPr>
                  <a:t>doble reducción </a:t>
                </a:r>
                <a:r>
                  <a:rPr lang="es-ES_tradnl" dirty="0"/>
                  <a:t>de Ridge y LASSO (demasiado sesgo)</a:t>
                </a:r>
              </a:p>
              <a:p>
                <a:r>
                  <a:rPr lang="es-ES_tradnl" dirty="0"/>
                  <a:t>Funciona mejor en la práctica que Ridge y LASSO bajo alta colinealidad </a:t>
                </a:r>
              </a:p>
              <a:p>
                <a:r>
                  <a:rPr lang="es-ES_tradnl" dirty="0"/>
                  <a:t>Elección de hiperparámetros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usando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cross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validation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bidimensional.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19E83-C654-8715-44CE-596B858C36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D35F6-8C14-8343-9B8D-05BDF3AA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5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98DB-3354-BDA2-CBB9-6A7CBF37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8888E2-339A-9541-1059-B32BF9214D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Elección de parámetro de penalidad (o </a:t>
                </a:r>
                <a:r>
                  <a:rPr lang="es-ES_tradnl" dirty="0" err="1"/>
                  <a:t>tuning</a:t>
                </a:r>
                <a:r>
                  <a:rPr lang="es-ES_tradnl" dirty="0"/>
                  <a:t>)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8888E2-339A-9541-1059-B32BF9214D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498" b="-1415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84D43-07FB-9FE5-D0DE-14ED6E2F9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Por </a:t>
            </a:r>
            <a:r>
              <a:rPr lang="en-US" b="1" dirty="0"/>
              <a:t>cross-validation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67A04-6A0F-4A38-2920-2A4AC11A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17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F6C9-66A3-1D9B-22A1-8C8FD229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I: Error de Cross-Validation para Ridge</a:t>
            </a:r>
          </a:p>
        </p:txBody>
      </p:sp>
      <p:pic>
        <p:nvPicPr>
          <p:cNvPr id="6" name="Content Placeholder 5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980EE7FC-BA78-96E6-4B64-37ADA5D06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707" y="1690688"/>
            <a:ext cx="10088585" cy="40616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8DD08-BAD7-6084-3A7A-D3C97D8A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B9293-D012-270E-A140-5E107315BBC7}"/>
              </a:ext>
            </a:extLst>
          </p:cNvPr>
          <p:cNvSpPr txBox="1"/>
          <p:nvPr/>
        </p:nvSpPr>
        <p:spPr>
          <a:xfrm>
            <a:off x="1051707" y="6017796"/>
            <a:ext cx="558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252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734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F6C9-66A3-1D9B-22A1-8C8FD229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II: Error de Cross-Validation para LASSO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8DD08-BAD7-6084-3A7A-D3C97D8A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B9293-D012-270E-A140-5E107315BBC7}"/>
              </a:ext>
            </a:extLst>
          </p:cNvPr>
          <p:cNvSpPr txBox="1"/>
          <p:nvPr/>
        </p:nvSpPr>
        <p:spPr>
          <a:xfrm>
            <a:off x="1051707" y="6017796"/>
            <a:ext cx="55184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252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pic>
        <p:nvPicPr>
          <p:cNvPr id="9" name="Content Placeholder 8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C9088274-AA63-6518-A40C-B54E26F6B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1707" y="1828536"/>
            <a:ext cx="9725820" cy="4189260"/>
          </a:xfrm>
        </p:spPr>
      </p:pic>
    </p:spTree>
    <p:extLst>
      <p:ext uri="{BB962C8B-B14F-4D97-AF65-F5344CB8AC3E}">
        <p14:creationId xmlns:p14="http://schemas.microsoft.com/office/powerpoint/2010/main" val="1464995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de modelos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6.2.2</a:t>
            </a:r>
          </a:p>
          <a:p>
            <a:r>
              <a:rPr lang="en-US" sz="18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3.4.3</a:t>
            </a:r>
          </a:p>
          <a:p>
            <a:r>
              <a:rPr lang="en-US" dirty="0" err="1"/>
              <a:t>Masini</a:t>
            </a:r>
            <a:r>
              <a:rPr lang="en-US" dirty="0"/>
              <a:t>, R. P., Medeiros, M. C., &amp; Mendes, E. F. (2023). Machine learning advances for time series forecasting. </a:t>
            </a:r>
            <a:r>
              <a:rPr lang="en-US" i="1" dirty="0"/>
              <a:t>Journal of economic surveys</a:t>
            </a:r>
            <a:r>
              <a:rPr lang="en-US" dirty="0"/>
              <a:t>, 37(1), 76-111.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36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717E1-7ABC-6E4F-518B-BC2B6071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de Regularización en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85D0BA-D19C-A3C7-AE6D-89E2DFEC3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ES_tradnl" dirty="0"/>
                  <a:t>Siguiendo a </a:t>
                </a:r>
                <a:r>
                  <a:rPr lang="es-ES_tradnl" dirty="0" err="1"/>
                  <a:t>Masini</a:t>
                </a:r>
                <a:r>
                  <a:rPr lang="es-ES_tradnl" dirty="0"/>
                  <a:t> et al (2021), los modelos de regresión penalizados son aquellos que minimizan el </a:t>
                </a:r>
                <a:r>
                  <a:rPr lang="es-ES_tradnl" dirty="0" err="1"/>
                  <a:t>lagrangiano</a:t>
                </a:r>
                <a:r>
                  <a:rPr lang="es-ES_tradnl" dirty="0"/>
                  <a:t> de la siguiente forma: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85D0BA-D19C-A3C7-AE6D-89E2DFEC3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11628" b="-1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AEAB4-9F6F-0266-DDAA-94F5C3021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50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37437-CA98-CB91-934F-4BB20346F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Funciones de Penalización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7E6C7-5CC2-DE82-C7F0-5133CDDB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DCD37E2-8758-902D-4CCB-C3EEE3A260C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553795" y="1439601"/>
              <a:ext cx="9084410" cy="4982464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680713">
                      <a:extLst>
                        <a:ext uri="{9D8B030D-6E8A-4147-A177-3AD203B41FA5}">
                          <a16:colId xmlns:a16="http://schemas.microsoft.com/office/drawing/2014/main" val="906787632"/>
                        </a:ext>
                      </a:extLst>
                    </a:gridCol>
                    <a:gridCol w="4399472">
                      <a:extLst>
                        <a:ext uri="{9D8B030D-6E8A-4147-A177-3AD203B41FA5}">
                          <a16:colId xmlns:a16="http://schemas.microsoft.com/office/drawing/2014/main" val="424416238"/>
                        </a:ext>
                      </a:extLst>
                    </a:gridCol>
                    <a:gridCol w="3004225">
                      <a:extLst>
                        <a:ext uri="{9D8B030D-6E8A-4147-A177-3AD203B41FA5}">
                          <a16:colId xmlns:a16="http://schemas.microsoft.com/office/drawing/2014/main" val="1035560395"/>
                        </a:ext>
                      </a:extLst>
                    </a:gridCol>
                  </a:tblGrid>
                  <a:tr h="431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Método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noProof="0" dirty="0">
                              <a:latin typeface="Gill Sans Nova Light" panose="020B0302020104020203" pitchFamily="34" charset="0"/>
                            </a:rPr>
                            <a:t>Penalidad</a:t>
                          </a:r>
                          <a:r>
                            <a:rPr lang="en-US" sz="24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oMath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Sesgo del coeficiente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6155876"/>
                      </a:ext>
                    </a:extLst>
                  </a:tr>
                  <a:tr h="9058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noProof="0" dirty="0">
                              <a:latin typeface="Gill Sans Nova Light" panose="020B0302020104020203" pitchFamily="34" charset="0"/>
                            </a:rPr>
                            <a:t>Stepwise selection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≠0</m:t>
                                        </m:r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&gt;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400" b="0" dirty="0">
                            <a:latin typeface="Gill Sans Nova Light" panose="020B0302020104020203" pitchFamily="34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42128"/>
                      </a:ext>
                    </a:extLst>
                  </a:tr>
                  <a:tr h="9058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LASSO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𝜷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signo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𝛽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1848720"/>
                      </a:ext>
                    </a:extLst>
                  </a:tr>
                  <a:tr h="9058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Ridge</a:t>
                          </a:r>
                        </a:p>
                        <a:p>
                          <a:pPr algn="ctr"/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𝜷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type m:val="lin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75831588"/>
                      </a:ext>
                    </a:extLst>
                  </a:tr>
                  <a:tr h="9058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Elastic Net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1−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dirty="0">
                              <a:latin typeface="Gill Sans Nova Light" panose="020B0302020104020203" pitchFamily="34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04671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DCD37E2-8758-902D-4CCB-C3EEE3A260C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12288870"/>
                  </p:ext>
                </p:extLst>
              </p:nvPr>
            </p:nvGraphicFramePr>
            <p:xfrm>
              <a:off x="1553795" y="1439601"/>
              <a:ext cx="9084410" cy="4982464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680713">
                      <a:extLst>
                        <a:ext uri="{9D8B030D-6E8A-4147-A177-3AD203B41FA5}">
                          <a16:colId xmlns:a16="http://schemas.microsoft.com/office/drawing/2014/main" val="906787632"/>
                        </a:ext>
                      </a:extLst>
                    </a:gridCol>
                    <a:gridCol w="4399472">
                      <a:extLst>
                        <a:ext uri="{9D8B030D-6E8A-4147-A177-3AD203B41FA5}">
                          <a16:colId xmlns:a16="http://schemas.microsoft.com/office/drawing/2014/main" val="424416238"/>
                        </a:ext>
                      </a:extLst>
                    </a:gridCol>
                    <a:gridCol w="3004225">
                      <a:extLst>
                        <a:ext uri="{9D8B030D-6E8A-4147-A177-3AD203B41FA5}">
                          <a16:colId xmlns:a16="http://schemas.microsoft.com/office/drawing/2014/main" val="103556039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Método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29" t="-161111" r="-68588" b="-1380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Sesgo del coeficiente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6155876"/>
                      </a:ext>
                    </a:extLst>
                  </a:tr>
                  <a:tr h="1131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noProof="0" dirty="0">
                              <a:latin typeface="Gill Sans Nova Light" panose="020B0302020104020203" pitchFamily="34" charset="0"/>
                            </a:rPr>
                            <a:t>Stepwise selection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329" t="-105618" r="-68588" b="-4584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532" t="-105618" r="-422" b="-4584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42128"/>
                      </a:ext>
                    </a:extLst>
                  </a:tr>
                  <a:tr h="1131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LASSO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329" t="-203333" r="-68588" b="-3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532" t="-203333" r="-422" b="-3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848720"/>
                      </a:ext>
                    </a:extLst>
                  </a:tr>
                  <a:tr h="113131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Ridge</a:t>
                          </a:r>
                        </a:p>
                        <a:p>
                          <a:pPr algn="ctr"/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329" t="-306742" r="-68588" b="-257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532" t="-306742" r="-422" b="-2573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5831588"/>
                      </a:ext>
                    </a:extLst>
                  </a:tr>
                  <a:tr h="1131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Elastic Net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329" t="-406742" r="-68588" b="-157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dirty="0">
                              <a:latin typeface="Gill Sans Nova Light" panose="020B0302020104020203" pitchFamily="34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04671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61885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37FE-8FB8-4349-A229-6DA7AC2E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0: Contorno y RSS </a:t>
            </a:r>
          </a:p>
        </p:txBody>
      </p:sp>
      <p:pic>
        <p:nvPicPr>
          <p:cNvPr id="6" name="Content Placeholder 5" descr="A diagram of a graph&#10;&#10;Description automatically generated">
            <a:extLst>
              <a:ext uri="{FF2B5EF4-FFF2-40B4-BE49-F238E27FC236}">
                <a16:creationId xmlns:a16="http://schemas.microsoft.com/office/drawing/2014/main" id="{DBD2D76A-B2D7-657E-5D7D-01E78E223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8528" y="1470212"/>
            <a:ext cx="9037368" cy="47067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96340-4FFD-653D-5547-BD092E0B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3FEFB-EEB5-CF2E-952B-797C07BA8C55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p.73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5895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9BED5-7863-C2DF-FED9-A28DC64E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I: Contorno de Coeficientes</a:t>
            </a:r>
          </a:p>
        </p:txBody>
      </p:sp>
      <p:pic>
        <p:nvPicPr>
          <p:cNvPr id="6" name="Content Placeholder 5" descr="A two circles with lines and circles&#10;&#10;Description automatically generated with medium confidence">
            <a:extLst>
              <a:ext uri="{FF2B5EF4-FFF2-40B4-BE49-F238E27FC236}">
                <a16:creationId xmlns:a16="http://schemas.microsoft.com/office/drawing/2014/main" id="{7E23CF7D-9E2A-8C3C-1228-3D8811107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8481" y="1426831"/>
            <a:ext cx="8415038" cy="49295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4F04F-7B17-81DA-275F-83F76E50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64088-6A90-F29E-2D48-679D3EFBBC29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247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EFB5CA-D199-E063-C196-8B72976CE650}"/>
                  </a:ext>
                </a:extLst>
              </p:cNvPr>
              <p:cNvSpPr txBox="1"/>
              <p:nvPr/>
            </p:nvSpPr>
            <p:spPr>
              <a:xfrm>
                <a:off x="-634793" y="4563064"/>
                <a:ext cx="39962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s-ES_tradnl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EFB5CA-D199-E063-C196-8B72976CE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4793" y="4563064"/>
                <a:ext cx="3996267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649EA8-2744-85CE-0E94-9C290726A9EA}"/>
                  </a:ext>
                </a:extLst>
              </p:cNvPr>
              <p:cNvSpPr txBox="1"/>
              <p:nvPr/>
            </p:nvSpPr>
            <p:spPr>
              <a:xfrm>
                <a:off x="7172220" y="4557293"/>
                <a:ext cx="3996267" cy="52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s-ES_tradnl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649EA8-2744-85CE-0E94-9C290726A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220" y="4557293"/>
                <a:ext cx="3996267" cy="528991"/>
              </a:xfrm>
              <a:prstGeom prst="rect">
                <a:avLst/>
              </a:prstGeom>
              <a:blipFill>
                <a:blip r:embed="rId4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141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7880-886D-3235-6280-A11B4367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II: Regularización para Ridge</a:t>
            </a:r>
          </a:p>
        </p:txBody>
      </p:sp>
      <p:pic>
        <p:nvPicPr>
          <p:cNvPr id="6" name="Content Placeholder 5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4D19760B-0240-B86D-5300-51FC141AF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9570" y="1520567"/>
            <a:ext cx="9512860" cy="459241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243C0-4806-A438-9EFE-F5D6CCF8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6E587-82D7-E921-C2F9-C1DF71913001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241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0769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7880-886D-3235-6280-A11B4367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III: Regularización para LASSO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243C0-4806-A438-9EFE-F5D6CCF8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6E587-82D7-E921-C2F9-C1DF71913001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245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pic>
        <p:nvPicPr>
          <p:cNvPr id="9" name="Content Placeholder 8" descr="A graph of a graph of a graph of a graph of a graph of a graph of a graph of a graph of a graph of a graph of a graph of a graph of a graph of&#10;&#10;Description automatically generated">
            <a:extLst>
              <a:ext uri="{FF2B5EF4-FFF2-40B4-BE49-F238E27FC236}">
                <a16:creationId xmlns:a16="http://schemas.microsoft.com/office/drawing/2014/main" id="{ABF94048-AAFE-EF4C-E409-D1482B7C3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4627" y="1618325"/>
            <a:ext cx="9742745" cy="4505001"/>
          </a:xfrm>
        </p:spPr>
      </p:pic>
    </p:spTree>
    <p:extLst>
      <p:ext uri="{BB962C8B-B14F-4D97-AF65-F5344CB8AC3E}">
        <p14:creationId xmlns:p14="http://schemas.microsoft.com/office/powerpoint/2010/main" val="679069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Repaso: Correlación versus Causalidad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Cunningham, S. (2021). </a:t>
            </a:r>
            <a:r>
              <a:rPr lang="en-US" i="1" dirty="0"/>
              <a:t>Causal inference: The mixtape</a:t>
            </a:r>
            <a:r>
              <a:rPr lang="en-US" dirty="0"/>
              <a:t>. Yale university press.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81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06AC-CBE1-156B-77F0-273CAAC78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Reiteramos la diferencia…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0F6109-6C2C-0FC0-71C1-15D47ED1E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s-ES_tradnl" sz="3200" dirty="0">
                <a:solidFill>
                  <a:srgbClr val="002060"/>
                </a:solidFill>
              </a:rPr>
              <a:t>Correlación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08EABAF-8A9E-C78D-8B74-CB1AE7394AA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Pregunta</a:t>
                </a:r>
                <a:r>
                  <a:rPr lang="es-ES_tradnl" dirty="0"/>
                  <a:t>: ¿Cómo se relacionan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?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Asociación</a:t>
                </a:r>
                <a:r>
                  <a:rPr lang="es-ES_tradnl" dirty="0"/>
                  <a:t> entre las dos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Estimación</a:t>
                </a:r>
                <a:r>
                  <a:rPr lang="es-ES_tradnl" dirty="0"/>
                  <a:t>: </a:t>
                </a:r>
              </a:p>
              <a:p>
                <a:pPr lvl="1"/>
                <a:r>
                  <a:rPr lang="es-ES_tradnl" dirty="0"/>
                  <a:t>Coeficiente de correlación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𝑀𝐶𝑂</m:t>
                        </m:r>
                      </m:sup>
                    </m:sSup>
                  </m:oMath>
                </a14:m>
                <a:endParaRPr lang="es-ES_tradnl" dirty="0"/>
              </a:p>
              <a:p>
                <a:pPr lvl="1"/>
                <a:endParaRPr lang="es-ES_tradnl" dirty="0"/>
              </a:p>
              <a:p>
                <a:pPr lvl="1"/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08EABAF-8A9E-C78D-8B74-CB1AE7394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703" t="-343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A25C59-CD47-033D-B7A7-4B4D7BBBA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s-ES_tradnl" sz="3200" dirty="0">
                <a:solidFill>
                  <a:srgbClr val="002060"/>
                </a:solidFill>
              </a:rPr>
              <a:t>Inferencia Causal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8C4020C-C066-AAED-3308-6C2DA5026F0C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Pregunta</a:t>
                </a:r>
                <a:r>
                  <a:rPr lang="es-ES_tradnl" dirty="0"/>
                  <a:t>: ¿Cómo impacta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causa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)</a:t>
                </a:r>
              </a:p>
              <a:p>
                <a:pPr lvl="1"/>
                <a:r>
                  <a:rPr lang="es-ES_tradnl" dirty="0"/>
                  <a:t>Efecto marginal: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Estimación: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𝑀𝐶𝑂</m:t>
                        </m:r>
                      </m:sup>
                    </m:sSup>
                  </m:oMath>
                </a14:m>
                <a:r>
                  <a:rPr lang="es-ES_tradnl" dirty="0"/>
                  <a:t> pero con la información creíble que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es </a:t>
                </a:r>
                <a:r>
                  <a:rPr lang="es-ES_tradnl" dirty="0" err="1"/>
                  <a:t>exogena</a:t>
                </a: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8C4020C-C066-AAED-3308-6C2DA5026F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689" t="-3436" r="-2200" b="-171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93403-C21C-0570-A297-30AE67D8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688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90AC-7EF7-C31E-DFAF-B94D31335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 problema de la interpretación causal</a:t>
            </a:r>
          </a:p>
        </p:txBody>
      </p:sp>
      <p:pic>
        <p:nvPicPr>
          <p:cNvPr id="6" name="Content Placeholder 5" descr="A black and white illustration of a sailboat&#10;&#10;Description automatically generated">
            <a:extLst>
              <a:ext uri="{FF2B5EF4-FFF2-40B4-BE49-F238E27FC236}">
                <a16:creationId xmlns:a16="http://schemas.microsoft.com/office/drawing/2014/main" id="{027625EF-09FB-0DC7-C558-94BD6F7E5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3163" y="1310366"/>
            <a:ext cx="7365673" cy="483225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4627A-C824-C89E-B3F0-72E31D52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4D312-73F1-9A4F-7F28-715D457101E0}"/>
              </a:ext>
            </a:extLst>
          </p:cNvPr>
          <p:cNvSpPr txBox="1"/>
          <p:nvPr/>
        </p:nvSpPr>
        <p:spPr>
          <a:xfrm>
            <a:off x="1284789" y="6142623"/>
            <a:ext cx="6632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Cunningham (2021) </a:t>
            </a:r>
            <a:r>
              <a:rPr lang="en-US" sz="1600" dirty="0">
                <a:effectLst/>
                <a:latin typeface="Gill Sans Nova Light" panose="020B0302020104020203" pitchFamily="34" charset="0"/>
                <a:hlinkClick r:id="rId3"/>
              </a:rPr>
              <a:t>Causal Inference. The Mixtape.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r>
              <a:rPr lang="en-US" sz="1600" dirty="0">
                <a:latin typeface="Gill Sans Nova Light" panose="020B0302020104020203" pitchFamily="34" charset="0"/>
              </a:rPr>
              <a:t> Chap. 1, p.7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6043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64B2-AD28-73C5-4B9A-17985E6C6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Versión super simplificada del Economía Aplicada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73E452-BE5E-B18C-9F70-87A501914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ES_tradnl" dirty="0"/>
                  <a:t> variable de tratamiento/cambio en política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controles </a:t>
                </a:r>
              </a:p>
              <a:p>
                <a:r>
                  <a:rPr lang="es-ES_tradnl" dirty="0"/>
                  <a:t>Métodos más usados para tener esa interpretación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>
                    <a:solidFill>
                      <a:srgbClr val="002060"/>
                    </a:solidFill>
                  </a:rPr>
                  <a:t>RCT</a:t>
                </a:r>
                <a:r>
                  <a:rPr lang="es-ES_tradnl" dirty="0"/>
                  <a:t>: Asignación aleatoria del tratamiento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>
                    <a:solidFill>
                      <a:srgbClr val="002060"/>
                    </a:solidFill>
                  </a:rPr>
                  <a:t>RD</a:t>
                </a:r>
                <a:r>
                  <a:rPr lang="es-ES_tradnl" dirty="0"/>
                  <a:t>: Hay un salto en el tratamiento para un determinado valor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Diff</a:t>
                </a:r>
                <a:r>
                  <a:rPr lang="es-ES_tradnl" dirty="0">
                    <a:solidFill>
                      <a:srgbClr val="002060"/>
                    </a:solidFill>
                  </a:rPr>
                  <a:t>-in-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Diff</a:t>
                </a:r>
                <a:r>
                  <a:rPr lang="es-ES_tradnl" dirty="0"/>
                  <a:t>: unidades tratadas en distintos momentos del tiempo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>
                    <a:solidFill>
                      <a:srgbClr val="002060"/>
                    </a:solidFill>
                  </a:rPr>
                  <a:t>IV</a:t>
                </a:r>
                <a:r>
                  <a:rPr lang="es-ES_tradnl" dirty="0"/>
                  <a:t>: un instrumento exógeno se usa para predecir la variable endógena de tratamiento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s-ES_tradnl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 err="1"/>
                  <a:t>Sythetic</a:t>
                </a:r>
                <a:r>
                  <a:rPr lang="es-ES_tradnl" dirty="0"/>
                  <a:t> control/</a:t>
                </a:r>
                <a:r>
                  <a:rPr lang="es-ES_tradnl" dirty="0" err="1"/>
                  <a:t>Propensity</a:t>
                </a:r>
                <a:r>
                  <a:rPr lang="es-ES_tradnl" dirty="0"/>
                  <a:t> score </a:t>
                </a:r>
                <a:r>
                  <a:rPr lang="es-ES_tradnl" dirty="0" err="1"/>
                  <a:t>matching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73E452-BE5E-B18C-9F70-87A501914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907" r="-1689" b="-37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95093-8B4A-48B8-6C2D-9AEFDB9E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663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97BD-8A30-91FC-943A-F9183E5A3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Clase de hoy: Big Data y Enfoque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13C7-D055-DBD0-2FFE-6D97FE5DF6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FF0000"/>
                </a:solidFill>
              </a:rPr>
              <a:t>Intersección</a:t>
            </a:r>
            <a:r>
              <a:rPr lang="es-ES_tradnl" b="1" i="1" dirty="0"/>
              <a:t> </a:t>
            </a:r>
            <a:r>
              <a:rPr lang="es-ES_tradnl" b="1" i="1" dirty="0">
                <a:solidFill>
                  <a:srgbClr val="FF0000"/>
                </a:solidFill>
              </a:rPr>
              <a:t>A</a:t>
            </a:r>
            <a:r>
              <a:rPr lang="es-ES_tradnl" dirty="0"/>
              <a:t>: ML para Inferencia causal 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Ventajas y Desventajas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Naturaleza del problema y los datos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BFDA5BE-5CCE-4994-D2F7-585F79DC0C1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F9E53AF-70B3-F73C-44AD-E344B4B16D58}"/>
              </a:ext>
            </a:extLst>
          </p:cNvPr>
          <p:cNvSpPr txBox="1"/>
          <p:nvPr/>
        </p:nvSpPr>
        <p:spPr>
          <a:xfrm>
            <a:off x="7439186" y="1506022"/>
            <a:ext cx="2665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b="1" dirty="0">
                <a:latin typeface="Gill Sans Nova Light" panose="020B0302020104020203" pitchFamily="34" charset="0"/>
              </a:rPr>
              <a:t>Pregunta de Investigación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949B6C-9232-559C-CF70-548D5078586B}"/>
              </a:ext>
            </a:extLst>
          </p:cNvPr>
          <p:cNvSpPr/>
          <p:nvPr/>
        </p:nvSpPr>
        <p:spPr>
          <a:xfrm rot="1915023">
            <a:off x="7509767" y="3528469"/>
            <a:ext cx="1167860" cy="68985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bg1">
                    <a:lumMod val="85000"/>
                  </a:schemeClr>
                </a:solidFill>
              </a:rPr>
              <a:t>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6308D-0BB1-E2B5-A3A9-47EC0170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2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/>
              <a:t>Sesgo por Variable Omitida en Métodos de Inferencia Basados en LASSO: Un Análisis de Muestra Finitas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b="1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</a:t>
            </a:r>
            <a:r>
              <a:rPr lang="en-US" dirty="0"/>
              <a:t>Wüthrich, K., &amp; Zhu, Y. (2023). Omitted variable bias of Lasso-based inference methods: A finite sample analysis. </a:t>
            </a:r>
            <a:r>
              <a:rPr lang="en-US" i="1" dirty="0"/>
              <a:t>Review of Economics and Statistics</a:t>
            </a:r>
            <a:r>
              <a:rPr lang="en-US" dirty="0"/>
              <a:t>, 105(4), 982-997.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185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Problema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1E1CBC9-146A-E5C1-DE03-CFAD02539C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(1)</m:t>
                      </m:r>
                    </m:oMath>
                  </m:oMathPara>
                </a14:m>
                <a:endParaRPr lang="es-ES_tradnl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(2)</m:t>
                      </m:r>
                    </m:oMath>
                  </m:oMathPara>
                </a14:m>
                <a:endParaRPr lang="es-ES_tradnl" i="1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i="1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i="1" dirty="0"/>
                  <a:t> </a:t>
                </a:r>
                <a:r>
                  <a:rPr lang="es-ES_tradnl" dirty="0" err="1"/>
                  <a:t>outcome</a:t>
                </a:r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dummy</a:t>
                </a:r>
                <a:r>
                  <a:rPr lang="es-ES_tradnl" dirty="0"/>
                  <a:t> de tratamiento,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controles </a:t>
                </a:r>
              </a:p>
              <a:p>
                <a:r>
                  <a:rPr lang="es-ES_tradnl" dirty="0">
                    <a:solidFill>
                      <a:srgbClr val="FF0000"/>
                    </a:solidFill>
                  </a:rPr>
                  <a:t>Problema:</a:t>
                </a:r>
                <a:r>
                  <a:rPr lang="es-ES_tradnl" dirty="0"/>
                  <a:t> </a:t>
                </a:r>
              </a:p>
              <a:p>
                <a:pPr lvl="1"/>
                <a:r>
                  <a:rPr lang="es-ES_tradnl" dirty="0" err="1"/>
                  <a:t>Double</a:t>
                </a:r>
                <a:r>
                  <a:rPr lang="es-ES_tradnl" dirty="0"/>
                  <a:t>-post/</a:t>
                </a:r>
                <a:r>
                  <a:rPr lang="es-ES_tradnl" dirty="0" err="1"/>
                  <a:t>debiased</a:t>
                </a:r>
                <a:r>
                  <a:rPr lang="es-ES_tradnl" dirty="0"/>
                  <a:t> Lasso pueden introducir sesgo por variable relevante omitida incluso en contextos favorables para el uso de estos métodos e inferencia causal.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Pregunta</a:t>
                </a:r>
                <a:r>
                  <a:rPr lang="es-ES_tradnl" dirty="0"/>
                  <a:t>: en un RCT, qué valores toma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ES_tradnl" dirty="0"/>
                  <a:t>?  </a:t>
                </a:r>
              </a:p>
              <a:p>
                <a:endParaRPr lang="es-ES_tradn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1E1CBC9-146A-E5C1-DE03-CFAD02539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872" r="-19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5B36D4-7401-A2AE-77E9-D2C10AED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0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Pregunta de investigación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5FAB40-22CC-B9B0-EA6D-60116CA84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¿Cuáles son las </a:t>
            </a:r>
            <a:r>
              <a:rPr lang="es-ES_tradnl" dirty="0">
                <a:solidFill>
                  <a:srgbClr val="002060"/>
                </a:solidFill>
              </a:rPr>
              <a:t>características de muestra finita </a:t>
            </a:r>
            <a:r>
              <a:rPr lang="es-ES_tradnl" dirty="0"/>
              <a:t>de métodos de regularización en un contexto donde se hace la interpretación causal?</a:t>
            </a:r>
          </a:p>
          <a:p>
            <a:r>
              <a:rPr lang="es-ES_tradnl" dirty="0">
                <a:solidFill>
                  <a:srgbClr val="FF0000"/>
                </a:solidFill>
              </a:rPr>
              <a:t>Objetivo del </a:t>
            </a:r>
            <a:r>
              <a:rPr lang="es-ES_tradnl" dirty="0" err="1">
                <a:solidFill>
                  <a:srgbClr val="FF0000"/>
                </a:solidFill>
              </a:rPr>
              <a:t>paper</a:t>
            </a:r>
            <a:r>
              <a:rPr lang="es-ES_tradnl" dirty="0"/>
              <a:t>: </a:t>
            </a:r>
          </a:p>
          <a:p>
            <a:pPr lvl="1"/>
            <a:r>
              <a:rPr lang="es-ES_tradnl" dirty="0"/>
              <a:t>Formalizar en qué casos fallaría el uso de estos métodos de regularización </a:t>
            </a:r>
            <a:r>
              <a:rPr lang="es-ES_tradnl" dirty="0">
                <a:solidFill>
                  <a:srgbClr val="002060"/>
                </a:solidFill>
              </a:rPr>
              <a:t>incluso</a:t>
            </a:r>
            <a:r>
              <a:rPr lang="es-ES_tradnl" dirty="0"/>
              <a:t> con el mejor contexto de </a:t>
            </a:r>
            <a:r>
              <a:rPr lang="es-ES_tradnl" i="1" dirty="0" err="1"/>
              <a:t>research</a:t>
            </a:r>
            <a:r>
              <a:rPr lang="es-ES_tradnl" i="1" dirty="0"/>
              <a:t> </a:t>
            </a:r>
            <a:r>
              <a:rPr lang="es-ES_tradnl" i="1" dirty="0" err="1"/>
              <a:t>design</a:t>
            </a:r>
            <a:r>
              <a:rPr lang="es-ES_tradnl" dirty="0"/>
              <a:t> donde hacemos interpretaciones causales.</a:t>
            </a:r>
          </a:p>
          <a:p>
            <a:pPr lvl="1"/>
            <a:r>
              <a:rPr lang="es-ES_tradnl" dirty="0"/>
              <a:t>Comparar ventajas y limitaciones con respecto a métodos alternativos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5B36D4-7401-A2AE-77E9-D2C10AED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89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2574-66DD-1D1D-BCC1-4392899F9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del problema: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 Escenarios posibles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Content Placeholder 4" descr="A graph of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B31E0C02-FD94-8BDC-DEB0-45FBCE397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7153" y="1287278"/>
            <a:ext cx="5991153" cy="5570722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37D82C6-1625-44CA-B86C-C0CE7CCC496F}"/>
              </a:ext>
            </a:extLst>
          </p:cNvPr>
          <p:cNvSpPr/>
          <p:nvPr/>
        </p:nvSpPr>
        <p:spPr>
          <a:xfrm>
            <a:off x="3642102" y="2464230"/>
            <a:ext cx="1363850" cy="2805194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1C95EC-230A-6EB5-3572-0FDDEFCF0475}"/>
              </a:ext>
            </a:extLst>
          </p:cNvPr>
          <p:cNvSpPr/>
          <p:nvPr/>
        </p:nvSpPr>
        <p:spPr>
          <a:xfrm>
            <a:off x="4990453" y="2464230"/>
            <a:ext cx="2076774" cy="28051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00A9911-BC49-D263-ABF6-880168972D13}"/>
              </a:ext>
            </a:extLst>
          </p:cNvPr>
          <p:cNvSpPr/>
          <p:nvPr/>
        </p:nvSpPr>
        <p:spPr>
          <a:xfrm>
            <a:off x="6909661" y="1690688"/>
            <a:ext cx="2076774" cy="3578736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1BEC3-D19C-9390-C7FF-BB21B172512D}"/>
              </a:ext>
            </a:extLst>
          </p:cNvPr>
          <p:cNvSpPr txBox="1"/>
          <p:nvPr/>
        </p:nvSpPr>
        <p:spPr>
          <a:xfrm>
            <a:off x="4142542" y="2616413"/>
            <a:ext cx="347472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C000"/>
                </a:solidFill>
              </a:rPr>
              <a:t>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49D19-FCC9-66AD-88AD-AB1DE6B2749D}"/>
              </a:ext>
            </a:extLst>
          </p:cNvPr>
          <p:cNvSpPr txBox="1"/>
          <p:nvPr/>
        </p:nvSpPr>
        <p:spPr>
          <a:xfrm>
            <a:off x="5855104" y="3244334"/>
            <a:ext cx="34747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17BFC1-E13C-CBD2-4B34-98FD5C340834}"/>
              </a:ext>
            </a:extLst>
          </p:cNvPr>
          <p:cNvSpPr txBox="1"/>
          <p:nvPr/>
        </p:nvSpPr>
        <p:spPr>
          <a:xfrm>
            <a:off x="7774312" y="2612841"/>
            <a:ext cx="347472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3D0B81-8FD4-A3CB-FEE6-CFA0B569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6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5E3A-746E-476F-3CC8-5EE012AC1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Contribución a la literatura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5A09-F022-135B-B1E4-104F30C82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Muestran</a:t>
            </a:r>
            <a:r>
              <a:rPr lang="es-ES_tradnl" dirty="0"/>
              <a:t> teóricamente las </a:t>
            </a:r>
            <a:r>
              <a:rPr lang="es-ES_tradnl" dirty="0">
                <a:solidFill>
                  <a:srgbClr val="002060"/>
                </a:solidFill>
              </a:rPr>
              <a:t>propiedades de muestra finita </a:t>
            </a:r>
            <a:r>
              <a:rPr lang="es-ES_tradnl" dirty="0"/>
              <a:t>de los estimadores luego de estos métodos de regularización (post-</a:t>
            </a:r>
            <a:r>
              <a:rPr lang="es-ES_tradnl" dirty="0" err="1"/>
              <a:t>double</a:t>
            </a:r>
            <a:r>
              <a:rPr lang="es-ES_tradnl" dirty="0"/>
              <a:t>/</a:t>
            </a:r>
            <a:r>
              <a:rPr lang="es-ES_tradnl" dirty="0" err="1"/>
              <a:t>debiased</a:t>
            </a:r>
            <a:r>
              <a:rPr lang="es-ES_tradnl" dirty="0"/>
              <a:t> Lasso, ver </a:t>
            </a:r>
            <a:r>
              <a:rPr lang="es-ES_tradnl" dirty="0">
                <a:hlinkClick r:id="rId3" action="ppaction://hlinksldjump"/>
              </a:rPr>
              <a:t>Apéndice</a:t>
            </a:r>
            <a:r>
              <a:rPr lang="es-ES_tradnl" dirty="0"/>
              <a:t>)</a:t>
            </a:r>
          </a:p>
          <a:p>
            <a:pPr lvl="1"/>
            <a:r>
              <a:rPr lang="es-ES_tradnl" dirty="0"/>
              <a:t>Obtienen el </a:t>
            </a:r>
            <a:r>
              <a:rPr lang="es-ES_tradnl" dirty="0" err="1">
                <a:solidFill>
                  <a:srgbClr val="002060"/>
                </a:solidFill>
              </a:rPr>
              <a:t>lower-bound</a:t>
            </a:r>
            <a:r>
              <a:rPr lang="es-ES_tradnl" dirty="0">
                <a:solidFill>
                  <a:srgbClr val="002060"/>
                </a:solidFill>
              </a:rPr>
              <a:t> de sesgo </a:t>
            </a:r>
            <a:r>
              <a:rPr lang="es-ES_tradnl" dirty="0"/>
              <a:t>por variable omitida en muestras finitas (no asintótico) de estos estimadores de post-</a:t>
            </a:r>
            <a:r>
              <a:rPr lang="es-ES_tradnl" dirty="0" err="1"/>
              <a:t>double</a:t>
            </a:r>
            <a:r>
              <a:rPr lang="es-ES_tradnl" dirty="0"/>
              <a:t> Lasso</a:t>
            </a:r>
          </a:p>
          <a:p>
            <a:pPr lvl="1"/>
            <a:r>
              <a:rPr lang="es-ES_tradnl" dirty="0">
                <a:solidFill>
                  <a:srgbClr val="002060"/>
                </a:solidFill>
              </a:rPr>
              <a:t>Complementa</a:t>
            </a:r>
            <a:r>
              <a:rPr lang="es-ES_tradnl" dirty="0"/>
              <a:t> teorías formalizadas de las distribución y propiedades asintóticas de dichos estimadores (propiedades de muestras grandes) por Belloni et al (2014).</a:t>
            </a:r>
          </a:p>
          <a:p>
            <a:endParaRPr lang="es-ES_trad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F15C3-C0BE-BF92-57A4-584B4C4D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995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C71-1F86-3235-54D5-4325BD3C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Resultados Principales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5F0A3-C385-5F03-E84D-0D0EBA8DB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Análisis teórico:</a:t>
            </a:r>
          </a:p>
          <a:p>
            <a:pPr lvl="1"/>
            <a:r>
              <a:rPr lang="es-ES_tradnl" dirty="0"/>
              <a:t>Obtienen las condiciones necesarias para que este método funcione correctamente </a:t>
            </a:r>
          </a:p>
          <a:p>
            <a:pPr lvl="1"/>
            <a:r>
              <a:rPr lang="es-ES_tradnl" dirty="0"/>
              <a:t>Muestran las condiciones en las que obtienen el </a:t>
            </a:r>
            <a:r>
              <a:rPr lang="es-ES_tradnl" b="1" dirty="0" err="1"/>
              <a:t>lower-bound</a:t>
            </a:r>
            <a:r>
              <a:rPr lang="es-ES_tradnl" dirty="0"/>
              <a:t> de sesgo por variable omitida en muestras finitas</a:t>
            </a:r>
          </a:p>
          <a:p>
            <a:r>
              <a:rPr lang="es-ES_tradnl" dirty="0">
                <a:solidFill>
                  <a:srgbClr val="002060"/>
                </a:solidFill>
              </a:rPr>
              <a:t>Simulaciones:</a:t>
            </a:r>
          </a:p>
          <a:p>
            <a:pPr lvl="1"/>
            <a:r>
              <a:rPr lang="es-ES_tradnl" dirty="0"/>
              <a:t>Muestran la persistencia del sesgo por variable omitida en muchos contextos</a:t>
            </a:r>
          </a:p>
          <a:p>
            <a:pPr lvl="1"/>
            <a:r>
              <a:rPr lang="es-ES_tradnl" dirty="0"/>
              <a:t>Muestran cuando no es apropiado hacer la interpretación de causalidad y los problemas de inferencia (por el computo de los intervalos de confianza)</a:t>
            </a:r>
          </a:p>
          <a:p>
            <a:pPr lvl="1"/>
            <a:r>
              <a:rPr lang="es-ES_tradnl" dirty="0"/>
              <a:t>Muestran que </a:t>
            </a:r>
            <a:r>
              <a:rPr lang="es-ES_tradnl" dirty="0">
                <a:solidFill>
                  <a:srgbClr val="002060"/>
                </a:solidFill>
              </a:rPr>
              <a:t>depende mucho del contexto la elección del parámetro de regularización </a:t>
            </a:r>
            <a:r>
              <a:rPr lang="es-ES_tradnl" dirty="0"/>
              <a:t>para que post-</a:t>
            </a:r>
            <a:r>
              <a:rPr lang="es-ES_tradnl" dirty="0" err="1"/>
              <a:t>double</a:t>
            </a:r>
            <a:r>
              <a:rPr lang="es-ES_tradnl" dirty="0"/>
              <a:t> Lasso tenga una buena performance</a:t>
            </a:r>
          </a:p>
          <a:p>
            <a:endParaRPr lang="es-ES_tradnl" dirty="0"/>
          </a:p>
          <a:p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FE8C3-5479-CD59-C061-55574A2D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777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C71-1F86-3235-54D5-4325BD3C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Resultados Principales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5F0A3-C385-5F03-E84D-0D0EBA8DB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Evidencia empírica</a:t>
            </a:r>
          </a:p>
          <a:p>
            <a:pPr lvl="1"/>
            <a:r>
              <a:rPr lang="es-ES_tradnl" dirty="0"/>
              <a:t>Efecto del plan 401(k) en los ahorros (</a:t>
            </a:r>
            <a:r>
              <a:rPr lang="es-ES_tradnl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Belloni et al., 2017b; </a:t>
            </a:r>
            <a:r>
              <a:rPr lang="es-ES_tradnl" sz="2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Chernozhukov</a:t>
            </a:r>
            <a:r>
              <a:rPr lang="es-ES_tradnl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al., 2018</a:t>
            </a:r>
            <a:r>
              <a:rPr lang="es-ES_tradnl" dirty="0"/>
              <a:t>)</a:t>
            </a:r>
          </a:p>
          <a:p>
            <a:pPr lvl="1"/>
            <a:r>
              <a:rPr lang="es-ES_tradnl" dirty="0"/>
              <a:t>Diferencial racial en las habilidades mentales de los niños (</a:t>
            </a:r>
            <a:r>
              <a:rPr lang="es-ES_tradnl" sz="2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Freyer</a:t>
            </a:r>
            <a:r>
              <a:rPr lang="es-ES_tradnl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&amp; Levitt 2013b</a:t>
            </a:r>
            <a:r>
              <a:rPr lang="es-ES_tradnl" dirty="0"/>
              <a:t>) </a:t>
            </a:r>
          </a:p>
          <a:p>
            <a:pPr lvl="1"/>
            <a:r>
              <a:rPr lang="es-ES_tradnl" dirty="0"/>
              <a:t>Documentan un sesgo grande por el uso de post-</a:t>
            </a:r>
            <a:r>
              <a:rPr lang="es-ES_tradnl" dirty="0" err="1"/>
              <a:t>double</a:t>
            </a:r>
            <a:r>
              <a:rPr lang="es-ES_tradnl" dirty="0"/>
              <a:t> Lasso</a:t>
            </a:r>
          </a:p>
          <a:p>
            <a:endParaRPr lang="es-ES_tradnl" dirty="0"/>
          </a:p>
          <a:p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FE8C3-5479-CD59-C061-55574A2D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456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806EF-7F49-F020-26C1-23006B27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LASSO en </a:t>
            </a:r>
            <a:r>
              <a:rPr lang="en-US" dirty="0"/>
              <a:t>Wüthrich &amp; Zhu (2023)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67741F9-CD06-DCB2-8047-1CEC25A09E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(3)</m:t>
                      </m:r>
                    </m:oMath>
                  </m:oMathPara>
                </a14:m>
                <a:endParaRPr lang="es-ES_tradnl" sz="2800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_tradnl" sz="1800" dirty="0"/>
                  <a:t>Estimador de LASSO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 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18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s-ES_tradnl" sz="1800" dirty="0"/>
                  <a:t>La selección perfecta, con determinados valores de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sz="1800" dirty="0"/>
                  <a:t> proporcionales a una expresión que depende: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s-ES_tradnl" sz="1800" dirty="0"/>
                  <a:t>Covarianza entre coeficientes distintos e iguales a </a:t>
                </a:r>
                <a:r>
                  <a:rPr lang="es-ES_tradnl" sz="1800" dirty="0" err="1"/>
                  <a:t>zero</a:t>
                </a:r>
                <a:endParaRPr lang="es-ES_tradnl" sz="1800" dirty="0"/>
              </a:p>
              <a:p>
                <a:pPr lvl="1">
                  <a:lnSpc>
                    <a:spcPct val="100000"/>
                  </a:lnSpc>
                </a:pPr>
                <a:r>
                  <a:rPr lang="es-ES_tradnl" sz="1800" dirty="0"/>
                  <a:t>Varianza del error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s-ES_tradnl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s-ES_tradnl" sz="1800" dirty="0"/>
              </a:p>
              <a:p>
                <a:pPr lvl="1">
                  <a:lnSpc>
                    <a:spcPct val="100000"/>
                  </a:lnSpc>
                </a:pPr>
                <a:r>
                  <a:rPr lang="es-ES_tradnl" sz="1800" dirty="0"/>
                  <a:t>Numero de controles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sz="1800" dirty="0"/>
              </a:p>
              <a:p>
                <a:pPr lvl="1">
                  <a:lnSpc>
                    <a:spcPct val="100000"/>
                  </a:lnSpc>
                </a:pPr>
                <a:r>
                  <a:rPr lang="es-ES_tradnl" sz="1800" dirty="0"/>
                  <a:t>Numero de observaciones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sz="18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67741F9-CD06-DCB2-8047-1CEC25A09E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 t="-814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14210-0544-CF8E-C06A-DCCA2F8E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054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89E2-5102-CAC1-CD2F-ACA9CCD22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4000" dirty="0"/>
              <a:t>Post-</a:t>
            </a:r>
            <a:r>
              <a:rPr lang="es-ES_tradnl" sz="4000" dirty="0" err="1"/>
              <a:t>Double</a:t>
            </a:r>
            <a:r>
              <a:rPr lang="es-ES_tradnl" sz="4000" dirty="0"/>
              <a:t> Lasso en </a:t>
            </a:r>
            <a:r>
              <a:rPr lang="en-US" sz="4000" dirty="0"/>
              <a:t>Wüthrich &amp; Zhu (2023)</a:t>
            </a:r>
            <a:r>
              <a:rPr lang="es-ES_tradnl" sz="40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FB4B1-89E7-B54A-1F58-B9EB9BF9C2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_tradnl" dirty="0"/>
                  <a:t>Post-</a:t>
                </a:r>
                <a:r>
                  <a:rPr lang="es-ES_tradnl" dirty="0" err="1"/>
                  <a:t>double</a:t>
                </a:r>
                <a:r>
                  <a:rPr lang="es-ES_tradnl" dirty="0"/>
                  <a:t> Lasso explota el teorema de Frisch-</a:t>
                </a:r>
                <a:r>
                  <a:rPr lang="es-ES_tradnl" dirty="0" err="1"/>
                  <a:t>Waugh</a:t>
                </a:r>
                <a:r>
                  <a:rPr lang="es-ES_tradnl" dirty="0"/>
                  <a:t> </a:t>
                </a:r>
                <a:r>
                  <a:rPr lang="es-ES_tradnl" dirty="0" err="1"/>
                  <a:t>Lovell</a:t>
                </a:r>
                <a:r>
                  <a:rPr lang="es-ES_tradnl" dirty="0"/>
                  <a:t> (curso de maestría)</a:t>
                </a:r>
              </a:p>
              <a:p>
                <a:r>
                  <a:rPr lang="es-ES_tradnl" sz="3200" b="0" dirty="0"/>
                  <a:t>De regresar Y en 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s-ES_tradnl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3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acc>
                      <m:r>
                        <a:rPr lang="es-ES_tradnl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s-ES_tradnl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_tradnl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lang="es-ES_tradnl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ES_tradnl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ES_tradnl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 </m:t>
                              </m:r>
                              <m:sSup>
                                <m:sSupPr>
                                  <m:ctrlP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_tradnl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_tradnl" sz="3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s-ES_tradn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ES_tradnl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s-ES_tradnl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  <m:r>
                        <a:rPr lang="es-ES_tradn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ctrlPr>
                            <a:rPr lang="es-ES_tradn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s-ES_tradnl" sz="2400" dirty="0">
                  <a:ea typeface="Cambria Math" panose="02040503050406030204" pitchFamily="18" charset="0"/>
                </a:endParaRPr>
              </a:p>
              <a:p>
                <a:r>
                  <a:rPr lang="es-ES_tradnl" b="0" dirty="0"/>
                  <a:t>De regresar D en 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s-ES_tradnl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es-ES_tradnl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s-ES_tradnl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_tradnl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lang="es-ES_tradnl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ES_tradnl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ES_tradnl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 </m:t>
                              </m:r>
                              <m:sSup>
                                <m:sSupPr>
                                  <m:ctrlP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_tradnl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_tradnl" sz="3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s-ES_tradn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ES_tradnl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s-ES_tradnl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  <m:r>
                        <a:rPr lang="es-ES_tradn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ctrlPr>
                            <a:rPr lang="es-ES_tradn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s-ES_tradnl" b="0" dirty="0"/>
              </a:p>
              <a:p>
                <a:r>
                  <a:rPr lang="es-ES_tradnl" b="0" dirty="0">
                    <a:solidFill>
                      <a:srgbClr val="FF0000"/>
                    </a:solidFill>
                  </a:rPr>
                  <a:t>Estimador de post-</a:t>
                </a:r>
                <a:r>
                  <a:rPr lang="es-ES_tradnl" b="0" dirty="0" err="1">
                    <a:solidFill>
                      <a:srgbClr val="FF0000"/>
                    </a:solidFill>
                  </a:rPr>
                  <a:t>double</a:t>
                </a:r>
                <a:r>
                  <a:rPr lang="es-ES_tradnl" b="0" dirty="0">
                    <a:solidFill>
                      <a:srgbClr val="FF0000"/>
                    </a:solidFill>
                  </a:rPr>
                  <a:t> Lasso</a:t>
                </a:r>
                <a:r>
                  <a:rPr lang="es-ES_tradnl" b="0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es-ES_tradnl" b="0" dirty="0"/>
                  <a:t>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ES_tradnl" b="0" dirty="0"/>
                  <a:t> </a:t>
                </a:r>
                <a:r>
                  <a:rPr lang="es-ES_tradnl" dirty="0"/>
                  <a:t>es equivalente a estimador de OLS de regresar Y en D y X elegidas en ambas regresiones anteriores</a:t>
                </a:r>
                <a:endParaRPr lang="es-ES_tradnl" b="0" dirty="0"/>
              </a:p>
              <a:p>
                <a:pPr marL="0" indent="0">
                  <a:buNone/>
                </a:pPr>
                <a:endParaRPr lang="es-ES_tradnl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ES_tradnl" sz="2400" dirty="0">
                  <a:ea typeface="Cambria Math" panose="02040503050406030204" pitchFamily="18" charset="0"/>
                </a:endParaRPr>
              </a:p>
              <a:p>
                <a:endParaRPr lang="es-ES_tradnl" dirty="0"/>
              </a:p>
              <a:p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FB4B1-89E7-B54A-1F58-B9EB9BF9C2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10174" b="-2994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6A252-C5AA-CEC2-8628-CE60343F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549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F1BD-0ADB-8204-01E2-4D640ACEB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Numérica</a:t>
            </a:r>
          </a:p>
        </p:txBody>
      </p:sp>
      <p:pic>
        <p:nvPicPr>
          <p:cNvPr id="5" name="Content Placeholder 4" descr="A group of graphs showing the number of selected numbers&#10;&#10;Description automatically generated">
            <a:extLst>
              <a:ext uri="{FF2B5EF4-FFF2-40B4-BE49-F238E27FC236}">
                <a16:creationId xmlns:a16="http://schemas.microsoft.com/office/drawing/2014/main" id="{EC5256DE-C91F-1FD6-A3C5-537D3109A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65329" y="1308688"/>
            <a:ext cx="8648054" cy="5139591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DCC506-052E-D62F-A388-94BCC5CD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C0AD79-7B7F-5239-CE71-DA88224F1341}"/>
                  </a:ext>
                </a:extLst>
              </p:cNvPr>
              <p:cNvSpPr txBox="1"/>
              <p:nvPr/>
            </p:nvSpPr>
            <p:spPr>
              <a:xfrm>
                <a:off x="604944" y="1902811"/>
                <a:ext cx="11936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_tradnl" sz="1600" dirty="0">
                    <a:solidFill>
                      <a:srgbClr val="FF0000"/>
                    </a:solidFill>
                    <a:latin typeface="Gill Sans Nova Light" panose="020B0302020104020203" pitchFamily="34" charset="0"/>
                  </a:rPr>
                  <a:t>Eje X: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s-ES_tradnl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endParaRPr lang="es-ES_tradnl" sz="1600" dirty="0">
                  <a:solidFill>
                    <a:srgbClr val="FF0000"/>
                  </a:solidFill>
                  <a:latin typeface="Gill Sans Nova Light" panose="020B0302020104020203" pitchFamily="34" charset="0"/>
                </a:endParaRPr>
              </a:p>
              <a:p>
                <a:r>
                  <a:rPr lang="es-ES_tradnl" sz="1600" dirty="0">
                    <a:solidFill>
                      <a:srgbClr val="FF0000"/>
                    </a:solidFill>
                    <a:latin typeface="Gill Sans Nova Light" panose="020B0302020104020203" pitchFamily="34" charset="0"/>
                  </a:rPr>
                  <a:t>Eje Y: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_tradnl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s-ES_tradnl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</m:d>
                  </m:oMath>
                </a14:m>
                <a:endParaRPr lang="es-ES_tradnl" sz="1600" dirty="0">
                  <a:solidFill>
                    <a:srgbClr val="FF0000"/>
                  </a:solidFill>
                  <a:latin typeface="Gill Sans Nova Light" panose="020B0302020104020203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C0AD79-7B7F-5239-CE71-DA88224F1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44" y="1902811"/>
                <a:ext cx="1193642" cy="584775"/>
              </a:xfrm>
              <a:prstGeom prst="rect">
                <a:avLst/>
              </a:prstGeom>
              <a:blipFill>
                <a:blip r:embed="rId4"/>
                <a:stretch>
                  <a:fillRect l="-2105" t="-2128" b="-1276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E4CCEEA-3CD0-5AD0-E216-E586DB91E351}"/>
              </a:ext>
            </a:extLst>
          </p:cNvPr>
          <p:cNvSpPr txBox="1"/>
          <p:nvPr/>
        </p:nvSpPr>
        <p:spPr>
          <a:xfrm>
            <a:off x="10213383" y="1929974"/>
            <a:ext cx="1823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Eje X: # </a:t>
            </a:r>
            <a:r>
              <a:rPr lang="es-ES_tradnl" sz="1600" dirty="0" err="1">
                <a:solidFill>
                  <a:srgbClr val="FF0000"/>
                </a:solidFill>
                <a:latin typeface="Gill Sans Nova Light" panose="020B0302020104020203" pitchFamily="34" charset="0"/>
              </a:rPr>
              <a:t>var</a:t>
            </a:r>
            <a:endParaRPr lang="es-ES_tradnl" sz="1600" dirty="0">
              <a:solidFill>
                <a:srgbClr val="FF0000"/>
              </a:solidFill>
              <a:latin typeface="Gill Sans Nova Light" panose="020B0302020104020203" pitchFamily="34" charset="0"/>
            </a:endParaRPr>
          </a:p>
          <a:p>
            <a:r>
              <a:rPr lang="es-ES_tradnl" sz="16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Eje Y: Pr(elegir </a:t>
            </a:r>
            <a:r>
              <a:rPr lang="es-ES_tradnl" sz="1600" dirty="0" err="1">
                <a:solidFill>
                  <a:srgbClr val="FF0000"/>
                </a:solidFill>
                <a:latin typeface="Gill Sans Nova Light" panose="020B0302020104020203" pitchFamily="34" charset="0"/>
              </a:rPr>
              <a:t>var</a:t>
            </a:r>
            <a:r>
              <a:rPr lang="es-ES_tradnl" sz="16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71F59-4F4A-2CC1-32ED-2D906593C60D}"/>
              </a:ext>
            </a:extLst>
          </p:cNvPr>
          <p:cNvSpPr txBox="1"/>
          <p:nvPr/>
        </p:nvSpPr>
        <p:spPr>
          <a:xfrm>
            <a:off x="2982856" y="1929974"/>
            <a:ext cx="347472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A4F28-A899-E624-AE4F-532D3FBF4A17}"/>
              </a:ext>
            </a:extLst>
          </p:cNvPr>
          <p:cNvSpPr txBox="1"/>
          <p:nvPr/>
        </p:nvSpPr>
        <p:spPr>
          <a:xfrm>
            <a:off x="5280462" y="4262333"/>
            <a:ext cx="347472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C000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572150-27CD-15B0-0CE6-690B9ECC0A43}"/>
              </a:ext>
            </a:extLst>
          </p:cNvPr>
          <p:cNvSpPr txBox="1"/>
          <p:nvPr/>
        </p:nvSpPr>
        <p:spPr>
          <a:xfrm>
            <a:off x="9634728" y="4291518"/>
            <a:ext cx="347472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C000"/>
                </a:solidFill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40CE54-00C9-8EB9-2C07-DC89A28E19EE}"/>
              </a:ext>
            </a:extLst>
          </p:cNvPr>
          <p:cNvSpPr txBox="1"/>
          <p:nvPr/>
        </p:nvSpPr>
        <p:spPr>
          <a:xfrm>
            <a:off x="6096000" y="1929974"/>
            <a:ext cx="347472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86DD72-DE5B-3C44-F9B4-B80106F109A2}"/>
              </a:ext>
            </a:extLst>
          </p:cNvPr>
          <p:cNvSpPr txBox="1"/>
          <p:nvPr/>
        </p:nvSpPr>
        <p:spPr>
          <a:xfrm>
            <a:off x="7255954" y="4446999"/>
            <a:ext cx="34747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D2D707-F5E8-626B-29DC-DD19B2B97F25}"/>
              </a:ext>
            </a:extLst>
          </p:cNvPr>
          <p:cNvSpPr txBox="1"/>
          <p:nvPr/>
        </p:nvSpPr>
        <p:spPr>
          <a:xfrm>
            <a:off x="3075424" y="4291518"/>
            <a:ext cx="34747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375046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CD308-731D-33F0-030C-C986B19AF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Implicancias para la Practica </a:t>
            </a:r>
            <a:r>
              <a:rPr lang="es-ES_tradnl" dirty="0" err="1"/>
              <a:t>Empirica</a:t>
            </a:r>
            <a:r>
              <a:rPr lang="es-ES_tradnl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0ABB9-5DD4-02A2-0545-81049124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03BDB-AA1C-E652-A770-46CCD053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438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2732-9A4E-080E-0B8C-D9DC382D7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Recomendaciones de los Autores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5DE9D-7FB2-1A6F-9154-A81928CD35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Chequear</a:t>
                </a:r>
                <a:r>
                  <a:rPr lang="es-ES_tradnl" dirty="0"/>
                  <a:t> que los resultados empíricos sean </a:t>
                </a:r>
                <a:r>
                  <a:rPr lang="es-ES_tradnl" dirty="0">
                    <a:solidFill>
                      <a:srgbClr val="002060"/>
                    </a:solidFill>
                  </a:rPr>
                  <a:t>robustos</a:t>
                </a:r>
                <a:r>
                  <a:rPr lang="es-ES_tradnl" dirty="0"/>
                  <a:t> a </a:t>
                </a:r>
                <a:r>
                  <a:rPr lang="es-ES_tradnl" dirty="0">
                    <a:solidFill>
                      <a:srgbClr val="00B050"/>
                    </a:solidFill>
                  </a:rPr>
                  <a:t>aumentar</a:t>
                </a:r>
                <a:r>
                  <a:rPr lang="es-ES_tradnl" dirty="0"/>
                  <a:t> la </a:t>
                </a:r>
                <a:r>
                  <a:rPr lang="es-ES_tradnl" dirty="0">
                    <a:solidFill>
                      <a:srgbClr val="002060"/>
                    </a:solidFill>
                  </a:rPr>
                  <a:t>penalidad</a:t>
                </a:r>
                <a:r>
                  <a:rPr lang="es-ES_tradnl" dirty="0"/>
                  <a:t> teórica recomendada</a:t>
                </a:r>
                <a:r>
                  <a:rPr lang="en-US" sz="3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Si aumenta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/>
                  <a:t>, y los resultados se mantienen -&gt; post-</a:t>
                </a:r>
                <a:r>
                  <a:rPr lang="es-ES_tradnl" dirty="0" err="1"/>
                  <a:t>double</a:t>
                </a:r>
                <a:r>
                  <a:rPr lang="es-ES_tradnl" dirty="0"/>
                  <a:t> Lasso es un método confiable y eficiente</a:t>
                </a:r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Rule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of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thumb</a:t>
                </a:r>
                <a:r>
                  <a:rPr lang="es-ES_tradnl" dirty="0"/>
                  <a:t>: aumenta en 50% el parámetro de regularización</a:t>
                </a:r>
                <a:r>
                  <a:rPr lang="en-US" sz="2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s-ES_tradnl" dirty="0"/>
              </a:p>
              <a:p>
                <a:endParaRPr lang="es-ES_tradnl" sz="1200" dirty="0">
                  <a:solidFill>
                    <a:srgbClr val="00B050"/>
                  </a:solidFill>
                </a:endParaRPr>
              </a:p>
              <a:p>
                <a:r>
                  <a:rPr lang="es-ES_tradnl" dirty="0">
                    <a:solidFill>
                      <a:srgbClr val="00B050"/>
                    </a:solidFill>
                  </a:rPr>
                  <a:t>Aumentar</a:t>
                </a:r>
                <a:r>
                  <a:rPr lang="es-ES_tradnl" dirty="0"/>
                  <a:t> el set de </a:t>
                </a:r>
                <a:r>
                  <a:rPr lang="es-ES_tradnl" dirty="0">
                    <a:solidFill>
                      <a:srgbClr val="002060"/>
                    </a:solidFill>
                  </a:rPr>
                  <a:t>unión de controles </a:t>
                </a:r>
                <a:r>
                  <a:rPr lang="es-ES_tradnl" dirty="0"/>
                  <a:t>motivadas por la </a:t>
                </a:r>
                <a:r>
                  <a:rPr lang="es-ES_tradnl" dirty="0">
                    <a:solidFill>
                      <a:srgbClr val="002060"/>
                    </a:solidFill>
                  </a:rPr>
                  <a:t>teoría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económica</a:t>
                </a:r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2060"/>
                    </a:solidFill>
                  </a:rPr>
                  <a:t>conocimiento previo </a:t>
                </a:r>
                <a:r>
                  <a:rPr lang="es-ES_tradnl" dirty="0"/>
                  <a:t>para evitar el sesgo por variable omitida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5DE9D-7FB2-1A6F-9154-A81928CD35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2F5B2-B144-DA81-7D3A-ED1A8B65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101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2732-9A4E-080E-0B8C-D9DC382D7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Recomendaciones de los Autores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5DE9D-7FB2-1A6F-9154-A81928CD35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ES_tradnl" dirty="0"/>
                  <a:t>OLS para inferencia causal en contexto de </a:t>
                </a:r>
                <a:r>
                  <a:rPr lang="es-ES_tradnl" dirty="0">
                    <a:solidFill>
                      <a:srgbClr val="002060"/>
                    </a:solidFill>
                  </a:rPr>
                  <a:t>alta dimensión </a:t>
                </a:r>
                <a:r>
                  <a:rPr lang="es-ES_tradnl" dirty="0"/>
                  <a:t>son una buena alternativa a post-</a:t>
                </a:r>
                <a:r>
                  <a:rPr lang="es-ES_tradnl" dirty="0" err="1"/>
                  <a:t>double</a:t>
                </a:r>
                <a:r>
                  <a:rPr lang="es-ES_tradnl" dirty="0"/>
                  <a:t> Lasso y tienen mejores propiedades de tamaño</a:t>
                </a:r>
              </a:p>
              <a:p>
                <a:endParaRPr lang="es-ES_tradnl" sz="1300" dirty="0"/>
              </a:p>
              <a:p>
                <a:r>
                  <a:rPr lang="es-ES_tradnl" dirty="0"/>
                  <a:t>Para los casos en que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+1&gt;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, </a:t>
                </a:r>
                <a:r>
                  <a:rPr lang="es-ES_tradnl" dirty="0">
                    <a:solidFill>
                      <a:srgbClr val="002060"/>
                    </a:solidFill>
                  </a:rPr>
                  <a:t>Ridge</a:t>
                </a:r>
                <a:r>
                  <a:rPr lang="es-ES_tradnl" dirty="0"/>
                  <a:t> puede ser una </a:t>
                </a:r>
                <a:r>
                  <a:rPr lang="es-ES_tradnl" dirty="0">
                    <a:solidFill>
                      <a:srgbClr val="002060"/>
                    </a:solidFill>
                  </a:rPr>
                  <a:t>buena alternativa</a:t>
                </a:r>
                <a:r>
                  <a:rPr lang="es-ES_tradnl" dirty="0"/>
                  <a:t> que no selecciona variables.</a:t>
                </a:r>
              </a:p>
              <a:p>
                <a:pPr marL="0" indent="0">
                  <a:buNone/>
                </a:pPr>
                <a:endParaRPr lang="es-ES_tradnl" sz="1300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Métodos de inferencia </a:t>
                </a:r>
                <a:r>
                  <a:rPr lang="es-ES_tradnl" dirty="0"/>
                  <a:t>que </a:t>
                </a:r>
                <a:r>
                  <a:rPr lang="es-ES_tradnl" dirty="0">
                    <a:solidFill>
                      <a:srgbClr val="002060"/>
                    </a:solidFill>
                  </a:rPr>
                  <a:t>no dependan </a:t>
                </a:r>
                <a:r>
                  <a:rPr lang="es-ES_tradnl" dirty="0"/>
                  <a:t>de la </a:t>
                </a:r>
                <a:r>
                  <a:rPr lang="es-ES_tradnl" dirty="0">
                    <a:solidFill>
                      <a:srgbClr val="002060"/>
                    </a:solidFill>
                  </a:rPr>
                  <a:t>selección de variables </a:t>
                </a:r>
                <a:r>
                  <a:rPr lang="es-ES_tradnl" dirty="0"/>
                  <a:t>son alternativas a post-</a:t>
                </a:r>
                <a:r>
                  <a:rPr lang="es-ES_tradnl" dirty="0" err="1"/>
                  <a:t>double</a:t>
                </a:r>
                <a:r>
                  <a:rPr lang="es-ES_tradnl" dirty="0"/>
                  <a:t> Lasso cuando uno está más preocupado por el sesgo</a:t>
                </a:r>
              </a:p>
              <a:p>
                <a:pPr lvl="1"/>
                <a:r>
                  <a:rPr lang="es-ES_tradnl" dirty="0"/>
                  <a:t>Modelos parciales lineales, métodos no paramétricos locales, regresión de </a:t>
                </a:r>
                <a:r>
                  <a:rPr lang="es-ES_tradnl" dirty="0" err="1"/>
                  <a:t>kernel</a:t>
                </a:r>
                <a:r>
                  <a:rPr lang="es-ES_tradnl" dirty="0"/>
                  <a:t> </a:t>
                </a:r>
                <a:r>
                  <a:rPr lang="es-ES_tradnl" dirty="0" err="1"/>
                  <a:t>ridge</a:t>
                </a:r>
                <a:r>
                  <a:rPr lang="es-ES_tradnl" dirty="0"/>
                  <a:t>. (¡clase que viene!)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5DE9D-7FB2-1A6F-9154-A81928CD35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4070" r="-16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2F5B2-B144-DA81-7D3A-ED1A8B65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481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0335-7408-9A63-2D12-5C84E405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FF0BB-27C6-A55C-8456-595D52B42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_tradnl" dirty="0"/>
              <a:t>Es importante que entendamos las </a:t>
            </a:r>
            <a:r>
              <a:rPr lang="es-ES_tradnl" dirty="0">
                <a:solidFill>
                  <a:srgbClr val="002060"/>
                </a:solidFill>
              </a:rPr>
              <a:t>ventajas</a:t>
            </a:r>
            <a:r>
              <a:rPr lang="es-ES_tradnl" dirty="0"/>
              <a:t> y </a:t>
            </a:r>
            <a:r>
              <a:rPr lang="es-ES_tradnl" dirty="0">
                <a:solidFill>
                  <a:srgbClr val="002060"/>
                </a:solidFill>
              </a:rPr>
              <a:t>desventajas</a:t>
            </a:r>
            <a:r>
              <a:rPr lang="es-ES_tradnl" dirty="0"/>
              <a:t> de un método que está siendo muy usado en la práctica para </a:t>
            </a:r>
            <a:r>
              <a:rPr lang="es-ES_tradnl" dirty="0">
                <a:solidFill>
                  <a:srgbClr val="002060"/>
                </a:solidFill>
              </a:rPr>
              <a:t>inferencia</a:t>
            </a:r>
            <a:r>
              <a:rPr lang="es-ES_tradnl" dirty="0"/>
              <a:t> en economía aplicada.</a:t>
            </a:r>
          </a:p>
          <a:p>
            <a:pPr marL="0" indent="0">
              <a:buNone/>
            </a:pPr>
            <a:endParaRPr lang="es-ES_tradnl" sz="1500" dirty="0"/>
          </a:p>
          <a:p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el </a:t>
            </a:r>
            <a:r>
              <a:rPr lang="es-ES_tradnl" dirty="0">
                <a:solidFill>
                  <a:srgbClr val="002060"/>
                </a:solidFill>
              </a:rPr>
              <a:t>sesgo por variable omitida </a:t>
            </a:r>
            <a:r>
              <a:rPr lang="es-ES_tradnl" dirty="0"/>
              <a:t>cuando post-</a:t>
            </a:r>
            <a:r>
              <a:rPr lang="es-ES_tradnl" dirty="0" err="1"/>
              <a:t>double</a:t>
            </a:r>
            <a:r>
              <a:rPr lang="es-ES_tradnl" dirty="0"/>
              <a:t> </a:t>
            </a:r>
            <a:r>
              <a:rPr lang="es-ES_tradnl" dirty="0" err="1"/>
              <a:t>lasso</a:t>
            </a:r>
            <a:r>
              <a:rPr lang="es-ES_tradnl" dirty="0"/>
              <a:t> no incluye controles relevantes</a:t>
            </a:r>
          </a:p>
          <a:p>
            <a:endParaRPr lang="es-ES_tradnl" sz="1400" dirty="0"/>
          </a:p>
          <a:p>
            <a:r>
              <a:rPr lang="es-ES_tradnl" dirty="0"/>
              <a:t>Hablamos de las recomendaciones prácticas que sugieren los autores</a:t>
            </a:r>
          </a:p>
          <a:p>
            <a:endParaRPr lang="es-ES_tradnl" sz="1400" dirty="0"/>
          </a:p>
          <a:p>
            <a:r>
              <a:rPr lang="es-ES_tradnl" dirty="0">
                <a:solidFill>
                  <a:srgbClr val="002060"/>
                </a:solidFill>
              </a:rPr>
              <a:t>Implicancias para </a:t>
            </a:r>
            <a:r>
              <a:rPr lang="es-ES_tradnl" dirty="0" err="1">
                <a:solidFill>
                  <a:srgbClr val="002060"/>
                </a:solidFill>
              </a:rPr>
              <a:t>research</a:t>
            </a:r>
            <a:r>
              <a:rPr lang="es-ES_tradnl" dirty="0">
                <a:solidFill>
                  <a:srgbClr val="002060"/>
                </a:solidFill>
              </a:rPr>
              <a:t> futuro</a:t>
            </a:r>
            <a:r>
              <a:rPr lang="es-ES_tradnl" dirty="0"/>
              <a:t>: ver estas propiedades teóricas de muestras finitas para métodos </a:t>
            </a:r>
            <a:r>
              <a:rPr lang="es-ES_tradnl" dirty="0">
                <a:solidFill>
                  <a:srgbClr val="002060"/>
                </a:solidFill>
              </a:rPr>
              <a:t>Lasso-IV</a:t>
            </a:r>
            <a:r>
              <a:rPr lang="es-ES_tradnl" dirty="0"/>
              <a:t> con problema de </a:t>
            </a:r>
            <a:r>
              <a:rPr lang="es-ES_tradnl" dirty="0">
                <a:solidFill>
                  <a:srgbClr val="002060"/>
                </a:solidFill>
              </a:rPr>
              <a:t>instrumentos débiles</a:t>
            </a:r>
            <a:r>
              <a:rPr lang="es-ES_tradnl" dirty="0"/>
              <a:t>.</a:t>
            </a:r>
          </a:p>
          <a:p>
            <a:endParaRPr lang="es-ES_tradnl" dirty="0"/>
          </a:p>
          <a:p>
            <a:endParaRPr lang="es-ES_tradnl" dirty="0"/>
          </a:p>
          <a:p>
            <a:pPr lvl="1"/>
            <a:endParaRPr lang="es-ES_tradnl" dirty="0"/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A2A54-4078-34E4-08F6-D0161987F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118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Aprendimos</a:t>
            </a:r>
            <a:r>
              <a:rPr lang="es-ES_tradnl" dirty="0"/>
              <a:t> los tres tipos de </a:t>
            </a:r>
            <a:r>
              <a:rPr lang="es-ES_tradnl" dirty="0">
                <a:solidFill>
                  <a:srgbClr val="002060"/>
                </a:solidFill>
              </a:rPr>
              <a:t>regularización</a:t>
            </a:r>
            <a:r>
              <a:rPr lang="es-ES_tradnl" dirty="0"/>
              <a:t> (aumentar sesgos de coeficientes, reducir varianza)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LASSO -&gt; penalidad estricta: selecciona predictores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Ridge -&gt; penalidad no estricta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Elastic net: combinación lineal de ambas penalidades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880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466B93-964D-A72E-FB12-DE627F299F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Comparamos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analíticamente</a:t>
                </a:r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2060"/>
                    </a:solidFill>
                  </a:rPr>
                  <a:t>visualmente</a:t>
                </a:r>
                <a:r>
                  <a:rPr lang="es-ES_tradnl" dirty="0"/>
                  <a:t> los métodos de regularización y selección de variables.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Medidas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norm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Discutimos </a:t>
                </a:r>
                <a:r>
                  <a:rPr lang="es-ES_tradnl" dirty="0"/>
                  <a:t>la elección de penalidad por </a:t>
                </a:r>
                <a:r>
                  <a:rPr lang="es-ES_tradnl" i="1" dirty="0" err="1"/>
                  <a:t>cross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validation</a:t>
                </a:r>
                <a:r>
                  <a:rPr lang="es-ES_tradnl" i="1" dirty="0"/>
                  <a:t> </a:t>
                </a:r>
                <a:r>
                  <a:rPr lang="es-ES_tradnl" dirty="0"/>
                  <a:t>y el trade-off sesgo-varianza para regularización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En el apéndice:</a:t>
                </a:r>
                <a:r>
                  <a:rPr lang="es-ES_tradnl" dirty="0"/>
                  <a:t> el caso particular cuando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y la solución de los tipos de regularización de Ridge y LASSO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466B93-964D-A72E-FB12-DE627F299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163" r="-19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365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</a:t>
            </a:r>
            <a:r>
              <a:rPr lang="es-ES_tradnl" dirty="0"/>
              <a:t> las diferencias de interpretación de causal vs. de correlación 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Entendimos</a:t>
            </a:r>
            <a:r>
              <a:rPr lang="es-ES_tradnl" dirty="0"/>
              <a:t> los </a:t>
            </a:r>
            <a:r>
              <a:rPr lang="es-ES_tradnl" dirty="0">
                <a:solidFill>
                  <a:srgbClr val="002060"/>
                </a:solidFill>
              </a:rPr>
              <a:t>problemas</a:t>
            </a:r>
            <a:r>
              <a:rPr lang="es-ES_tradnl" dirty="0"/>
              <a:t> de usar de post-</a:t>
            </a:r>
            <a:r>
              <a:rPr lang="es-ES_tradnl" dirty="0" err="1"/>
              <a:t>double</a:t>
            </a:r>
            <a:r>
              <a:rPr lang="es-ES_tradnl" dirty="0"/>
              <a:t> LASSO y hacer inferencia causal por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Wüthrich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y Zhu (2023)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Resultado principal: en determinados contextos post-</a:t>
            </a:r>
            <a:r>
              <a:rPr lang="es-ES_tradnl" dirty="0" err="1"/>
              <a:t>double</a:t>
            </a:r>
            <a:r>
              <a:rPr lang="es-ES_tradnl" dirty="0"/>
              <a:t> LASSO puede introducir un </a:t>
            </a:r>
            <a:r>
              <a:rPr lang="es-ES_tradnl" dirty="0">
                <a:solidFill>
                  <a:srgbClr val="FF0000"/>
                </a:solidFill>
              </a:rPr>
              <a:t>sesgo por variable omitida </a:t>
            </a:r>
            <a:r>
              <a:rPr lang="es-ES_tradnl" dirty="0"/>
              <a:t>y </a:t>
            </a:r>
            <a:r>
              <a:rPr lang="es-ES_tradnl" dirty="0">
                <a:solidFill>
                  <a:srgbClr val="FF0000"/>
                </a:solidFill>
              </a:rPr>
              <a:t>no</a:t>
            </a:r>
            <a:r>
              <a:rPr lang="es-ES_tradnl" dirty="0"/>
              <a:t> estaremos haciendo una </a:t>
            </a:r>
            <a:r>
              <a:rPr lang="es-ES_tradnl" dirty="0">
                <a:solidFill>
                  <a:srgbClr val="002060"/>
                </a:solidFill>
              </a:rPr>
              <a:t>correcta interpretación causal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Resumimos </a:t>
            </a:r>
            <a:r>
              <a:rPr lang="es-ES_tradnl" dirty="0"/>
              <a:t>aplicaciones y cuestiones practicar para su correcto uso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 </a:t>
            </a:r>
            <a:r>
              <a:rPr lang="es-ES_tradnl" dirty="0"/>
              <a:t>el uso de ML en salud y cómo el enfoque economista puede ayudar al debate</a:t>
            </a:r>
            <a:endParaRPr lang="es-ES_tradnl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106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2691B-CF10-5680-BD6C-85AADDB8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F2F9B6-011C-652A-15CF-EA09EFB45B0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 err="1"/>
                  <a:t>Apendice</a:t>
                </a:r>
                <a:r>
                  <a:rPr lang="es-ES_tradnl" dirty="0"/>
                  <a:t>: Casos Particulares usando Ridge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F2F9B6-011C-652A-15CF-EA09EFB45B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498" b="-1415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1A6B3-B9E2-FB26-732C-7E081BDB6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Zou, H. y Hastie, T., 2005, Regularization and variable selection via the elastic net, </a:t>
            </a:r>
            <a:r>
              <a:rPr lang="en-US" i="1" dirty="0"/>
              <a:t>Journal of the Royal Statistical Society</a:t>
            </a:r>
            <a:r>
              <a:rPr lang="en-US" dirty="0"/>
              <a:t>, 67, 2, 301-320.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C5100-86E1-F225-7F3B-45DF286B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001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E468-6D9E-B384-B74B-9355A676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</a:t>
            </a:r>
            <a:r>
              <a:rPr lang="en-US" dirty="0"/>
              <a:t> de MCO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49187-5757-9DE3-D93E-1AE01798EC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¿Rango? </a:t>
                </a:r>
              </a:p>
              <a:p>
                <a:pPr lvl="1"/>
                <a:r>
                  <a:rPr lang="es-ES_tradnl" b="1" dirty="0">
                    <a:solidFill>
                      <a:srgbClr val="002060"/>
                    </a:solidFill>
                  </a:rPr>
                  <a:t>Def</a:t>
                </a:r>
                <a:r>
                  <a:rPr lang="es-ES_tradnl" dirty="0"/>
                  <a:t>: Máximo número de filas o columnas linealmente independientes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r>
                  <a:rPr lang="es-ES_tradnl" dirty="0"/>
                  <a:t>MCO: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dirty="0"/>
                  <a:t> implica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endParaRPr lang="es-ES_tradnl" sz="120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⟹</m:t>
                    </m:r>
                  </m:oMath>
                </a14:m>
                <a:r>
                  <a:rPr lang="es-ES_tradnl" dirty="0"/>
                  <a:t>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pPr marL="914400" lvl="2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49187-5757-9DE3-D93E-1AE01798E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r="-1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6146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DAE468-6D9E-B384-B74B-9355A67677B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Problema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DAE468-6D9E-B384-B74B-9355A6767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49187-5757-9DE3-D93E-1AE01798EC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dirty="0"/>
                  <a:t> no es invertible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Practica</a:t>
                </a:r>
                <a:r>
                  <a:rPr lang="es-ES_tradnl" dirty="0"/>
                  <a:t>: Datos de Genética: inversión en genética bovina (leche o carne)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Punto</a:t>
                </a:r>
                <a:r>
                  <a:rPr lang="es-ES_tradnl" dirty="0"/>
                  <a:t>: Ridge y LASSO funciona 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 Cómo?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49187-5757-9DE3-D93E-1AE01798E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r="-15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0436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07BD-58BF-AC98-E859-9DD0AB670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para 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3C9FD-F2EF-1597-160B-5A1A1E6A2E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s-ES_tradnl" dirty="0"/>
                  <a:t>Supongamos que los datos fueron previamente estandarizados (no intercepto)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Definamos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datos artificiales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de la siguiente forma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0,…,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,…,0</m:t>
                        </m:r>
                      </m:e>
                    </m:d>
                  </m:oMath>
                </a14:m>
                <a:r>
                  <a:rPr lang="es-ES_tradnl" dirty="0"/>
                  <a:t> donde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rad>
                  </m:oMath>
                </a14:m>
                <a:r>
                  <a:rPr lang="es-ES_tradnl" dirty="0"/>
                  <a:t> está en la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_tradnl" dirty="0"/>
                  <a:t>-</a:t>
                </a:r>
                <a:r>
                  <a:rPr lang="es-ES_tradnl" dirty="0" err="1"/>
                  <a:t>ésima</a:t>
                </a:r>
                <a:r>
                  <a:rPr lang="es-ES_tradnl" dirty="0"/>
                  <a:t> posición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3C9FD-F2EF-1597-160B-5A1A1E6A2E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442" b="-4098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6957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E7E9-4430-CBC3-19FE-698619C8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para Ridge (</a:t>
            </a:r>
            <a:r>
              <a:rPr lang="es-ES_tradnl" i="1" dirty="0"/>
              <a:t>continua</a:t>
            </a:r>
            <a:r>
              <a:rPr lang="es-ES_tradn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97C5FF-FCDC-06ED-788C-EBA4A3152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Si “apilamos” los datos originales y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nuevos 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bSup>
                      </m:e>
                    </m:d>
                  </m:oMath>
                </a14:m>
                <a:r>
                  <a:rPr lang="es-ES_tradnl" dirty="0"/>
                  <a:t>, matricialmente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Notar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s-ES_tradnl" dirty="0"/>
                  <a:t> es una matriz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s-ES_tradnl" dirty="0"/>
                  <a:t>. Como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 entonces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ES_tradnl" dirty="0"/>
                  <a:t> es invertible, aun cuando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dirty="0"/>
                  <a:t> no</a:t>
                </a:r>
              </a:p>
              <a:p>
                <a:pPr marL="0" indent="0">
                  <a:buNone/>
                </a:pPr>
                <a:endParaRPr lang="es-ES_tradnl" dirty="0"/>
              </a:p>
              <a:p>
                <a:pPr marL="0" indent="0">
                  <a:buNone/>
                </a:pPr>
                <a:r>
                  <a:rPr lang="es-ES_tradnl" b="1" dirty="0">
                    <a:solidFill>
                      <a:srgbClr val="FF0000"/>
                    </a:solidFill>
                  </a:rPr>
                  <a:t>Intuición</a:t>
                </a:r>
                <a:r>
                  <a:rPr lang="es-ES_tradnl" b="1" dirty="0"/>
                  <a:t>:</a:t>
                </a:r>
                <a:r>
                  <a:rPr lang="es-ES_tradnl" dirty="0"/>
                  <a:t> Ridge es como que agrega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puntos adicionales. Esto permite lidiar con el problema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97C5FF-FCDC-06ED-788C-EBA4A3152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612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2936</TotalTime>
  <Words>3751</Words>
  <Application>Microsoft Macintosh PowerPoint</Application>
  <PresentationFormat>Panorámica</PresentationFormat>
  <Paragraphs>503</Paragraphs>
  <Slides>65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65</vt:i4>
      </vt:variant>
    </vt:vector>
  </HeadingPairs>
  <TitlesOfParts>
    <vt:vector size="74" baseType="lpstr">
      <vt:lpstr>Arial</vt:lpstr>
      <vt:lpstr>Calibri</vt:lpstr>
      <vt:lpstr>Cambria Math</vt:lpstr>
      <vt:lpstr>Courier New</vt:lpstr>
      <vt:lpstr>Gill Sans Nova Light</vt:lpstr>
      <vt:lpstr>Goudy Old Style</vt:lpstr>
      <vt:lpstr>Times</vt:lpstr>
      <vt:lpstr>Times New Roman</vt:lpstr>
      <vt:lpstr>Office Theme</vt:lpstr>
      <vt:lpstr>Métodos de Regularización:  Ridge, LASSO &amp; Elastic Net</vt:lpstr>
      <vt:lpstr>En la clase de hoy</vt:lpstr>
      <vt:lpstr>Métodos de Regularización</vt:lpstr>
      <vt:lpstr>Motivación: Problemas de MCO en la practica</vt:lpstr>
      <vt:lpstr>Idea de “regularizar”</vt:lpstr>
      <vt:lpstr>Regularización I: Ridge</vt:lpstr>
      <vt:lpstr>Ridge</vt:lpstr>
      <vt:lpstr>Caso simple I: un predictor, normalizado</vt:lpstr>
      <vt:lpstr>Caso simple II: un predictor, normalizado</vt:lpstr>
      <vt:lpstr>Comparación de Métodos: Bajo los supuestos clásicos con un predictor normalizado</vt:lpstr>
      <vt:lpstr>Comparación de Métodos (continua): Bajo los supuestos clásicos con un predictor normalizado</vt:lpstr>
      <vt:lpstr>Comentarios técnicos &amp; Consideraciones</vt:lpstr>
      <vt:lpstr>Regularización II: LASSO</vt:lpstr>
      <vt:lpstr>LASSO: Least Absolute Shrinkage and Selection Operator</vt:lpstr>
      <vt:lpstr>LASSO (continua)</vt:lpstr>
      <vt:lpstr>Solución esquina: un predictor, normalizado</vt:lpstr>
      <vt:lpstr>Visualización de escenarios posibles con β&gt;0 </vt:lpstr>
      <vt:lpstr>Formalmente: Solución esquina</vt:lpstr>
      <vt:lpstr>Formalmente: Solución interior </vt:lpstr>
      <vt:lpstr>Intuiciones para Economistas</vt:lpstr>
      <vt:lpstr>Consideraciones: Objetivos &amp; en la Práctica</vt:lpstr>
      <vt:lpstr>Problemas en la práctica con LASSO</vt:lpstr>
      <vt:lpstr>Regularización III: Elastic Net</vt:lpstr>
      <vt:lpstr>Naive Elastic Net</vt:lpstr>
      <vt:lpstr>Naive Elastic Net:  Bajo el supuesto un predictor estandarizado</vt:lpstr>
      <vt:lpstr>Elastic Net</vt:lpstr>
      <vt:lpstr>Elección de parámetro de penalidad (o tuning) λ </vt:lpstr>
      <vt:lpstr>Ilustración I: Error de Cross-Validation para Ridge</vt:lpstr>
      <vt:lpstr>Ilustración II: Error de Cross-Validation para LASSO</vt:lpstr>
      <vt:lpstr>Comparación de modelos</vt:lpstr>
      <vt:lpstr>Métodos de Regularización en general</vt:lpstr>
      <vt:lpstr>Funciones de Penalización</vt:lpstr>
      <vt:lpstr>Ilustración 0: Contorno y RSS </vt:lpstr>
      <vt:lpstr>Ilustración I: Contorno de Coeficientes</vt:lpstr>
      <vt:lpstr>Ilustración II: Regularización para Ridge</vt:lpstr>
      <vt:lpstr>Ilustración III: Regularización para LASSO</vt:lpstr>
      <vt:lpstr>Repaso: Correlación versus Causalidad</vt:lpstr>
      <vt:lpstr>Reiteramos la diferencia…</vt:lpstr>
      <vt:lpstr>El problema de la interpretación causal</vt:lpstr>
      <vt:lpstr>Versión super simplificada del Economía Aplicada</vt:lpstr>
      <vt:lpstr>Clase de hoy: Big Data y Enfoque</vt:lpstr>
      <vt:lpstr>Sesgo por Variable Omitida en Métodos de Inferencia Basados en LASSO: Un Análisis de Muestra Finitas</vt:lpstr>
      <vt:lpstr>Motivación: Problema</vt:lpstr>
      <vt:lpstr>Motivación: Pregunta de investigación </vt:lpstr>
      <vt:lpstr>Ilustración del problema: 3 Escenarios posibles</vt:lpstr>
      <vt:lpstr>Contribución a la literatura</vt:lpstr>
      <vt:lpstr>Resultados Principales I</vt:lpstr>
      <vt:lpstr>Resultados Principales II</vt:lpstr>
      <vt:lpstr>LASSO en Wüthrich &amp; Zhu (2023)</vt:lpstr>
      <vt:lpstr>Post-Double Lasso en Wüthrich &amp; Zhu (2023) </vt:lpstr>
      <vt:lpstr>Ilustración Numérica</vt:lpstr>
      <vt:lpstr>Implicancias para la Practica Empirica </vt:lpstr>
      <vt:lpstr>Recomendaciones de los Autores</vt:lpstr>
      <vt:lpstr>Recomendaciones de los Autores</vt:lpstr>
      <vt:lpstr>Conclusiones</vt:lpstr>
      <vt:lpstr>Conclusiones finales</vt:lpstr>
      <vt:lpstr>¿Qué aprendimos hoy?</vt:lpstr>
      <vt:lpstr>¿Qué aprendimos hoy?</vt:lpstr>
      <vt:lpstr>¿Qué aprendimos hoy?</vt:lpstr>
      <vt:lpstr>¿Dudas, consultas?</vt:lpstr>
      <vt:lpstr>Apendice: Casos Particulares usando Ridge (n≤p)</vt:lpstr>
      <vt:lpstr>Repaso de MCO</vt:lpstr>
      <vt:lpstr>Problema n≤p</vt:lpstr>
      <vt:lpstr>Intuición para Ridge</vt:lpstr>
      <vt:lpstr>Intuición para Ridge (continua)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187</cp:revision>
  <dcterms:created xsi:type="dcterms:W3CDTF">2023-06-12T20:51:31Z</dcterms:created>
  <dcterms:modified xsi:type="dcterms:W3CDTF">2026-08-24T18:12:31Z</dcterms:modified>
</cp:coreProperties>
</file>