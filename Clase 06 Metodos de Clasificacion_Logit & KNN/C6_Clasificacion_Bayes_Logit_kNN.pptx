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489" r:id="rId2"/>
    <p:sldId id="259" r:id="rId3"/>
    <p:sldId id="405" r:id="rId4"/>
    <p:sldId id="406" r:id="rId5"/>
    <p:sldId id="303" r:id="rId6"/>
    <p:sldId id="257" r:id="rId7"/>
    <p:sldId id="410" r:id="rId8"/>
    <p:sldId id="267" r:id="rId9"/>
    <p:sldId id="275" r:id="rId10"/>
    <p:sldId id="412" r:id="rId11"/>
    <p:sldId id="413" r:id="rId12"/>
    <p:sldId id="322" r:id="rId13"/>
    <p:sldId id="268" r:id="rId14"/>
    <p:sldId id="260" r:id="rId15"/>
    <p:sldId id="414" r:id="rId16"/>
    <p:sldId id="266" r:id="rId17"/>
    <p:sldId id="276" r:id="rId18"/>
    <p:sldId id="323" r:id="rId19"/>
    <p:sldId id="304" r:id="rId20"/>
    <p:sldId id="272" r:id="rId21"/>
    <p:sldId id="338" r:id="rId22"/>
    <p:sldId id="415" r:id="rId23"/>
    <p:sldId id="416" r:id="rId24"/>
    <p:sldId id="277" r:id="rId25"/>
    <p:sldId id="278" r:id="rId26"/>
    <p:sldId id="279" r:id="rId27"/>
    <p:sldId id="280" r:id="rId28"/>
    <p:sldId id="281" r:id="rId29"/>
    <p:sldId id="522" r:id="rId30"/>
    <p:sldId id="325" r:id="rId31"/>
    <p:sldId id="521" r:id="rId32"/>
    <p:sldId id="305" r:id="rId33"/>
    <p:sldId id="261" r:id="rId34"/>
    <p:sldId id="417" r:id="rId35"/>
    <p:sldId id="408" r:id="rId36"/>
    <p:sldId id="284" r:id="rId37"/>
    <p:sldId id="523" r:id="rId38"/>
    <p:sldId id="319" r:id="rId39"/>
    <p:sldId id="324" r:id="rId40"/>
    <p:sldId id="337" r:id="rId41"/>
    <p:sldId id="300" r:id="rId42"/>
    <p:sldId id="496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A5E9202-8AF9-7B42-B817-22D148D689E3}">
          <p14:sldIdLst>
            <p14:sldId id="489"/>
            <p14:sldId id="259"/>
            <p14:sldId id="405"/>
            <p14:sldId id="406"/>
          </p14:sldIdLst>
        </p14:section>
        <p14:section name="Introduccion a clasificacion: Motivacion" id="{F06AC147-1820-E64A-873C-8C467231AE8F}">
          <p14:sldIdLst>
            <p14:sldId id="303"/>
            <p14:sldId id="257"/>
            <p14:sldId id="410"/>
            <p14:sldId id="267"/>
            <p14:sldId id="275"/>
            <p14:sldId id="412"/>
            <p14:sldId id="413"/>
          </p14:sldIdLst>
        </p14:section>
        <p14:section name="Clasificador de Bayes" id="{75D31724-3B6C-E842-978D-4FEEBABBFA4D}">
          <p14:sldIdLst>
            <p14:sldId id="322"/>
            <p14:sldId id="268"/>
            <p14:sldId id="260"/>
            <p14:sldId id="414"/>
            <p14:sldId id="266"/>
            <p14:sldId id="276"/>
            <p14:sldId id="323"/>
          </p14:sldIdLst>
        </p14:section>
        <p14:section name="Regresion logistica" id="{2E57ED2F-9D3F-B24B-9EE9-DAF2BAA9B52E}">
          <p14:sldIdLst>
            <p14:sldId id="304"/>
            <p14:sldId id="272"/>
            <p14:sldId id="338"/>
            <p14:sldId id="415"/>
          </p14:sldIdLst>
        </p14:section>
        <p14:section name="Maxima Verosimilitud" id="{C7B1B21F-2FF4-3348-A0A0-B4FC4E7A73E8}">
          <p14:sldIdLst>
            <p14:sldId id="416"/>
            <p14:sldId id="277"/>
            <p14:sldId id="278"/>
            <p14:sldId id="279"/>
            <p14:sldId id="280"/>
            <p14:sldId id="281"/>
          </p14:sldIdLst>
        </p14:section>
        <p14:section name="Aplicacion Logit" id="{A93DBF9C-5601-B84F-AF0F-1BE4C76D83D4}">
          <p14:sldIdLst>
            <p14:sldId id="522"/>
            <p14:sldId id="325"/>
            <p14:sldId id="521"/>
          </p14:sldIdLst>
        </p14:section>
        <p14:section name="Vecinos ceranos" id="{5623DDE8-0602-0D4F-AFA1-3B05F3F0BCCE}">
          <p14:sldIdLst>
            <p14:sldId id="305"/>
            <p14:sldId id="261"/>
            <p14:sldId id="417"/>
            <p14:sldId id="408"/>
            <p14:sldId id="284"/>
            <p14:sldId id="523"/>
          </p14:sldIdLst>
        </p14:section>
        <p14:section name="Aplicacion de Vecinos Cercanos" id="{A95A98F8-39CB-444E-BFB7-60CD4FFF73DC}">
          <p14:sldIdLst>
            <p14:sldId id="319"/>
            <p14:sldId id="324"/>
          </p14:sldIdLst>
        </p14:section>
        <p14:section name="Conclusiones finales" id="{30AE4762-25DE-C74D-AF95-4AEC0CC37FB0}">
          <p14:sldIdLst>
            <p14:sldId id="337"/>
            <p14:sldId id="300"/>
            <p14:sldId id="49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9345E9-0D70-6546-B18B-FC85DE87023D}" v="1" dt="2026-08-03T19:27:31.9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37"/>
    <p:restoredTop sz="95574"/>
  </p:normalViewPr>
  <p:slideViewPr>
    <p:cSldViewPr snapToGrid="0">
      <p:cViewPr varScale="1">
        <p:scale>
          <a:sx n="106" d="100"/>
          <a:sy n="106" d="100"/>
        </p:scale>
        <p:origin x="32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ía Noelia Romero" userId="2133f5768dfc5791" providerId="LiveId" clId="{0168CA65-A813-5033-94B8-EF4605FC29D1}"/>
    <pc:docChg chg="undo custSel addSld delSld modSld modSection">
      <pc:chgData name="María Noelia Romero" userId="2133f5768dfc5791" providerId="LiveId" clId="{0168CA65-A813-5033-94B8-EF4605FC29D1}" dt="2026-08-03T19:30:20.367" v="776" actId="20577"/>
      <pc:docMkLst>
        <pc:docMk/>
      </pc:docMkLst>
      <pc:sldChg chg="modSp mod">
        <pc:chgData name="María Noelia Romero" userId="2133f5768dfc5791" providerId="LiveId" clId="{0168CA65-A813-5033-94B8-EF4605FC29D1}" dt="2026-08-03T19:27:57.020" v="774" actId="20577"/>
        <pc:sldMkLst>
          <pc:docMk/>
          <pc:sldMk cId="2967380855" sldId="300"/>
        </pc:sldMkLst>
        <pc:spChg chg="mod">
          <ac:chgData name="María Noelia Romero" userId="2133f5768dfc5791" providerId="LiveId" clId="{0168CA65-A813-5033-94B8-EF4605FC29D1}" dt="2026-08-03T19:27:57.020" v="774" actId="20577"/>
          <ac:spMkLst>
            <pc:docMk/>
            <pc:sldMk cId="2967380855" sldId="300"/>
            <ac:spMk id="3" creationId="{8A1A5571-2769-CCAB-A4A1-42266B991BF9}"/>
          </ac:spMkLst>
        </pc:spChg>
      </pc:sldChg>
      <pc:sldChg chg="modSp add del mod">
        <pc:chgData name="María Noelia Romero" userId="2133f5768dfc5791" providerId="LiveId" clId="{0168CA65-A813-5033-94B8-EF4605FC29D1}" dt="2026-08-03T19:27:12.164" v="769" actId="2696"/>
        <pc:sldMkLst>
          <pc:docMk/>
          <pc:sldMk cId="116316082" sldId="470"/>
        </pc:sldMkLst>
      </pc:sldChg>
      <pc:sldChg chg="modSp mod">
        <pc:chgData name="María Noelia Romero" userId="2133f5768dfc5791" providerId="LiveId" clId="{0168CA65-A813-5033-94B8-EF4605FC29D1}" dt="2026-08-03T19:30:20.367" v="776" actId="20577"/>
        <pc:sldMkLst>
          <pc:docMk/>
          <pc:sldMk cId="439331348" sldId="489"/>
        </pc:sldMkLst>
        <pc:spChg chg="mod">
          <ac:chgData name="María Noelia Romero" userId="2133f5768dfc5791" providerId="LiveId" clId="{0168CA65-A813-5033-94B8-EF4605FC29D1}" dt="2026-08-03T19:30:20.367" v="776" actId="20577"/>
          <ac:spMkLst>
            <pc:docMk/>
            <pc:sldMk cId="439331348" sldId="489"/>
            <ac:spMk id="3" creationId="{C1F55BDD-1493-5FB8-8EDB-106F9B362918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7C43C6C-5135-BC4B-BD1E-02F38DA0ECBD}" type="doc">
      <dgm:prSet loTypeId="urn:microsoft.com/office/officeart/2005/8/layout/gear1" loCatId="" qsTypeId="urn:microsoft.com/office/officeart/2005/8/quickstyle/simple1" qsCatId="simple" csTypeId="urn:microsoft.com/office/officeart/2005/8/colors/colorful3" csCatId="colorful" phldr="1"/>
      <dgm:spPr/>
    </dgm:pt>
    <dgm:pt modelId="{9D5834D3-DCBE-FE4A-9F3C-70C1F66B4852}">
      <dgm:prSet phldrT="[Text]" custT="1"/>
      <dgm:spPr/>
      <dgm:t>
        <a:bodyPr/>
        <a:lstStyle/>
        <a:p>
          <a:r>
            <a:rPr lang="es-ES_tradnl" sz="2800" noProof="0" dirty="0">
              <a:latin typeface="Gill Sans Nova Light" panose="020B0302020104020203" pitchFamily="34" charset="0"/>
            </a:rPr>
            <a:t>Modelos y Predicción</a:t>
          </a:r>
        </a:p>
      </dgm:t>
    </dgm:pt>
    <dgm:pt modelId="{BCAE287E-ED9A-3E48-8722-8F6B9573D100}" type="parTrans" cxnId="{FB2A3C33-0D71-9C4D-BC1C-42096B83FC77}">
      <dgm:prSet/>
      <dgm:spPr/>
      <dgm:t>
        <a:bodyPr/>
        <a:lstStyle/>
        <a:p>
          <a:endParaRPr lang="es-ES_tradnl" sz="2000" noProof="0" dirty="0">
            <a:latin typeface="Gill Sans Nova Light" panose="020B0302020104020203" pitchFamily="34" charset="0"/>
          </a:endParaRPr>
        </a:p>
      </dgm:t>
    </dgm:pt>
    <dgm:pt modelId="{E1154557-80C0-D242-9F38-2AE22E6B7511}" type="sibTrans" cxnId="{FB2A3C33-0D71-9C4D-BC1C-42096B83FC77}">
      <dgm:prSet/>
      <dgm:spPr/>
      <dgm:t>
        <a:bodyPr/>
        <a:lstStyle/>
        <a:p>
          <a:endParaRPr lang="es-ES_tradnl" sz="2000" noProof="0" dirty="0">
            <a:latin typeface="Gill Sans Nova Light" panose="020B0302020104020203" pitchFamily="34" charset="0"/>
          </a:endParaRPr>
        </a:p>
      </dgm:t>
    </dgm:pt>
    <dgm:pt modelId="{5C1D9BF3-4558-C441-8CDB-F5F25B657909}">
      <dgm:prSet phldrT="[Text]" custT="1"/>
      <dgm:spPr/>
      <dgm:t>
        <a:bodyPr/>
        <a:lstStyle/>
        <a:p>
          <a:r>
            <a:rPr lang="es-ES_tradnl" sz="1800" noProof="0" dirty="0">
              <a:latin typeface="Gill Sans Nova Light" panose="020B0302020104020203" pitchFamily="34" charset="0"/>
            </a:rPr>
            <a:t>Análisis Descriptivo</a:t>
          </a:r>
        </a:p>
      </dgm:t>
    </dgm:pt>
    <dgm:pt modelId="{881D90E0-E7C8-CC43-93B2-383911E0D2EB}" type="parTrans" cxnId="{BA1A178B-6B5D-DF41-9526-BE3200DB3305}">
      <dgm:prSet/>
      <dgm:spPr/>
      <dgm:t>
        <a:bodyPr/>
        <a:lstStyle/>
        <a:p>
          <a:endParaRPr lang="es-ES_tradnl" sz="2000" noProof="0" dirty="0">
            <a:latin typeface="Gill Sans Nova Light" panose="020B0302020104020203" pitchFamily="34" charset="0"/>
          </a:endParaRPr>
        </a:p>
      </dgm:t>
    </dgm:pt>
    <dgm:pt modelId="{A795D308-22A9-A146-9196-142AFCE44F43}" type="sibTrans" cxnId="{BA1A178B-6B5D-DF41-9526-BE3200DB3305}">
      <dgm:prSet/>
      <dgm:spPr/>
      <dgm:t>
        <a:bodyPr/>
        <a:lstStyle/>
        <a:p>
          <a:endParaRPr lang="es-ES_tradnl" sz="2000" noProof="0" dirty="0">
            <a:latin typeface="Gill Sans Nova Light" panose="020B0302020104020203" pitchFamily="34" charset="0"/>
          </a:endParaRPr>
        </a:p>
      </dgm:t>
    </dgm:pt>
    <dgm:pt modelId="{D037808B-2E47-824B-B2E4-91155269E95D}">
      <dgm:prSet phldrT="[Text]" custT="1"/>
      <dgm:spPr/>
      <dgm:t>
        <a:bodyPr/>
        <a:lstStyle/>
        <a:p>
          <a:r>
            <a:rPr lang="es-ES_tradnl" sz="1800" noProof="0" dirty="0">
              <a:latin typeface="Gill Sans Nova Light" panose="020B0302020104020203" pitchFamily="34" charset="0"/>
            </a:rPr>
            <a:t>Limpieza de Datos</a:t>
          </a:r>
        </a:p>
      </dgm:t>
    </dgm:pt>
    <dgm:pt modelId="{ED8788D8-BEA6-C54B-993B-DA641453DD4E}" type="parTrans" cxnId="{956A9FDE-4C36-5441-913C-2944680EE34A}">
      <dgm:prSet/>
      <dgm:spPr/>
      <dgm:t>
        <a:bodyPr/>
        <a:lstStyle/>
        <a:p>
          <a:endParaRPr lang="es-ES_tradnl" sz="2000" noProof="0" dirty="0">
            <a:latin typeface="Gill Sans Nova Light" panose="020B0302020104020203" pitchFamily="34" charset="0"/>
          </a:endParaRPr>
        </a:p>
      </dgm:t>
    </dgm:pt>
    <dgm:pt modelId="{8D702279-B072-BE41-8B74-E88DB5DFA9BD}" type="sibTrans" cxnId="{956A9FDE-4C36-5441-913C-2944680EE34A}">
      <dgm:prSet/>
      <dgm:spPr/>
      <dgm:t>
        <a:bodyPr/>
        <a:lstStyle/>
        <a:p>
          <a:endParaRPr lang="es-ES_tradnl" sz="2000" noProof="0" dirty="0">
            <a:latin typeface="Gill Sans Nova Light" panose="020B0302020104020203" pitchFamily="34" charset="0"/>
          </a:endParaRPr>
        </a:p>
      </dgm:t>
    </dgm:pt>
    <dgm:pt modelId="{E0056E4B-8ACB-724F-BDAD-85D5C5F064AF}">
      <dgm:prSet phldrT="[Text]" custT="1"/>
      <dgm:spPr/>
      <dgm:t>
        <a:bodyPr/>
        <a:lstStyle/>
        <a:p>
          <a:r>
            <a:rPr lang="es-ES_tradnl" sz="1600" noProof="0" dirty="0">
              <a:latin typeface="Gill Sans Nova Light" panose="020B0302020104020203" pitchFamily="34" charset="0"/>
            </a:rPr>
            <a:t>Training-</a:t>
          </a:r>
          <a:r>
            <a:rPr lang="es-ES_tradnl" sz="1600" noProof="0" dirty="0" err="1">
              <a:latin typeface="Gill Sans Nova Light" panose="020B0302020104020203" pitchFamily="34" charset="0"/>
            </a:rPr>
            <a:t>Testing</a:t>
          </a:r>
          <a:r>
            <a:rPr lang="es-ES_tradnl" sz="1600" noProof="0" dirty="0">
              <a:latin typeface="Gill Sans Nova Light" panose="020B0302020104020203" pitchFamily="34" charset="0"/>
            </a:rPr>
            <a:t> </a:t>
          </a:r>
          <a:r>
            <a:rPr lang="es-ES_tradnl" sz="1600" noProof="0" dirty="0" err="1">
              <a:latin typeface="Gill Sans Nova Light" panose="020B0302020104020203" pitchFamily="34" charset="0"/>
            </a:rPr>
            <a:t>datasets</a:t>
          </a:r>
          <a:endParaRPr lang="es-ES_tradnl" sz="1600" noProof="0" dirty="0">
            <a:latin typeface="Gill Sans Nova Light" panose="020B0302020104020203" pitchFamily="34" charset="0"/>
          </a:endParaRPr>
        </a:p>
      </dgm:t>
    </dgm:pt>
    <dgm:pt modelId="{527175C8-8AF8-CC45-9FF1-D63223F04F2D}" type="parTrans" cxnId="{528BBA78-C629-A844-80CB-C14428F4095D}">
      <dgm:prSet/>
      <dgm:spPr/>
      <dgm:t>
        <a:bodyPr/>
        <a:lstStyle/>
        <a:p>
          <a:endParaRPr lang="es-ES_tradnl" sz="2000" noProof="0" dirty="0">
            <a:latin typeface="Gill Sans Nova Light" panose="020B0302020104020203" pitchFamily="34" charset="0"/>
          </a:endParaRPr>
        </a:p>
      </dgm:t>
    </dgm:pt>
    <dgm:pt modelId="{9B5DB3C3-3766-4348-8E63-CFF204EF4554}" type="sibTrans" cxnId="{528BBA78-C629-A844-80CB-C14428F4095D}">
      <dgm:prSet/>
      <dgm:spPr/>
      <dgm:t>
        <a:bodyPr/>
        <a:lstStyle/>
        <a:p>
          <a:endParaRPr lang="es-ES_tradnl" sz="2000" noProof="0" dirty="0">
            <a:latin typeface="Gill Sans Nova Light" panose="020B0302020104020203" pitchFamily="34" charset="0"/>
          </a:endParaRPr>
        </a:p>
      </dgm:t>
    </dgm:pt>
    <dgm:pt modelId="{E3A9F1EC-0DE4-4444-A45C-356F91B84DCB}">
      <dgm:prSet phldrT="[Text]" custT="1"/>
      <dgm:spPr/>
      <dgm:t>
        <a:bodyPr/>
        <a:lstStyle/>
        <a:p>
          <a:r>
            <a:rPr lang="es-ES_tradnl" sz="1600" noProof="0" dirty="0">
              <a:latin typeface="Gill Sans Nova Light" panose="020B0302020104020203" pitchFamily="34" charset="0"/>
            </a:rPr>
            <a:t>Muestras</a:t>
          </a:r>
        </a:p>
      </dgm:t>
    </dgm:pt>
    <dgm:pt modelId="{BD950AF3-A809-7143-9311-79DEFED2FA80}" type="parTrans" cxnId="{20BA4BF6-514D-794F-8331-E4FB9660C586}">
      <dgm:prSet/>
      <dgm:spPr/>
      <dgm:t>
        <a:bodyPr/>
        <a:lstStyle/>
        <a:p>
          <a:endParaRPr lang="es-ES_tradnl" sz="2000" noProof="0" dirty="0">
            <a:latin typeface="Gill Sans Nova Light" panose="020B0302020104020203" pitchFamily="34" charset="0"/>
          </a:endParaRPr>
        </a:p>
      </dgm:t>
    </dgm:pt>
    <dgm:pt modelId="{4FC2C2DB-B394-6143-9616-8DF215A5B6BF}" type="sibTrans" cxnId="{20BA4BF6-514D-794F-8331-E4FB9660C586}">
      <dgm:prSet/>
      <dgm:spPr/>
      <dgm:t>
        <a:bodyPr/>
        <a:lstStyle/>
        <a:p>
          <a:endParaRPr lang="es-ES_tradnl" sz="2000" noProof="0" dirty="0">
            <a:latin typeface="Gill Sans Nova Light" panose="020B0302020104020203" pitchFamily="34" charset="0"/>
          </a:endParaRPr>
        </a:p>
      </dgm:t>
    </dgm:pt>
    <dgm:pt modelId="{CCFA7035-6F6F-3D4B-8B35-A16AD6A921E7}">
      <dgm:prSet phldrT="[Text]" custT="1"/>
      <dgm:spPr/>
      <dgm:t>
        <a:bodyPr/>
        <a:lstStyle/>
        <a:p>
          <a:r>
            <a:rPr lang="es-ES_tradnl" sz="1600" noProof="0" dirty="0">
              <a:latin typeface="Gill Sans Nova Light" panose="020B0302020104020203" pitchFamily="34" charset="0"/>
            </a:rPr>
            <a:t>Tablas</a:t>
          </a:r>
        </a:p>
      </dgm:t>
    </dgm:pt>
    <dgm:pt modelId="{AB3F1680-3360-BE4D-A584-4042D38A7BA2}" type="parTrans" cxnId="{28408BF6-A79C-4143-A63D-6D814BBF52DB}">
      <dgm:prSet/>
      <dgm:spPr/>
      <dgm:t>
        <a:bodyPr/>
        <a:lstStyle/>
        <a:p>
          <a:endParaRPr lang="es-ES_tradnl" sz="2000" noProof="0" dirty="0">
            <a:latin typeface="Gill Sans Nova Light" panose="020B0302020104020203" pitchFamily="34" charset="0"/>
          </a:endParaRPr>
        </a:p>
      </dgm:t>
    </dgm:pt>
    <dgm:pt modelId="{79FCB476-72D0-A149-A9EB-DF7EAC0E0FF0}" type="sibTrans" cxnId="{28408BF6-A79C-4143-A63D-6D814BBF52DB}">
      <dgm:prSet/>
      <dgm:spPr/>
      <dgm:t>
        <a:bodyPr/>
        <a:lstStyle/>
        <a:p>
          <a:endParaRPr lang="es-ES_tradnl" sz="2000" noProof="0" dirty="0">
            <a:latin typeface="Gill Sans Nova Light" panose="020B0302020104020203" pitchFamily="34" charset="0"/>
          </a:endParaRPr>
        </a:p>
      </dgm:t>
    </dgm:pt>
    <dgm:pt modelId="{B3B5F46C-A648-504C-8AAC-30ED2BAFD987}">
      <dgm:prSet phldrT="[Text]" custT="1"/>
      <dgm:spPr/>
      <dgm:t>
        <a:bodyPr/>
        <a:lstStyle/>
        <a:p>
          <a:r>
            <a:rPr lang="es-ES_tradnl" sz="1600" noProof="0" dirty="0">
              <a:latin typeface="Gill Sans Nova Light" panose="020B0302020104020203" pitchFamily="34" charset="0"/>
            </a:rPr>
            <a:t>Histogramas</a:t>
          </a:r>
        </a:p>
      </dgm:t>
    </dgm:pt>
    <dgm:pt modelId="{5869E246-DEFC-A04C-9534-AD6BA0C6DD45}" type="parTrans" cxnId="{18D9A791-6FFE-7F4A-8CFE-0FD70E0CF150}">
      <dgm:prSet/>
      <dgm:spPr/>
      <dgm:t>
        <a:bodyPr/>
        <a:lstStyle/>
        <a:p>
          <a:endParaRPr lang="es-ES_tradnl" sz="2000" noProof="0" dirty="0">
            <a:latin typeface="Gill Sans Nova Light" panose="020B0302020104020203" pitchFamily="34" charset="0"/>
          </a:endParaRPr>
        </a:p>
      </dgm:t>
    </dgm:pt>
    <dgm:pt modelId="{530DE0AB-2728-3C40-97FB-74BBF7BD6E3A}" type="sibTrans" cxnId="{18D9A791-6FFE-7F4A-8CFE-0FD70E0CF150}">
      <dgm:prSet/>
      <dgm:spPr/>
      <dgm:t>
        <a:bodyPr/>
        <a:lstStyle/>
        <a:p>
          <a:endParaRPr lang="es-ES_tradnl" sz="2000" noProof="0" dirty="0">
            <a:latin typeface="Gill Sans Nova Light" panose="020B0302020104020203" pitchFamily="34" charset="0"/>
          </a:endParaRPr>
        </a:p>
      </dgm:t>
    </dgm:pt>
    <dgm:pt modelId="{53B4BE51-48B6-9843-9F9C-B235F95E2542}">
      <dgm:prSet phldrT="[Text]" custT="1"/>
      <dgm:spPr/>
      <dgm:t>
        <a:bodyPr/>
        <a:lstStyle/>
        <a:p>
          <a:r>
            <a:rPr lang="es-ES_tradnl" sz="1600" noProof="0" dirty="0">
              <a:latin typeface="Gill Sans Nova Light" panose="020B0302020104020203" pitchFamily="34" charset="0"/>
            </a:rPr>
            <a:t>Ajuste de modelos</a:t>
          </a:r>
        </a:p>
      </dgm:t>
    </dgm:pt>
    <dgm:pt modelId="{55D16910-2739-2E41-9255-053D324BB326}" type="parTrans" cxnId="{EC0799C8-0EDF-314A-911D-AD885A4B8C95}">
      <dgm:prSet/>
      <dgm:spPr/>
      <dgm:t>
        <a:bodyPr/>
        <a:lstStyle/>
        <a:p>
          <a:endParaRPr lang="es-ES_tradnl" sz="2000" noProof="0" dirty="0">
            <a:latin typeface="Gill Sans Nova Light" panose="020B0302020104020203" pitchFamily="34" charset="0"/>
          </a:endParaRPr>
        </a:p>
      </dgm:t>
    </dgm:pt>
    <dgm:pt modelId="{73E05C95-028B-7241-A19E-244D17A962E8}" type="sibTrans" cxnId="{EC0799C8-0EDF-314A-911D-AD885A4B8C95}">
      <dgm:prSet/>
      <dgm:spPr/>
      <dgm:t>
        <a:bodyPr/>
        <a:lstStyle/>
        <a:p>
          <a:endParaRPr lang="es-ES_tradnl" sz="2000" noProof="0" dirty="0">
            <a:latin typeface="Gill Sans Nova Light" panose="020B0302020104020203" pitchFamily="34" charset="0"/>
          </a:endParaRPr>
        </a:p>
      </dgm:t>
    </dgm:pt>
    <dgm:pt modelId="{A6C7C9D5-FB05-D844-9064-5C35550BACBB}">
      <dgm:prSet phldrT="[Text]" custT="1"/>
      <dgm:spPr/>
      <dgm:t>
        <a:bodyPr/>
        <a:lstStyle/>
        <a:p>
          <a:r>
            <a:rPr lang="es-ES_tradnl" sz="1600" noProof="0" dirty="0">
              <a:latin typeface="Gill Sans Nova Light" panose="020B0302020104020203" pitchFamily="34" charset="0"/>
            </a:rPr>
            <a:t>Eliminar variables</a:t>
          </a:r>
        </a:p>
      </dgm:t>
    </dgm:pt>
    <dgm:pt modelId="{BA71D0E4-94A7-5C44-8402-856A315B5CAC}" type="parTrans" cxnId="{A3279BB0-CAE3-3140-86A8-3FF7D963165E}">
      <dgm:prSet/>
      <dgm:spPr/>
      <dgm:t>
        <a:bodyPr/>
        <a:lstStyle/>
        <a:p>
          <a:endParaRPr lang="en-US"/>
        </a:p>
      </dgm:t>
    </dgm:pt>
    <dgm:pt modelId="{7A3A7230-6DEC-364C-804E-09925F759DFC}" type="sibTrans" cxnId="{A3279BB0-CAE3-3140-86A8-3FF7D963165E}">
      <dgm:prSet/>
      <dgm:spPr/>
      <dgm:t>
        <a:bodyPr/>
        <a:lstStyle/>
        <a:p>
          <a:endParaRPr lang="en-US"/>
        </a:p>
      </dgm:t>
    </dgm:pt>
    <dgm:pt modelId="{366B1A80-632E-6A4A-8CBC-D3180F595C47}">
      <dgm:prSet phldrT="[Text]" custT="1"/>
      <dgm:spPr/>
      <dgm:t>
        <a:bodyPr/>
        <a:lstStyle/>
        <a:p>
          <a:r>
            <a:rPr lang="es-ES_tradnl" sz="1600" noProof="0" dirty="0" err="1">
              <a:latin typeface="Gill Sans Nova Light" panose="020B0302020104020203" pitchFamily="34" charset="0"/>
            </a:rPr>
            <a:t>Reshape</a:t>
          </a:r>
          <a:endParaRPr lang="es-ES_tradnl" sz="1600" noProof="0" dirty="0">
            <a:latin typeface="Gill Sans Nova Light" panose="020B0302020104020203" pitchFamily="34" charset="0"/>
          </a:endParaRPr>
        </a:p>
      </dgm:t>
    </dgm:pt>
    <dgm:pt modelId="{CCE81864-4AAB-EA48-8856-55FE2ECBA027}" type="parTrans" cxnId="{17A9DB82-D70C-3841-8231-65D0E616C61E}">
      <dgm:prSet/>
      <dgm:spPr/>
      <dgm:t>
        <a:bodyPr/>
        <a:lstStyle/>
        <a:p>
          <a:endParaRPr lang="en-US"/>
        </a:p>
      </dgm:t>
    </dgm:pt>
    <dgm:pt modelId="{C6964089-4F46-1D4A-A97A-E1789F64C6C0}" type="sibTrans" cxnId="{17A9DB82-D70C-3841-8231-65D0E616C61E}">
      <dgm:prSet/>
      <dgm:spPr/>
      <dgm:t>
        <a:bodyPr/>
        <a:lstStyle/>
        <a:p>
          <a:endParaRPr lang="en-US"/>
        </a:p>
      </dgm:t>
    </dgm:pt>
    <dgm:pt modelId="{09AF4F76-A191-3741-8104-35A15AC3511C}">
      <dgm:prSet phldrT="[Text]" custT="1"/>
      <dgm:spPr/>
      <dgm:t>
        <a:bodyPr/>
        <a:lstStyle/>
        <a:p>
          <a:r>
            <a:rPr lang="es-ES_tradnl" sz="1600" noProof="0" dirty="0">
              <a:latin typeface="Gill Sans Nova Light" panose="020B0302020104020203" pitchFamily="34" charset="0"/>
            </a:rPr>
            <a:t>PCA, Clusters, …</a:t>
          </a:r>
        </a:p>
      </dgm:t>
    </dgm:pt>
    <dgm:pt modelId="{51F2639B-CB35-4646-A10A-8D1CA9C95B68}" type="parTrans" cxnId="{A777EBBD-66CE-7E4C-871A-30D56CA8C1F9}">
      <dgm:prSet/>
      <dgm:spPr/>
      <dgm:t>
        <a:bodyPr/>
        <a:lstStyle/>
        <a:p>
          <a:endParaRPr lang="en-US"/>
        </a:p>
      </dgm:t>
    </dgm:pt>
    <dgm:pt modelId="{5FAC6C8D-BF75-E04F-89A2-D19A3B97247C}" type="sibTrans" cxnId="{A777EBBD-66CE-7E4C-871A-30D56CA8C1F9}">
      <dgm:prSet/>
      <dgm:spPr/>
      <dgm:t>
        <a:bodyPr/>
        <a:lstStyle/>
        <a:p>
          <a:endParaRPr lang="en-US"/>
        </a:p>
      </dgm:t>
    </dgm:pt>
    <dgm:pt modelId="{AA2D7C07-E3AF-F44B-BDAC-C0B0A6124799}" type="pres">
      <dgm:prSet presAssocID="{07C43C6C-5135-BC4B-BD1E-02F38DA0ECBD}" presName="composite" presStyleCnt="0">
        <dgm:presLayoutVars>
          <dgm:chMax val="3"/>
          <dgm:animLvl val="lvl"/>
          <dgm:resizeHandles val="exact"/>
        </dgm:presLayoutVars>
      </dgm:prSet>
      <dgm:spPr/>
    </dgm:pt>
    <dgm:pt modelId="{8CC346FA-4A14-A84C-9969-637AEC388AE2}" type="pres">
      <dgm:prSet presAssocID="{9D5834D3-DCBE-FE4A-9F3C-70C1F66B4852}" presName="gear1" presStyleLbl="node1" presStyleIdx="0" presStyleCnt="3">
        <dgm:presLayoutVars>
          <dgm:chMax val="1"/>
          <dgm:bulletEnabled val="1"/>
        </dgm:presLayoutVars>
      </dgm:prSet>
      <dgm:spPr/>
    </dgm:pt>
    <dgm:pt modelId="{6F1BA774-F9DF-BB46-90ED-1E58C5E3BBEC}" type="pres">
      <dgm:prSet presAssocID="{9D5834D3-DCBE-FE4A-9F3C-70C1F66B4852}" presName="gear1srcNode" presStyleLbl="node1" presStyleIdx="0" presStyleCnt="3"/>
      <dgm:spPr/>
    </dgm:pt>
    <dgm:pt modelId="{BFC858B6-67B8-4E46-B619-75745BF3BBE2}" type="pres">
      <dgm:prSet presAssocID="{9D5834D3-DCBE-FE4A-9F3C-70C1F66B4852}" presName="gear1dstNode" presStyleLbl="node1" presStyleIdx="0" presStyleCnt="3"/>
      <dgm:spPr/>
    </dgm:pt>
    <dgm:pt modelId="{4463CEEF-3FFD-2442-8720-91C26F81DA31}" type="pres">
      <dgm:prSet presAssocID="{9D5834D3-DCBE-FE4A-9F3C-70C1F66B4852}" presName="gear1ch" presStyleLbl="fgAcc1" presStyleIdx="0" presStyleCnt="3">
        <dgm:presLayoutVars>
          <dgm:chMax val="0"/>
          <dgm:bulletEnabled val="1"/>
        </dgm:presLayoutVars>
      </dgm:prSet>
      <dgm:spPr/>
    </dgm:pt>
    <dgm:pt modelId="{1256C406-6AA7-694B-A9CC-2C0E2709362F}" type="pres">
      <dgm:prSet presAssocID="{5C1D9BF3-4558-C441-8CDB-F5F25B657909}" presName="gear2" presStyleLbl="node1" presStyleIdx="1" presStyleCnt="3">
        <dgm:presLayoutVars>
          <dgm:chMax val="1"/>
          <dgm:bulletEnabled val="1"/>
        </dgm:presLayoutVars>
      </dgm:prSet>
      <dgm:spPr/>
    </dgm:pt>
    <dgm:pt modelId="{E9DF701F-09A1-2442-A083-139F4971AD2F}" type="pres">
      <dgm:prSet presAssocID="{5C1D9BF3-4558-C441-8CDB-F5F25B657909}" presName="gear2srcNode" presStyleLbl="node1" presStyleIdx="1" presStyleCnt="3"/>
      <dgm:spPr/>
    </dgm:pt>
    <dgm:pt modelId="{94050C01-7B6B-FD46-9980-ED2F5C8CE5C2}" type="pres">
      <dgm:prSet presAssocID="{5C1D9BF3-4558-C441-8CDB-F5F25B657909}" presName="gear2dstNode" presStyleLbl="node1" presStyleIdx="1" presStyleCnt="3"/>
      <dgm:spPr/>
    </dgm:pt>
    <dgm:pt modelId="{1B993F7D-C4FD-3F4A-B699-E7B45E6393E2}" type="pres">
      <dgm:prSet presAssocID="{5C1D9BF3-4558-C441-8CDB-F5F25B657909}" presName="gear2ch" presStyleLbl="fgAcc1" presStyleIdx="1" presStyleCnt="3">
        <dgm:presLayoutVars>
          <dgm:chMax val="0"/>
          <dgm:bulletEnabled val="1"/>
        </dgm:presLayoutVars>
      </dgm:prSet>
      <dgm:spPr/>
    </dgm:pt>
    <dgm:pt modelId="{F7C1E3D9-D3A5-F44F-A8AF-AF676044A6A0}" type="pres">
      <dgm:prSet presAssocID="{D037808B-2E47-824B-B2E4-91155269E95D}" presName="gear3" presStyleLbl="node1" presStyleIdx="2" presStyleCnt="3"/>
      <dgm:spPr/>
    </dgm:pt>
    <dgm:pt modelId="{97323462-AD88-094D-BDF2-9B255EA36A9E}" type="pres">
      <dgm:prSet presAssocID="{D037808B-2E47-824B-B2E4-91155269E95D}" presName="gear3tx" presStyleLbl="node1" presStyleIdx="2" presStyleCnt="3">
        <dgm:presLayoutVars>
          <dgm:chMax val="1"/>
          <dgm:bulletEnabled val="1"/>
        </dgm:presLayoutVars>
      </dgm:prSet>
      <dgm:spPr/>
    </dgm:pt>
    <dgm:pt modelId="{DD5B0E98-1C02-1540-888E-97BCC9AA2CD1}" type="pres">
      <dgm:prSet presAssocID="{D037808B-2E47-824B-B2E4-91155269E95D}" presName="gear3srcNode" presStyleLbl="node1" presStyleIdx="2" presStyleCnt="3"/>
      <dgm:spPr/>
    </dgm:pt>
    <dgm:pt modelId="{5FBD5706-7166-4D46-81FE-90C898869241}" type="pres">
      <dgm:prSet presAssocID="{D037808B-2E47-824B-B2E4-91155269E95D}" presName="gear3dstNode" presStyleLbl="node1" presStyleIdx="2" presStyleCnt="3"/>
      <dgm:spPr/>
    </dgm:pt>
    <dgm:pt modelId="{F2F70D71-1549-DA4C-AE52-1D67B5E60328}" type="pres">
      <dgm:prSet presAssocID="{D037808B-2E47-824B-B2E4-91155269E95D}" presName="gear3ch" presStyleLbl="fgAcc1" presStyleIdx="2" presStyleCnt="3">
        <dgm:presLayoutVars>
          <dgm:chMax val="0"/>
          <dgm:bulletEnabled val="1"/>
        </dgm:presLayoutVars>
      </dgm:prSet>
      <dgm:spPr/>
    </dgm:pt>
    <dgm:pt modelId="{64D6B4A8-6DAE-7C4F-82B8-34EC1578BDEB}" type="pres">
      <dgm:prSet presAssocID="{E1154557-80C0-D242-9F38-2AE22E6B7511}" presName="connector1" presStyleLbl="sibTrans2D1" presStyleIdx="0" presStyleCnt="3"/>
      <dgm:spPr/>
    </dgm:pt>
    <dgm:pt modelId="{7BF98CC3-BBCC-4240-989B-3CCA849F73EF}" type="pres">
      <dgm:prSet presAssocID="{A795D308-22A9-A146-9196-142AFCE44F43}" presName="connector2" presStyleLbl="sibTrans2D1" presStyleIdx="1" presStyleCnt="3"/>
      <dgm:spPr/>
    </dgm:pt>
    <dgm:pt modelId="{FEA64E1C-E48C-5A40-A1FB-B14A94E05F3E}" type="pres">
      <dgm:prSet presAssocID="{8D702279-B072-BE41-8B74-E88DB5DFA9BD}" presName="connector3" presStyleLbl="sibTrans2D1" presStyleIdx="2" presStyleCnt="3"/>
      <dgm:spPr/>
    </dgm:pt>
  </dgm:ptLst>
  <dgm:cxnLst>
    <dgm:cxn modelId="{4F309A07-4F60-2A47-977C-E78E44077623}" type="presOf" srcId="{53B4BE51-48B6-9843-9F9C-B235F95E2542}" destId="{4463CEEF-3FFD-2442-8720-91C26F81DA31}" srcOrd="0" destOrd="1" presId="urn:microsoft.com/office/officeart/2005/8/layout/gear1"/>
    <dgm:cxn modelId="{D0D18B12-F425-E946-8A22-910F484681BB}" type="presOf" srcId="{5C1D9BF3-4558-C441-8CDB-F5F25B657909}" destId="{1256C406-6AA7-694B-A9CC-2C0E2709362F}" srcOrd="0" destOrd="0" presId="urn:microsoft.com/office/officeart/2005/8/layout/gear1"/>
    <dgm:cxn modelId="{B4E6EA16-6E2A-F642-8B1E-F28566093231}" type="presOf" srcId="{D037808B-2E47-824B-B2E4-91155269E95D}" destId="{97323462-AD88-094D-BDF2-9B255EA36A9E}" srcOrd="1" destOrd="0" presId="urn:microsoft.com/office/officeart/2005/8/layout/gear1"/>
    <dgm:cxn modelId="{33E7C71C-B6EF-7241-B5F9-5CFF01F112A1}" type="presOf" srcId="{5C1D9BF3-4558-C441-8CDB-F5F25B657909}" destId="{94050C01-7B6B-FD46-9980-ED2F5C8CE5C2}" srcOrd="2" destOrd="0" presId="urn:microsoft.com/office/officeart/2005/8/layout/gear1"/>
    <dgm:cxn modelId="{FB2A3C33-0D71-9C4D-BC1C-42096B83FC77}" srcId="{07C43C6C-5135-BC4B-BD1E-02F38DA0ECBD}" destId="{9D5834D3-DCBE-FE4A-9F3C-70C1F66B4852}" srcOrd="0" destOrd="0" parTransId="{BCAE287E-ED9A-3E48-8722-8F6B9573D100}" sibTransId="{E1154557-80C0-D242-9F38-2AE22E6B7511}"/>
    <dgm:cxn modelId="{28666342-540D-4049-AF73-93598A0D2B61}" type="presOf" srcId="{9D5834D3-DCBE-FE4A-9F3C-70C1F66B4852}" destId="{BFC858B6-67B8-4E46-B619-75745BF3BBE2}" srcOrd="2" destOrd="0" presId="urn:microsoft.com/office/officeart/2005/8/layout/gear1"/>
    <dgm:cxn modelId="{78753C43-3836-D64D-AA89-2706B6FA58AB}" type="presOf" srcId="{A6C7C9D5-FB05-D844-9064-5C35550BACBB}" destId="{F2F70D71-1549-DA4C-AE52-1D67B5E60328}" srcOrd="0" destOrd="1" presId="urn:microsoft.com/office/officeart/2005/8/layout/gear1"/>
    <dgm:cxn modelId="{47A38C4B-8B27-124D-855A-3320B35AEFC4}" type="presOf" srcId="{D037808B-2E47-824B-B2E4-91155269E95D}" destId="{DD5B0E98-1C02-1540-888E-97BCC9AA2CD1}" srcOrd="2" destOrd="0" presId="urn:microsoft.com/office/officeart/2005/8/layout/gear1"/>
    <dgm:cxn modelId="{367D154E-C9A2-5144-A466-A2D321D4DF37}" type="presOf" srcId="{B3B5F46C-A648-504C-8AAC-30ED2BAFD987}" destId="{1B993F7D-C4FD-3F4A-B699-E7B45E6393E2}" srcOrd="0" destOrd="1" presId="urn:microsoft.com/office/officeart/2005/8/layout/gear1"/>
    <dgm:cxn modelId="{5E123A51-BF16-9242-8C51-E4F1458FADFD}" type="presOf" srcId="{5C1D9BF3-4558-C441-8CDB-F5F25B657909}" destId="{E9DF701F-09A1-2442-A083-139F4971AD2F}" srcOrd="1" destOrd="0" presId="urn:microsoft.com/office/officeart/2005/8/layout/gear1"/>
    <dgm:cxn modelId="{5DC3875F-DED9-E94A-918B-C932452DB4CE}" type="presOf" srcId="{E0056E4B-8ACB-724F-BDAD-85D5C5F064AF}" destId="{4463CEEF-3FFD-2442-8720-91C26F81DA31}" srcOrd="0" destOrd="0" presId="urn:microsoft.com/office/officeart/2005/8/layout/gear1"/>
    <dgm:cxn modelId="{5C00AB6E-CC84-D64D-B830-0443C2CA0BDE}" type="presOf" srcId="{A795D308-22A9-A146-9196-142AFCE44F43}" destId="{7BF98CC3-BBCC-4240-989B-3CCA849F73EF}" srcOrd="0" destOrd="0" presId="urn:microsoft.com/office/officeart/2005/8/layout/gear1"/>
    <dgm:cxn modelId="{528BBA78-C629-A844-80CB-C14428F4095D}" srcId="{9D5834D3-DCBE-FE4A-9F3C-70C1F66B4852}" destId="{E0056E4B-8ACB-724F-BDAD-85D5C5F064AF}" srcOrd="0" destOrd="0" parTransId="{527175C8-8AF8-CC45-9FF1-D63223F04F2D}" sibTransId="{9B5DB3C3-3766-4348-8E63-CFF204EF4554}"/>
    <dgm:cxn modelId="{17A9DB82-D70C-3841-8231-65D0E616C61E}" srcId="{D037808B-2E47-824B-B2E4-91155269E95D}" destId="{366B1A80-632E-6A4A-8CBC-D3180F595C47}" srcOrd="2" destOrd="0" parTransId="{CCE81864-4AAB-EA48-8856-55FE2ECBA027}" sibTransId="{C6964089-4F46-1D4A-A97A-E1789F64C6C0}"/>
    <dgm:cxn modelId="{BA1A178B-6B5D-DF41-9526-BE3200DB3305}" srcId="{07C43C6C-5135-BC4B-BD1E-02F38DA0ECBD}" destId="{5C1D9BF3-4558-C441-8CDB-F5F25B657909}" srcOrd="1" destOrd="0" parTransId="{881D90E0-E7C8-CC43-93B2-383911E0D2EB}" sibTransId="{A795D308-22A9-A146-9196-142AFCE44F43}"/>
    <dgm:cxn modelId="{18D9A791-6FFE-7F4A-8CFE-0FD70E0CF150}" srcId="{5C1D9BF3-4558-C441-8CDB-F5F25B657909}" destId="{B3B5F46C-A648-504C-8AAC-30ED2BAFD987}" srcOrd="1" destOrd="0" parTransId="{5869E246-DEFC-A04C-9534-AD6BA0C6DD45}" sibTransId="{530DE0AB-2728-3C40-97FB-74BBF7BD6E3A}"/>
    <dgm:cxn modelId="{5739C3A5-2A9F-C041-9AB9-DEF490963754}" type="presOf" srcId="{D037808B-2E47-824B-B2E4-91155269E95D}" destId="{5FBD5706-7166-4D46-81FE-90C898869241}" srcOrd="3" destOrd="0" presId="urn:microsoft.com/office/officeart/2005/8/layout/gear1"/>
    <dgm:cxn modelId="{A3279BB0-CAE3-3140-86A8-3FF7D963165E}" srcId="{D037808B-2E47-824B-B2E4-91155269E95D}" destId="{A6C7C9D5-FB05-D844-9064-5C35550BACBB}" srcOrd="1" destOrd="0" parTransId="{BA71D0E4-94A7-5C44-8402-856A315B5CAC}" sibTransId="{7A3A7230-6DEC-364C-804E-09925F759DFC}"/>
    <dgm:cxn modelId="{A777EBBD-66CE-7E4C-871A-30D56CA8C1F9}" srcId="{5C1D9BF3-4558-C441-8CDB-F5F25B657909}" destId="{09AF4F76-A191-3741-8104-35A15AC3511C}" srcOrd="2" destOrd="0" parTransId="{51F2639B-CB35-4646-A10A-8D1CA9C95B68}" sibTransId="{5FAC6C8D-BF75-E04F-89A2-D19A3B97247C}"/>
    <dgm:cxn modelId="{60BC14C1-6521-8941-8CA1-FCD2FB329A35}" type="presOf" srcId="{D037808B-2E47-824B-B2E4-91155269E95D}" destId="{F7C1E3D9-D3A5-F44F-A8AF-AF676044A6A0}" srcOrd="0" destOrd="0" presId="urn:microsoft.com/office/officeart/2005/8/layout/gear1"/>
    <dgm:cxn modelId="{82858EC2-F01F-5541-9E75-A0765CD6C9A0}" type="presOf" srcId="{8D702279-B072-BE41-8B74-E88DB5DFA9BD}" destId="{FEA64E1C-E48C-5A40-A1FB-B14A94E05F3E}" srcOrd="0" destOrd="0" presId="urn:microsoft.com/office/officeart/2005/8/layout/gear1"/>
    <dgm:cxn modelId="{EC0799C8-0EDF-314A-911D-AD885A4B8C95}" srcId="{9D5834D3-DCBE-FE4A-9F3C-70C1F66B4852}" destId="{53B4BE51-48B6-9843-9F9C-B235F95E2542}" srcOrd="1" destOrd="0" parTransId="{55D16910-2739-2E41-9255-053D324BB326}" sibTransId="{73E05C95-028B-7241-A19E-244D17A962E8}"/>
    <dgm:cxn modelId="{97736BCC-4F91-914F-85C5-9D0AE687FABE}" type="presOf" srcId="{E3A9F1EC-0DE4-4444-A45C-356F91B84DCB}" destId="{F2F70D71-1549-DA4C-AE52-1D67B5E60328}" srcOrd="0" destOrd="0" presId="urn:microsoft.com/office/officeart/2005/8/layout/gear1"/>
    <dgm:cxn modelId="{703AE9CC-B44A-EB4E-BAAE-A004D8A373E3}" type="presOf" srcId="{366B1A80-632E-6A4A-8CBC-D3180F595C47}" destId="{F2F70D71-1549-DA4C-AE52-1D67B5E60328}" srcOrd="0" destOrd="2" presId="urn:microsoft.com/office/officeart/2005/8/layout/gear1"/>
    <dgm:cxn modelId="{956A9FDE-4C36-5441-913C-2944680EE34A}" srcId="{07C43C6C-5135-BC4B-BD1E-02F38DA0ECBD}" destId="{D037808B-2E47-824B-B2E4-91155269E95D}" srcOrd="2" destOrd="0" parTransId="{ED8788D8-BEA6-C54B-993B-DA641453DD4E}" sibTransId="{8D702279-B072-BE41-8B74-E88DB5DFA9BD}"/>
    <dgm:cxn modelId="{E37F4BDF-32A2-8E4D-AD55-8CF5B78E3E9E}" type="presOf" srcId="{E1154557-80C0-D242-9F38-2AE22E6B7511}" destId="{64D6B4A8-6DAE-7C4F-82B8-34EC1578BDEB}" srcOrd="0" destOrd="0" presId="urn:microsoft.com/office/officeart/2005/8/layout/gear1"/>
    <dgm:cxn modelId="{3CD492DF-2863-FA4B-92D6-9251E4833D50}" type="presOf" srcId="{09AF4F76-A191-3741-8104-35A15AC3511C}" destId="{1B993F7D-C4FD-3F4A-B699-E7B45E6393E2}" srcOrd="0" destOrd="2" presId="urn:microsoft.com/office/officeart/2005/8/layout/gear1"/>
    <dgm:cxn modelId="{3ECE35E5-E077-CA4E-9DA8-143BA6040B67}" type="presOf" srcId="{07C43C6C-5135-BC4B-BD1E-02F38DA0ECBD}" destId="{AA2D7C07-E3AF-F44B-BDAC-C0B0A6124799}" srcOrd="0" destOrd="0" presId="urn:microsoft.com/office/officeart/2005/8/layout/gear1"/>
    <dgm:cxn modelId="{868B75ED-BB05-084F-B135-369EB7BCA925}" type="presOf" srcId="{9D5834D3-DCBE-FE4A-9F3C-70C1F66B4852}" destId="{8CC346FA-4A14-A84C-9969-637AEC388AE2}" srcOrd="0" destOrd="0" presId="urn:microsoft.com/office/officeart/2005/8/layout/gear1"/>
    <dgm:cxn modelId="{20BA4BF6-514D-794F-8331-E4FB9660C586}" srcId="{D037808B-2E47-824B-B2E4-91155269E95D}" destId="{E3A9F1EC-0DE4-4444-A45C-356F91B84DCB}" srcOrd="0" destOrd="0" parTransId="{BD950AF3-A809-7143-9311-79DEFED2FA80}" sibTransId="{4FC2C2DB-B394-6143-9616-8DF215A5B6BF}"/>
    <dgm:cxn modelId="{28408BF6-A79C-4143-A63D-6D814BBF52DB}" srcId="{5C1D9BF3-4558-C441-8CDB-F5F25B657909}" destId="{CCFA7035-6F6F-3D4B-8B35-A16AD6A921E7}" srcOrd="0" destOrd="0" parTransId="{AB3F1680-3360-BE4D-A584-4042D38A7BA2}" sibTransId="{79FCB476-72D0-A149-A9EB-DF7EAC0E0FF0}"/>
    <dgm:cxn modelId="{7A8248FD-BAB2-2345-95C2-6E49607D029B}" type="presOf" srcId="{CCFA7035-6F6F-3D4B-8B35-A16AD6A921E7}" destId="{1B993F7D-C4FD-3F4A-B699-E7B45E6393E2}" srcOrd="0" destOrd="0" presId="urn:microsoft.com/office/officeart/2005/8/layout/gear1"/>
    <dgm:cxn modelId="{0074AEFE-F3EE-0D4B-97CA-450BCADFBCB6}" type="presOf" srcId="{9D5834D3-DCBE-FE4A-9F3C-70C1F66B4852}" destId="{6F1BA774-F9DF-BB46-90ED-1E58C5E3BBEC}" srcOrd="1" destOrd="0" presId="urn:microsoft.com/office/officeart/2005/8/layout/gear1"/>
    <dgm:cxn modelId="{D04DCA91-A2A7-4F40-9FFC-6155B5C3945F}" type="presParOf" srcId="{AA2D7C07-E3AF-F44B-BDAC-C0B0A6124799}" destId="{8CC346FA-4A14-A84C-9969-637AEC388AE2}" srcOrd="0" destOrd="0" presId="urn:microsoft.com/office/officeart/2005/8/layout/gear1"/>
    <dgm:cxn modelId="{9D8FCAEE-51E8-8F46-9BEC-44968B145F21}" type="presParOf" srcId="{AA2D7C07-E3AF-F44B-BDAC-C0B0A6124799}" destId="{6F1BA774-F9DF-BB46-90ED-1E58C5E3BBEC}" srcOrd="1" destOrd="0" presId="urn:microsoft.com/office/officeart/2005/8/layout/gear1"/>
    <dgm:cxn modelId="{838704C0-235B-424A-84EE-8435F60C63C9}" type="presParOf" srcId="{AA2D7C07-E3AF-F44B-BDAC-C0B0A6124799}" destId="{BFC858B6-67B8-4E46-B619-75745BF3BBE2}" srcOrd="2" destOrd="0" presId="urn:microsoft.com/office/officeart/2005/8/layout/gear1"/>
    <dgm:cxn modelId="{D267E66A-1371-294D-B572-6EEF5201FE65}" type="presParOf" srcId="{AA2D7C07-E3AF-F44B-BDAC-C0B0A6124799}" destId="{4463CEEF-3FFD-2442-8720-91C26F81DA31}" srcOrd="3" destOrd="0" presId="urn:microsoft.com/office/officeart/2005/8/layout/gear1"/>
    <dgm:cxn modelId="{1B5B3604-5D58-6443-B036-AEB987877649}" type="presParOf" srcId="{AA2D7C07-E3AF-F44B-BDAC-C0B0A6124799}" destId="{1256C406-6AA7-694B-A9CC-2C0E2709362F}" srcOrd="4" destOrd="0" presId="urn:microsoft.com/office/officeart/2005/8/layout/gear1"/>
    <dgm:cxn modelId="{15E9B7F8-55D2-0343-B160-31C2A219DAA6}" type="presParOf" srcId="{AA2D7C07-E3AF-F44B-BDAC-C0B0A6124799}" destId="{E9DF701F-09A1-2442-A083-139F4971AD2F}" srcOrd="5" destOrd="0" presId="urn:microsoft.com/office/officeart/2005/8/layout/gear1"/>
    <dgm:cxn modelId="{09936EEB-A38E-7D43-8FCE-4DAE33EF1AD0}" type="presParOf" srcId="{AA2D7C07-E3AF-F44B-BDAC-C0B0A6124799}" destId="{94050C01-7B6B-FD46-9980-ED2F5C8CE5C2}" srcOrd="6" destOrd="0" presId="urn:microsoft.com/office/officeart/2005/8/layout/gear1"/>
    <dgm:cxn modelId="{C3B8F9FC-FB21-BE43-A66F-09CC9D70A9C0}" type="presParOf" srcId="{AA2D7C07-E3AF-F44B-BDAC-C0B0A6124799}" destId="{1B993F7D-C4FD-3F4A-B699-E7B45E6393E2}" srcOrd="7" destOrd="0" presId="urn:microsoft.com/office/officeart/2005/8/layout/gear1"/>
    <dgm:cxn modelId="{72E77A8E-30A8-4F45-9D8B-E762643C36C6}" type="presParOf" srcId="{AA2D7C07-E3AF-F44B-BDAC-C0B0A6124799}" destId="{F7C1E3D9-D3A5-F44F-A8AF-AF676044A6A0}" srcOrd="8" destOrd="0" presId="urn:microsoft.com/office/officeart/2005/8/layout/gear1"/>
    <dgm:cxn modelId="{43E51CD2-8C57-3A4C-AA05-0F41C09F3D7A}" type="presParOf" srcId="{AA2D7C07-E3AF-F44B-BDAC-C0B0A6124799}" destId="{97323462-AD88-094D-BDF2-9B255EA36A9E}" srcOrd="9" destOrd="0" presId="urn:microsoft.com/office/officeart/2005/8/layout/gear1"/>
    <dgm:cxn modelId="{030BF47A-6C03-404B-BC77-076EC764EAE2}" type="presParOf" srcId="{AA2D7C07-E3AF-F44B-BDAC-C0B0A6124799}" destId="{DD5B0E98-1C02-1540-888E-97BCC9AA2CD1}" srcOrd="10" destOrd="0" presId="urn:microsoft.com/office/officeart/2005/8/layout/gear1"/>
    <dgm:cxn modelId="{8FCEC252-5FE4-D246-B6E3-CA57CB704C72}" type="presParOf" srcId="{AA2D7C07-E3AF-F44B-BDAC-C0B0A6124799}" destId="{5FBD5706-7166-4D46-81FE-90C898869241}" srcOrd="11" destOrd="0" presId="urn:microsoft.com/office/officeart/2005/8/layout/gear1"/>
    <dgm:cxn modelId="{29725EE9-F892-5A42-BECC-BD61085A5586}" type="presParOf" srcId="{AA2D7C07-E3AF-F44B-BDAC-C0B0A6124799}" destId="{F2F70D71-1549-DA4C-AE52-1D67B5E60328}" srcOrd="12" destOrd="0" presId="urn:microsoft.com/office/officeart/2005/8/layout/gear1"/>
    <dgm:cxn modelId="{11AB5EB7-B478-CA43-98B7-B0B016BA3A50}" type="presParOf" srcId="{AA2D7C07-E3AF-F44B-BDAC-C0B0A6124799}" destId="{64D6B4A8-6DAE-7C4F-82B8-34EC1578BDEB}" srcOrd="13" destOrd="0" presId="urn:microsoft.com/office/officeart/2005/8/layout/gear1"/>
    <dgm:cxn modelId="{4CB19FF0-42E1-DA4F-B977-AE11F8A22A5A}" type="presParOf" srcId="{AA2D7C07-E3AF-F44B-BDAC-C0B0A6124799}" destId="{7BF98CC3-BBCC-4240-989B-3CCA849F73EF}" srcOrd="14" destOrd="0" presId="urn:microsoft.com/office/officeart/2005/8/layout/gear1"/>
    <dgm:cxn modelId="{29D62AAC-D80D-A748-A23D-C2186F267364}" type="presParOf" srcId="{AA2D7C07-E3AF-F44B-BDAC-C0B0A6124799}" destId="{FEA64E1C-E48C-5A40-A1FB-B14A94E05F3E}" srcOrd="15" destOrd="0" presId="urn:microsoft.com/office/officeart/2005/8/layout/gear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CC346FA-4A14-A84C-9969-637AEC388AE2}">
      <dsp:nvSpPr>
        <dsp:cNvPr id="0" name=""/>
        <dsp:cNvSpPr/>
      </dsp:nvSpPr>
      <dsp:spPr>
        <a:xfrm>
          <a:off x="5340715" y="2496776"/>
          <a:ext cx="3051616" cy="3051616"/>
        </a:xfrm>
        <a:prstGeom prst="gear9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2800" kern="1200" noProof="0" dirty="0">
              <a:latin typeface="Gill Sans Nova Light" panose="020B0302020104020203" pitchFamily="34" charset="0"/>
            </a:rPr>
            <a:t>Modelos y Predicción</a:t>
          </a:r>
        </a:p>
      </dsp:txBody>
      <dsp:txXfrm>
        <a:off x="5954226" y="3211602"/>
        <a:ext cx="1824594" cy="1568594"/>
      </dsp:txXfrm>
    </dsp:sp>
    <dsp:sp modelId="{4463CEEF-3FFD-2442-8720-91C26F81DA31}">
      <dsp:nvSpPr>
        <dsp:cNvPr id="0" name=""/>
        <dsp:cNvSpPr/>
      </dsp:nvSpPr>
      <dsp:spPr>
        <a:xfrm>
          <a:off x="4952328" y="4383230"/>
          <a:ext cx="1941937" cy="116516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_tradnl" sz="1600" kern="1200" noProof="0" dirty="0">
              <a:latin typeface="Gill Sans Nova Light" panose="020B0302020104020203" pitchFamily="34" charset="0"/>
            </a:rPr>
            <a:t>Training-</a:t>
          </a:r>
          <a:r>
            <a:rPr lang="es-ES_tradnl" sz="1600" kern="1200" noProof="0" dirty="0" err="1">
              <a:latin typeface="Gill Sans Nova Light" panose="020B0302020104020203" pitchFamily="34" charset="0"/>
            </a:rPr>
            <a:t>Testing</a:t>
          </a:r>
          <a:r>
            <a:rPr lang="es-ES_tradnl" sz="1600" kern="1200" noProof="0" dirty="0">
              <a:latin typeface="Gill Sans Nova Light" panose="020B0302020104020203" pitchFamily="34" charset="0"/>
            </a:rPr>
            <a:t> </a:t>
          </a:r>
          <a:r>
            <a:rPr lang="es-ES_tradnl" sz="1600" kern="1200" noProof="0" dirty="0" err="1">
              <a:latin typeface="Gill Sans Nova Light" panose="020B0302020104020203" pitchFamily="34" charset="0"/>
            </a:rPr>
            <a:t>datasets</a:t>
          </a:r>
          <a:endParaRPr lang="es-ES_tradnl" sz="1600" kern="1200" noProof="0" dirty="0">
            <a:latin typeface="Gill Sans Nova Light" panose="020B0302020104020203" pitchFamily="34" charset="0"/>
          </a:endParaRP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_tradnl" sz="1600" kern="1200" noProof="0" dirty="0">
              <a:latin typeface="Gill Sans Nova Light" panose="020B0302020104020203" pitchFamily="34" charset="0"/>
            </a:rPr>
            <a:t>Ajuste de modelos</a:t>
          </a:r>
        </a:p>
      </dsp:txBody>
      <dsp:txXfrm>
        <a:off x="4986454" y="4417356"/>
        <a:ext cx="1873685" cy="1096910"/>
      </dsp:txXfrm>
    </dsp:sp>
    <dsp:sp modelId="{1256C406-6AA7-694B-A9CC-2C0E2709362F}">
      <dsp:nvSpPr>
        <dsp:cNvPr id="0" name=""/>
        <dsp:cNvSpPr/>
      </dsp:nvSpPr>
      <dsp:spPr>
        <a:xfrm>
          <a:off x="3565230" y="1775485"/>
          <a:ext cx="2219357" cy="2219357"/>
        </a:xfrm>
        <a:prstGeom prst="gear6">
          <a:avLst/>
        </a:prstGeom>
        <a:solidFill>
          <a:schemeClr val="accent3">
            <a:hueOff val="1355300"/>
            <a:satOff val="50000"/>
            <a:lumOff val="-735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800" kern="1200" noProof="0" dirty="0">
              <a:latin typeface="Gill Sans Nova Light" panose="020B0302020104020203" pitchFamily="34" charset="0"/>
            </a:rPr>
            <a:t>Análisis Descriptivo</a:t>
          </a:r>
        </a:p>
      </dsp:txBody>
      <dsp:txXfrm>
        <a:off x="4123960" y="2337592"/>
        <a:ext cx="1101897" cy="1095143"/>
      </dsp:txXfrm>
    </dsp:sp>
    <dsp:sp modelId="{1B993F7D-C4FD-3F4A-B699-E7B45E6393E2}">
      <dsp:nvSpPr>
        <dsp:cNvPr id="0" name=""/>
        <dsp:cNvSpPr/>
      </dsp:nvSpPr>
      <dsp:spPr>
        <a:xfrm>
          <a:off x="2843938" y="3218067"/>
          <a:ext cx="1941937" cy="116516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1355300"/>
              <a:satOff val="50000"/>
              <a:lumOff val="-735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_tradnl" sz="1600" kern="1200" noProof="0" dirty="0">
              <a:latin typeface="Gill Sans Nova Light" panose="020B0302020104020203" pitchFamily="34" charset="0"/>
            </a:rPr>
            <a:t>Tablas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_tradnl" sz="1600" kern="1200" noProof="0" dirty="0">
              <a:latin typeface="Gill Sans Nova Light" panose="020B0302020104020203" pitchFamily="34" charset="0"/>
            </a:rPr>
            <a:t>Histogramas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_tradnl" sz="1600" kern="1200" noProof="0" dirty="0">
              <a:latin typeface="Gill Sans Nova Light" panose="020B0302020104020203" pitchFamily="34" charset="0"/>
            </a:rPr>
            <a:t>PCA, Clusters, …</a:t>
          </a:r>
        </a:p>
      </dsp:txBody>
      <dsp:txXfrm>
        <a:off x="2878064" y="3252193"/>
        <a:ext cx="1873685" cy="1096910"/>
      </dsp:txXfrm>
    </dsp:sp>
    <dsp:sp modelId="{F7C1E3D9-D3A5-F44F-A8AF-AF676044A6A0}">
      <dsp:nvSpPr>
        <dsp:cNvPr id="0" name=""/>
        <dsp:cNvSpPr/>
      </dsp:nvSpPr>
      <dsp:spPr>
        <a:xfrm rot="20700000">
          <a:off x="4808296" y="244355"/>
          <a:ext cx="2174517" cy="2174517"/>
        </a:xfrm>
        <a:prstGeom prst="gear6">
          <a:avLst/>
        </a:prstGeom>
        <a:solidFill>
          <a:schemeClr val="accent3">
            <a:hueOff val="2710599"/>
            <a:satOff val="100000"/>
            <a:lumOff val="-1470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800" kern="1200" noProof="0" dirty="0">
              <a:latin typeface="Gill Sans Nova Light" panose="020B0302020104020203" pitchFamily="34" charset="0"/>
            </a:rPr>
            <a:t>Limpieza de Datos</a:t>
          </a:r>
        </a:p>
      </dsp:txBody>
      <dsp:txXfrm rot="-20700000">
        <a:off x="5285231" y="721291"/>
        <a:ext cx="1220646" cy="1220646"/>
      </dsp:txXfrm>
    </dsp:sp>
    <dsp:sp modelId="{F2F70D71-1549-DA4C-AE52-1D67B5E60328}">
      <dsp:nvSpPr>
        <dsp:cNvPr id="0" name=""/>
        <dsp:cNvSpPr/>
      </dsp:nvSpPr>
      <dsp:spPr>
        <a:xfrm>
          <a:off x="6450394" y="721291"/>
          <a:ext cx="1941937" cy="116516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2710599"/>
              <a:satOff val="100000"/>
              <a:lumOff val="-1470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_tradnl" sz="1600" kern="1200" noProof="0" dirty="0">
              <a:latin typeface="Gill Sans Nova Light" panose="020B0302020104020203" pitchFamily="34" charset="0"/>
            </a:rPr>
            <a:t>Muestras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_tradnl" sz="1600" kern="1200" noProof="0" dirty="0">
              <a:latin typeface="Gill Sans Nova Light" panose="020B0302020104020203" pitchFamily="34" charset="0"/>
            </a:rPr>
            <a:t>Eliminar variables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_tradnl" sz="1600" kern="1200" noProof="0" dirty="0" err="1">
              <a:latin typeface="Gill Sans Nova Light" panose="020B0302020104020203" pitchFamily="34" charset="0"/>
            </a:rPr>
            <a:t>Reshape</a:t>
          </a:r>
          <a:endParaRPr lang="es-ES_tradnl" sz="1600" kern="1200" noProof="0" dirty="0">
            <a:latin typeface="Gill Sans Nova Light" panose="020B0302020104020203" pitchFamily="34" charset="0"/>
          </a:endParaRPr>
        </a:p>
      </dsp:txBody>
      <dsp:txXfrm>
        <a:off x="6484520" y="755417"/>
        <a:ext cx="1873685" cy="1096910"/>
      </dsp:txXfrm>
    </dsp:sp>
    <dsp:sp modelId="{64D6B4A8-6DAE-7C4F-82B8-34EC1578BDEB}">
      <dsp:nvSpPr>
        <dsp:cNvPr id="0" name=""/>
        <dsp:cNvSpPr/>
      </dsp:nvSpPr>
      <dsp:spPr>
        <a:xfrm>
          <a:off x="5121213" y="2027627"/>
          <a:ext cx="3906068" cy="3906068"/>
        </a:xfrm>
        <a:prstGeom prst="circularArrow">
          <a:avLst>
            <a:gd name="adj1" fmla="val 4687"/>
            <a:gd name="adj2" fmla="val 299029"/>
            <a:gd name="adj3" fmla="val 2541201"/>
            <a:gd name="adj4" fmla="val 15808362"/>
            <a:gd name="adj5" fmla="val 5469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F98CC3-BBCC-4240-989B-3CCA849F73EF}">
      <dsp:nvSpPr>
        <dsp:cNvPr id="0" name=""/>
        <dsp:cNvSpPr/>
      </dsp:nvSpPr>
      <dsp:spPr>
        <a:xfrm>
          <a:off x="3172186" y="1278614"/>
          <a:ext cx="2838003" cy="2838003"/>
        </a:xfrm>
        <a:prstGeom prst="leftCircularArrow">
          <a:avLst>
            <a:gd name="adj1" fmla="val 6452"/>
            <a:gd name="adj2" fmla="val 429999"/>
            <a:gd name="adj3" fmla="val 10489124"/>
            <a:gd name="adj4" fmla="val 14837806"/>
            <a:gd name="adj5" fmla="val 7527"/>
          </a:avLst>
        </a:prstGeom>
        <a:solidFill>
          <a:schemeClr val="accent3">
            <a:hueOff val="1355300"/>
            <a:satOff val="50000"/>
            <a:lumOff val="-7353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A64E1C-E48C-5A40-A1FB-B14A94E05F3E}">
      <dsp:nvSpPr>
        <dsp:cNvPr id="0" name=""/>
        <dsp:cNvSpPr/>
      </dsp:nvSpPr>
      <dsp:spPr>
        <a:xfrm>
          <a:off x="4305308" y="-237756"/>
          <a:ext cx="3059938" cy="3059938"/>
        </a:xfrm>
        <a:prstGeom prst="circularArrow">
          <a:avLst>
            <a:gd name="adj1" fmla="val 5984"/>
            <a:gd name="adj2" fmla="val 394124"/>
            <a:gd name="adj3" fmla="val 13313824"/>
            <a:gd name="adj4" fmla="val 10508221"/>
            <a:gd name="adj5" fmla="val 6981"/>
          </a:avLst>
        </a:prstGeom>
        <a:solidFill>
          <a:schemeClr val="accent3">
            <a:hueOff val="2710599"/>
            <a:satOff val="100000"/>
            <a:lumOff val="-14706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gear1">
  <dgm:title val=""/>
  <dgm:desc val=""/>
  <dgm:catLst>
    <dgm:cat type="relationship" pri="3000"/>
    <dgm:cat type="process" pri="28000"/>
    <dgm:cat type="cycle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 useDef="1">
    <dgm:dataModel>
      <dgm:ptLst/>
      <dgm:bg/>
      <dgm:whole/>
    </dgm:dataModel>
  </dgm:clrData>
  <dgm:layoutNode name="composite">
    <dgm:varLst>
      <dgm:chMax val="3"/>
      <dgm:animLvl val="lvl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lte" val="1">
        <dgm:constrLst>
          <dgm:constr type="primFontSz" for="ch" ptType="node" op="equ" val="65"/>
          <dgm:constr type="w" for="ch" forName="gear1" refType="w" fact="0.55"/>
          <dgm:constr type="h" for="ch" forName="gear1" refType="w" fact="0.55"/>
          <dgm:constr type="l" for="ch" forName="gear1" refType="w" fact="0.05"/>
          <dgm:constr type="t" for="ch" forName="gear1" refType="w" fact="0.05"/>
          <dgm:constr type="w" for="ch" forName="gear1srcNode" val="1"/>
          <dgm:constr type="h" for="ch" forName="gear1srcNode" val="1"/>
          <dgm:constr type="l" for="ch" forName="gear1srcNode" refType="w" fact="0.32"/>
          <dgm:constr type="t" for="ch" forName="gear1srcNode"/>
          <dgm:constr type="w" for="ch" forName="gear1dstNode" val="1"/>
          <dgm:constr type="h" for="ch" forName="gear1dstNode" val="1"/>
          <dgm:constr type="r" for="ch" forName="gear1dstNode" refType="w" fact="0.58"/>
          <dgm:constr type="t" for="ch" forName="gear1dstNode" refType="h" fact="0.55"/>
          <dgm:constr type="diam" for="des" forName="connector1" refType="w" refFor="ch" refForName="gear1" op="equ" fact="1.1"/>
          <dgm:constr type="h" for="des" forName="connector1" refType="w" refFor="ch" refForName="gear1" op="equ" fact="0.1"/>
          <dgm:constr type="w" for="ch" forName="gear1ch" refType="w" fact="0.35"/>
          <dgm:constr type="h" for="ch" forName="gear1ch" refType="w" refFor="ch" refForName="gear1ch" fact="0.6"/>
          <dgm:constr type="l" for="ch" forName="gear1ch"/>
          <dgm:constr type="b" for="ch" forName="gear1ch" refType="h" fact="0.6"/>
        </dgm:constrLst>
      </dgm:if>
      <dgm:if name="Name2" axis="ch" ptType="node" func="cnt" op="equ" val="2">
        <dgm:constrLst>
          <dgm:constr type="primFontSz" for="ch" ptType="node" op="equ" val="65"/>
          <dgm:constr type="w" for="ch" forName="gear1" refType="w" fact="0.55"/>
          <dgm:constr type="h" for="ch" forName="gear1" refType="w" fact="0.55"/>
          <dgm:constr type="l" for="ch" forName="gear1" refType="w" fact="0.45"/>
          <dgm:constr type="t" for="ch" forName="gear1" refType="w" fact="0.25"/>
          <dgm:constr type="w" for="ch" forName="gear1srcNode" val="1"/>
          <dgm:constr type="h" for="ch" forName="gear1srcNode" val="1"/>
          <dgm:constr type="l" for="ch" forName="gear1srcNode" refType="w" fact="0.72"/>
          <dgm:constr type="t" for="ch" forName="gear1srcNode" refType="w" fact="0.2"/>
          <dgm:constr type="w" for="ch" forName="gear1dstNode" val="1"/>
          <dgm:constr type="h" for="ch" forName="gear1dstNode" val="1"/>
          <dgm:constr type="r" for="ch" forName="gear1dstNode" refType="w" fact="0.98"/>
          <dgm:constr type="t" for="ch" forName="gear1dstNode" refType="h" fact="0.75"/>
          <dgm:constr type="diam" for="des" forName="connector1" refType="w" refFor="ch" refForName="gear1" op="equ" fact="1.1"/>
          <dgm:constr type="h" for="des" forName="connector1" refType="w" refFor="ch" refForName="gear1" op="equ" fact="0.1"/>
          <dgm:constr type="w" for="ch" forName="gear1ch" refType="w" fact="0.35"/>
          <dgm:constr type="h" for="ch" forName="gear1ch" refType="w" refFor="ch" refForName="gear1ch" fact="0.6"/>
          <dgm:constr type="l" for="ch" forName="gear1ch" refType="w" fact="0.38"/>
          <dgm:constr type="b" for="ch" forName="gear1ch" refType="w" fact="0.8"/>
          <dgm:constr type="w" for="ch" forName="gear2" refType="w" fact="0.4"/>
          <dgm:constr type="h" for="ch" forName="gear2" refType="w" fact="0.4"/>
          <dgm:constr type="l" for="ch" forName="gear2" refType="w" fact="0.13"/>
          <dgm:constr type="t" for="ch" forName="gear2" refType="w" fact="0.12"/>
          <dgm:constr type="w" for="ch" forName="gear2srcNode" val="1"/>
          <dgm:constr type="h" for="ch" forName="gear2srcNode" val="1"/>
          <dgm:constr type="l" for="ch" forName="gear2srcNode" refType="w" fact="0.23"/>
          <dgm:constr type="t" for="ch" forName="gear2srcNode" refType="w" fact="0.08"/>
          <dgm:constr type="w" for="ch" forName="gear2dstNode" val="1"/>
          <dgm:constr type="h" for="ch" forName="gear2dstNode" val="1"/>
          <dgm:constr type="l" for="ch" forName="gear2dstNode" refType="w" fact="0.1"/>
          <dgm:constr type="t" for="ch" forName="gear2dstNode" refType="h" fact="0.33"/>
          <dgm:constr type="diam" for="des" forName="connector2" refType="w" refFor="ch" refForName="gear2" op="equ" fact="-1.1"/>
          <dgm:constr type="h" for="des" forName="connector2" refType="w" refFor="ch" refForName="gear1" op="equ" fact="0.1"/>
          <dgm:constr type="w" for="ch" forName="gear2ch" refType="w" fact="0.35"/>
          <dgm:constr type="h" for="ch" forName="gear2ch" refType="w" refFor="ch" refForName="gear2ch" fact="0.6"/>
          <dgm:constr type="l" for="ch" forName="gear2ch" refType="w" fact="0.34"/>
          <dgm:constr type="t" for="ch" forName="gear2ch" refType="w" fact="0.04"/>
        </dgm:constrLst>
      </dgm:if>
      <dgm:else name="Name3">
        <dgm:constrLst>
          <dgm:constr type="primFontSz" for="ch" ptType="node" op="equ" val="65"/>
          <dgm:constr type="w" for="ch" forName="gear1" refType="w" fact="0.55"/>
          <dgm:constr type="h" for="ch" forName="gear1" refType="w" fact="0.55"/>
          <dgm:constr type="l" for="ch" forName="gear1" refType="w" fact="0.45"/>
          <dgm:constr type="t" for="ch" forName="gear1" refType="w" fact="0.45"/>
          <dgm:constr type="w" for="ch" forName="gear1srcNode" val="1"/>
          <dgm:constr type="h" for="ch" forName="gear1srcNode" val="1"/>
          <dgm:constr type="l" for="ch" forName="gear1srcNode" refType="w" fact="0.72"/>
          <dgm:constr type="t" for="ch" forName="gear1srcNode" refType="w" fact="0.4"/>
          <dgm:constr type="w" for="ch" forName="gear1dstNode" val="1"/>
          <dgm:constr type="h" for="ch" forName="gear1dstNode" val="1"/>
          <dgm:constr type="r" for="ch" forName="gear1dstNode" refType="w" fact="0.98"/>
          <dgm:constr type="t" for="ch" forName="gear1dstNode" refType="h" fact="0.95"/>
          <dgm:constr type="diam" for="des" forName="connector1" refType="w" refFor="ch" refForName="gear1" op="equ" fact="1.15"/>
          <dgm:constr type="h" for="des" forName="connector1" refType="w" refFor="ch" refForName="gear1" op="equ" fact="0.1"/>
          <dgm:constr type="w" for="ch" forName="gear1ch" refType="w" fact="0.35"/>
          <dgm:constr type="h" for="ch" forName="gear1ch" refType="w" refFor="ch" refForName="gear1ch" fact="0.6"/>
          <dgm:constr type="l" for="ch" forName="gear1ch" refType="w" fact="0.38"/>
          <dgm:constr type="b" for="ch" forName="gear1ch" refType="h"/>
          <dgm:constr type="w" for="ch" forName="gear2" refType="w" fact="0.4"/>
          <dgm:constr type="h" for="ch" forName="gear2" refType="w" fact="0.4"/>
          <dgm:constr type="l" for="ch" forName="gear2" refType="w" fact="0.13"/>
          <dgm:constr type="t" for="ch" forName="gear2" refType="w" fact="0.32"/>
          <dgm:constr type="w" for="ch" forName="gear2srcNode" val="1"/>
          <dgm:constr type="h" for="ch" forName="gear2srcNode" val="1"/>
          <dgm:constr type="l" for="ch" forName="gear2srcNode" refType="w" fact="0.23"/>
          <dgm:constr type="t" for="ch" forName="gear2srcNode" refType="w" fact="0.28"/>
          <dgm:constr type="w" for="ch" forName="gear2dstNode" val="1"/>
          <dgm:constr type="h" for="ch" forName="gear2dstNode" val="1"/>
          <dgm:constr type="l" for="ch" forName="gear2dstNode" refType="w" fact="0.1"/>
          <dgm:constr type="t" for="ch" forName="gear2dstNode" refType="h" fact="0.53"/>
          <dgm:constr type="diam" for="des" forName="connector2" refType="w" refFor="ch" refForName="gear2" op="equ" fact="-1.1"/>
          <dgm:constr type="h" for="des" forName="connector2" refType="w" refFor="ch" refForName="gear1" op="equ" fact="0.1"/>
          <dgm:constr type="w" for="ch" forName="gear2ch" refType="w" fact="0.35"/>
          <dgm:constr type="h" for="ch" forName="gear2ch" refType="w" refFor="ch" refForName="gear2ch" fact="0.6"/>
          <dgm:constr type="l" for="ch" forName="gear2ch"/>
          <dgm:constr type="t" for="ch" forName="gear2ch" refType="w" fact="0.58"/>
          <dgm:constr type="w" for="ch" forName="gear3" refType="w" fact="0.48"/>
          <dgm:constr type="h" for="ch" forName="gear3" refType="w" fact="0.48"/>
          <dgm:constr type="l" for="ch" forName="gear3" refType="w" fact="0.31"/>
          <dgm:constr type="t" for="ch" forName="gear3"/>
          <dgm:constr type="w" for="ch" forName="gear3tx" refType="w" fact="0.22"/>
          <dgm:constr type="h" for="ch" forName="gear3tx" refType="w" fact="0.22"/>
          <dgm:constr type="ctrX" for="ch" forName="gear3tx" refType="ctrX" refFor="ch" refForName="gear3"/>
          <dgm:constr type="ctrY" for="ch" forName="gear3tx" refType="ctrY" refFor="ch" refForName="gear3"/>
          <dgm:constr type="w" for="ch" forName="gear3srcNode" val="1"/>
          <dgm:constr type="h" for="ch" forName="gear3srcNode" val="1"/>
          <dgm:constr type="l" for="ch" forName="gear3srcNode" refType="w" fact="0.3"/>
          <dgm:constr type="t" for="ch" forName="gear3srcNode" refType="w" fact="0.25"/>
          <dgm:constr type="w" for="ch" forName="gear3dstNode" val="1"/>
          <dgm:constr type="h" for="ch" forName="gear3dstNode" val="1"/>
          <dgm:constr type="l" for="ch" forName="gear3dstNode" refType="w" fact="0.38"/>
          <dgm:constr type="t" for="ch" forName="gear3dstNode" refType="h" fact="0.05"/>
          <dgm:constr type="diam" for="des" forName="connector3" refType="w" refFor="ch" refForName="gear3" op="equ"/>
          <dgm:constr type="h" for="des" forName="connector3" refType="w" refFor="ch" refForName="gear1" op="equ" fact="0.1"/>
          <dgm:constr type="w" for="ch" forName="gear3ch" refType="w" fact="0.35"/>
          <dgm:constr type="h" for="ch" forName="gear3ch" refType="w" refFor="ch" refForName="gear3ch" fact="0.6"/>
          <dgm:constr type="l" for="ch" forName="gear3ch" refType="w" fact="0.65"/>
          <dgm:constr type="t" for="ch" forName="gear3ch" refType="h" fact="0.13"/>
        </dgm:constrLst>
      </dgm:else>
    </dgm:choose>
    <dgm:ruleLst/>
    <dgm:forEach name="Name4" axis="ch" ptType="node" cnt="1">
      <dgm:layoutNode name="gear1" styleLbl="node1">
        <dgm:varLst>
          <dgm:chMax val="1"/>
          <dgm:bulletEnabled val="1"/>
        </dgm:varLst>
        <dgm:alg type="tx">
          <dgm:param type="txAnchorVertCh" val="mid"/>
        </dgm:alg>
        <dgm:shape xmlns:r="http://schemas.openxmlformats.org/officeDocument/2006/relationships" type="gear9" r:blip="">
          <dgm:adjLst/>
        </dgm:shape>
        <dgm:presOf axis="self"/>
        <dgm:constrLst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layoutNode name="gear1src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layoutNode name="gear1dst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choose name="Name5">
        <dgm:if name="Name6" axis="ch" ptType="node" func="cnt" op="gte" val="1">
          <dgm:layoutNode name="gear1ch" styleLbl="fgAcc1">
            <dgm:varLst>
              <dgm:chMax val="0"/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>
              <dgm:constr type="tMarg" refType="primFontSz" fact="0.3"/>
              <dgm:constr type="b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</dgm:if>
        <dgm:else name="Name7"/>
      </dgm:choose>
    </dgm:forEach>
    <dgm:forEach name="Name8" axis="ch" ptType="node" st="2" cnt="1">
      <dgm:layoutNode name="gear2" styleLbl="node1">
        <dgm:varLst>
          <dgm:chMax val="1"/>
          <dgm:bulletEnabled val="1"/>
        </dgm:varLst>
        <dgm:alg type="tx">
          <dgm:param type="txAnchorVertCh" val="mid"/>
        </dgm:alg>
        <dgm:shape xmlns:r="http://schemas.openxmlformats.org/officeDocument/2006/relationships" type="gear6" r:blip="">
          <dgm:adjLst/>
        </dgm:shape>
        <dgm:presOf axis="self"/>
        <dgm:constrLst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layoutNode name="gear2src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layoutNode name="gear2dst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choose name="Name9">
        <dgm:if name="Name10" axis="ch" ptType="node" func="cnt" op="gte" val="1">
          <dgm:layoutNode name="gear2ch" styleLbl="fgAcc1">
            <dgm:varLst>
              <dgm:chMax val="0"/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>
              <dgm:constr type="tMarg" refType="primFontSz" fact="0.3"/>
              <dgm:constr type="b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</dgm:if>
        <dgm:else name="Name11"/>
      </dgm:choose>
    </dgm:forEach>
    <dgm:forEach name="Name12" axis="ch" ptType="node" st="3" cnt="1">
      <dgm:layoutNode name="gear3" styleLbl="node1">
        <dgm:alg type="sp"/>
        <dgm:shape xmlns:r="http://schemas.openxmlformats.org/officeDocument/2006/relationships" rot="-15" type="gear6" r:blip="">
          <dgm:adjLst/>
        </dgm:shape>
        <dgm:presOf axis="self"/>
        <dgm:constrLst/>
        <dgm:ruleLst/>
      </dgm:layoutNode>
      <dgm:layoutNode name="gear3tx" styleLbl="node1">
        <dgm:varLst>
          <dgm:chMax val="1"/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/>
        <dgm:constrLst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layoutNode name="gear3src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layoutNode name="gear3dst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choose name="Name13">
        <dgm:if name="Name14" axis="ch" ptType="node" func="cnt" op="gte" val="1">
          <dgm:layoutNode name="gear3ch" styleLbl="fgAcc1">
            <dgm:varLst>
              <dgm:chMax val="0"/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>
              <dgm:constr type="tMarg" refType="primFontSz" fact="0.3"/>
              <dgm:constr type="b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</dgm:if>
        <dgm:else name="Name15"/>
      </dgm:choose>
    </dgm:forEach>
    <dgm:forEach name="Name16" axis="ch" ptType="sibTrans" hideLastTrans="0" cnt="1">
      <dgm:layoutNode name="connector1" styleLbl="sibTrans2D1">
        <dgm:alg type="conn">
          <dgm:param type="connRout" val="curve"/>
          <dgm:param type="srcNode" val="gear1srcNode"/>
          <dgm:param type="dstNode" val="gear1dstNode"/>
          <dgm:param type="begPts" val="midR"/>
          <dgm:param type="endPts" val="tCtr"/>
        </dgm:alg>
        <dgm:shape xmlns:r="http://schemas.openxmlformats.org/officeDocument/2006/relationships" type="conn" r:blip="">
          <dgm:adjLst/>
        </dgm:shape>
        <dgm:presOf axis="self"/>
        <dgm:constrLst>
          <dgm:constr type="w" val="10"/>
          <dgm:constr type="h" val="10"/>
          <dgm:constr type="begPad"/>
          <dgm:constr type="endPad"/>
        </dgm:constrLst>
        <dgm:ruleLst/>
      </dgm:layoutNode>
    </dgm:forEach>
    <dgm:forEach name="Name17" axis="ch" ptType="sibTrans" hideLastTrans="0" st="2" cnt="1">
      <dgm:layoutNode name="connector2" styleLbl="sibTrans2D1">
        <dgm:alg type="conn">
          <dgm:param type="connRout" val="curve"/>
          <dgm:param type="srcNode" val="gear2srcNode"/>
          <dgm:param type="dstNode" val="gear2dstNode"/>
          <dgm:param type="begPts" val="midL"/>
          <dgm:param type="endPts" val="midL"/>
        </dgm:alg>
        <dgm:shape xmlns:r="http://schemas.openxmlformats.org/officeDocument/2006/relationships" type="conn" r:blip="">
          <dgm:adjLst/>
        </dgm:shape>
        <dgm:presOf axis="self"/>
        <dgm:constrLst>
          <dgm:constr type="w" val="10"/>
          <dgm:constr type="h" val="10"/>
          <dgm:constr type="begPad"/>
          <dgm:constr type="endPad"/>
        </dgm:constrLst>
        <dgm:ruleLst/>
      </dgm:layoutNode>
    </dgm:forEach>
    <dgm:forEach name="Name18" axis="ch" ptType="sibTrans" hideLastTrans="0" st="3" cnt="1">
      <dgm:layoutNode name="connector3" styleLbl="sibTrans2D1">
        <dgm:alg type="conn">
          <dgm:param type="connRout" val="curve"/>
          <dgm:param type="srcNode" val="gear3srcNode"/>
          <dgm:param type="dstNode" val="gear3dstNode"/>
          <dgm:param type="begPts" val="midL"/>
          <dgm:param type="endPts" val="midL"/>
        </dgm:alg>
        <dgm:shape xmlns:r="http://schemas.openxmlformats.org/officeDocument/2006/relationships" type="conn" r:blip="">
          <dgm:adjLst/>
        </dgm:shape>
        <dgm:presOf axis="self"/>
        <dgm:constrLst>
          <dgm:constr type="w" val="10"/>
          <dgm:constr type="h" val="10"/>
          <dgm:constr type="begPad"/>
          <dgm:constr type="endPad"/>
        </dgm:constrLst>
        <dgm:ruleLst/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047155-560D-CC43-A75F-B08C641787EA}" type="datetimeFigureOut">
              <a:rPr lang="en-US" smtClean="0"/>
              <a:t>8/3/26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630DE0-2491-4445-BD47-B1B1930FC5E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210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B412AF-8B30-1C4A-9486-8B7EE1FDFB1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9920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630DE0-2491-4445-BD47-B1B1930FC5E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9431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B412AF-8B30-1C4A-9486-8B7EE1FDFB1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9664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630DE0-2491-4445-BD47-B1B1930FC5E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5168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630DE0-2491-4445-BD47-B1B1930FC5E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9810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630DE0-2491-4445-BD47-B1B1930FC5E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677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_tradnl" dirty="0"/>
              <a:t>* Revisar sección: </a:t>
            </a:r>
            <a:r>
              <a:rPr lang="en-US" dirty="0"/>
              <a:t>Chapter 3.3.1 </a:t>
            </a:r>
            <a:r>
              <a:rPr lang="en-US" dirty="0" err="1"/>
              <a:t>en</a:t>
            </a:r>
            <a:r>
              <a:rPr lang="en-US" dirty="0"/>
              <a:t> JAMES, G., WITTEN, D., HASTIE, T. U TIBSHIRANI, T. (2014) </a:t>
            </a:r>
            <a:r>
              <a:rPr lang="en-US" i="1" dirty="0"/>
              <a:t>An Introduction to Statistical Learning</a:t>
            </a:r>
          </a:p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630DE0-2491-4445-BD47-B1B1930FC5E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1026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630DE0-2491-4445-BD47-B1B1930FC5EF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1569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630DE0-2491-4445-BD47-B1B1930FC5E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2227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630DE0-2491-4445-BD47-B1B1930FC5EF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2168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630DE0-2491-4445-BD47-B1B1930FC5EF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7911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  <a:p>
            <a:r>
              <a:rPr lang="es-ES_tradnl" b="1" dirty="0"/>
              <a:t>Link al </a:t>
            </a:r>
            <a:r>
              <a:rPr lang="es-ES_tradnl" b="1" dirty="0" err="1"/>
              <a:t>paper</a:t>
            </a:r>
            <a:r>
              <a:rPr lang="es-ES_tradnl" b="1" dirty="0"/>
              <a:t>: </a:t>
            </a:r>
            <a:r>
              <a:rPr lang="es-ES_tradnl" dirty="0"/>
              <a:t>https://</a:t>
            </a:r>
            <a:r>
              <a:rPr lang="es-ES_tradnl" dirty="0" err="1"/>
              <a:t>link.springer.com</a:t>
            </a:r>
            <a:r>
              <a:rPr lang="es-ES_tradnl" dirty="0"/>
              <a:t>/</a:t>
            </a:r>
            <a:r>
              <a:rPr lang="es-ES_tradnl" dirty="0" err="1"/>
              <a:t>article</a:t>
            </a:r>
            <a:r>
              <a:rPr lang="es-ES_tradnl" dirty="0"/>
              <a:t>/10.1186/s12992-020-00655-3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630DE0-2491-4445-BD47-B1B1930FC5EF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7624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ED07FA-7792-F649-B523-FCAF9068A01B}" type="slidenum">
              <a:rPr lang="es-ES_tradnl" smtClean="0"/>
              <a:t>40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3072283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CB98C-7E11-E20C-7CA1-01CA7BC60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8FC3A6-7EF0-25DE-49FD-093DABEA40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9BDF46-6163-6B81-C8F2-2AFCA65AD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B1630-065F-844C-B6A7-8C58AC6D2693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D8C366-551D-FE97-2B1D-32127BF38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01B1D-ECC1-F92A-E5F2-CCE79365E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386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0CDC1-3848-0D97-B7AC-87941E6A6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5930B0-69E0-A392-06B3-B0B255B708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AB745A-C184-9A02-3478-963C49CDE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B1630-065F-844C-B6A7-8C58AC6D2693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BE6306-932B-2678-8102-D5B1FF6A8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CFBCBB-A717-3F86-896B-2E915566B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441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2CE9D-254D-F34F-04CD-7171E08AA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D3A657-71FF-6D0F-FA99-85DC67E6EC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3D6D25-137F-9F92-60F0-FB0CA02EF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B1630-065F-844C-B6A7-8C58AC6D2693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048134-AEC4-52EE-619E-153EC79DA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A96E28-6B6A-F6F8-4722-E4543D315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7865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31D6C-E496-E079-CBB1-0568125CB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CE5603-C8AA-9A92-329E-1802B5F592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050DDA-AA05-B9E0-6968-15C94DE927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F06625-219C-99D2-3E54-1E8F41B241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B1630-065F-844C-B6A7-8C58AC6D2693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BABBC7-B012-FDE4-EA5B-0F69DA2EA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05FDEE-8F41-2CAA-8017-4038F3B81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1568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BA04D-9D5C-EB18-C5D0-F76A09B06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A72525-56CB-7F89-4E11-9F3346C59F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4198E8-A9B1-48FB-F54D-A3A92D36D8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21E517-63E9-95AE-DECC-CFC5865D18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42A0CC-FDD5-8EAE-60EC-D76CDDC978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DA6C08-7F94-962B-4B6D-4E592F0E2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B1630-065F-844C-B6A7-8C58AC6D2693}" type="datetimeFigureOut">
              <a:rPr lang="en-US" smtClean="0"/>
              <a:t>8/3/26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6DBB8B-904B-340C-44C2-AEB8E7341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57219B-396C-1FD3-E2D2-AE4347275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264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A471B7-64C8-5681-B050-6630E1012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026AF0-FBD4-6543-A23B-33B8EC5C6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B1630-065F-844C-B6A7-8C58AC6D2693}" type="datetimeFigureOut">
              <a:rPr lang="en-US" smtClean="0"/>
              <a:t>8/3/26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087316-ECA6-24C4-30E6-F285BB5BB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F1D056-F9AE-1692-E81E-AF758FCCC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57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A10710-3846-C9D7-2144-F947912C5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B1630-065F-844C-B6A7-8C58AC6D2693}" type="datetimeFigureOut">
              <a:rPr lang="en-US" smtClean="0"/>
              <a:t>8/3/26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8AC6AD-5E2E-A761-7126-579D50261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F490D8-22CE-08FF-C435-CF9436B20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121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C159F-BCFE-0041-5B65-0F7FC249D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7DE978-B876-7F13-E812-15175B9B47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7065CE-0860-1EFD-1CD1-8D84398DFB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FE4DE7-1714-6B66-42FD-77D069D7B5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B1630-065F-844C-B6A7-8C58AC6D2693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5CCE9F-F437-9F8B-15B0-8576AFF53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499748-1BAE-0CB1-1ED5-9FF402F0A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604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5094-D299-E460-49A2-D005A07AC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69A670-8C5F-885F-FB89-1940119E60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F02C41-9999-BFD6-AEAD-EB346FCC3E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E5BE73-C51E-CB3B-FD3F-C461033F7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B1630-065F-844C-B6A7-8C58AC6D2693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5D6684-3CE0-4A83-95A6-6EBB09496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573D51-51CE-D827-C1EE-C87D922E8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0155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36847-10A3-1E86-2365-C19719B4A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F4D640-C06A-7E21-00D5-44964ADC6B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FFEB36-D0A3-DD5E-C201-B27A71693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B1630-065F-844C-B6A7-8C58AC6D2693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06C4C8-11C3-310B-0494-5A9A39C6A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3FB9E-F285-F7AE-0E8F-94E443916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7317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9591E1-25BE-1B7D-2747-B206B76901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0C95D2-79AD-B457-5041-AF0BC72AD4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D9B71-7EFC-DD71-1559-F745192F9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B1630-065F-844C-B6A7-8C58AC6D2693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4FD8D1-6C57-FE1E-C640-C760ABFFA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979F31-ACBF-4495-3650-1BBE0598F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317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CE12EA-8A8E-06EC-6E57-8E5E96C51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_tradnl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40FE1-91A8-46C3-32E1-30AAA21A93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_tradnl" noProof="0"/>
              <a:t>Click to edit Master text styles</a:t>
            </a:r>
          </a:p>
          <a:p>
            <a:pPr lvl="1"/>
            <a:r>
              <a:rPr lang="es-ES_tradnl" noProof="0"/>
              <a:t>Second level</a:t>
            </a:r>
          </a:p>
          <a:p>
            <a:pPr lvl="2"/>
            <a:r>
              <a:rPr lang="es-ES_tradnl" noProof="0"/>
              <a:t>Third level</a:t>
            </a:r>
          </a:p>
          <a:p>
            <a:pPr lvl="3"/>
            <a:r>
              <a:rPr lang="es-ES_tradnl" noProof="0"/>
              <a:t>Fourth level</a:t>
            </a:r>
          </a:p>
          <a:p>
            <a:pPr lvl="4"/>
            <a:r>
              <a:rPr lang="es-ES_tradnl" noProof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69DB0-88CE-6331-AB80-0CB309875B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Gill Sans Nova Light" panose="020F0302020204030204" pitchFamily="34" charset="0"/>
                <a:cs typeface="Gill Sans Nova Light" panose="020F0302020204030204" pitchFamily="34" charset="0"/>
              </a:defRPr>
            </a:lvl1pPr>
          </a:lstStyle>
          <a:p>
            <a:fld id="{A7EB1630-065F-844C-B6A7-8C58AC6D2693}" type="datetimeFigureOut">
              <a:rPr lang="es-ES_tradnl" noProof="0" smtClean="0"/>
              <a:pPr/>
              <a:t>3/8/26</a:t>
            </a:fld>
            <a:endParaRPr lang="es-ES_tradnl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25CBFB-E83F-ED57-BB3C-53CCB66624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Gill Sans Nova Light" panose="020F0302020204030204" pitchFamily="34" charset="0"/>
                <a:cs typeface="Gill Sans Nova Light" panose="020F0302020204030204" pitchFamily="34" charset="0"/>
              </a:defRPr>
            </a:lvl1pPr>
          </a:lstStyle>
          <a:p>
            <a:endParaRPr lang="es-ES_tradnl" noProof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FDCCDE-D195-0527-335D-0AECD8803A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Gill Sans Nova Light" panose="020F0302020204030204" pitchFamily="34" charset="0"/>
                <a:cs typeface="Gill Sans Nova Light" panose="020F0302020204030204" pitchFamily="34" charset="0"/>
              </a:defRPr>
            </a:lvl1pPr>
          </a:lstStyle>
          <a:p>
            <a:fld id="{278C1CC4-2077-434E-BCF1-5D01C08A9B17}" type="slidenum">
              <a:rPr lang="es-ES_tradnl" noProof="0" smtClean="0"/>
              <a:pPr/>
              <a:t>‹Nº›</a:t>
            </a:fld>
            <a:endParaRPr lang="es-ES_tradnl" noProof="0"/>
          </a:p>
        </p:txBody>
      </p:sp>
    </p:spTree>
    <p:extLst>
      <p:ext uri="{BB962C8B-B14F-4D97-AF65-F5344CB8AC3E}">
        <p14:creationId xmlns:p14="http://schemas.microsoft.com/office/powerpoint/2010/main" val="248092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2060"/>
          </a:solidFill>
          <a:latin typeface="Goudy Old Style" panose="02020502050305020303" pitchFamily="18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Gill Sans Nova Light" panose="020F0302020204030204" pitchFamily="34" charset="0"/>
          <a:ea typeface="+mn-ea"/>
          <a:cs typeface="Gill Sans Nova Light" panose="020F03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Gill Sans Nova Light" panose="020F0302020204030204" pitchFamily="34" charset="0"/>
          <a:ea typeface="+mn-ea"/>
          <a:cs typeface="Gill Sans Nova Light" panose="020F03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Gill Sans Nova Light" panose="020F0302020204030204" pitchFamily="34" charset="0"/>
          <a:ea typeface="+mn-ea"/>
          <a:cs typeface="Gill Sans Nova Light" panose="020F03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ill Sans Nova Light" panose="020F0302020204030204" pitchFamily="34" charset="0"/>
          <a:ea typeface="+mn-ea"/>
          <a:cs typeface="Gill Sans Nova Light" panose="020F03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ill Sans Nova Light" panose="020F0302020204030204" pitchFamily="34" charset="0"/>
          <a:ea typeface="+mn-ea"/>
          <a:cs typeface="Gill Sans Nova Light" panose="020F03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0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eaweb.org/articles?id=10.1257/jep.15.4.43" TargetMode="Externa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mailto:25RO35480961@campus.economicas.uba.ar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2C8F4-54CC-EED9-C31F-8F80FFB62E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46910"/>
            <a:ext cx="9144000" cy="2387600"/>
          </a:xfrm>
        </p:spPr>
        <p:txBody>
          <a:bodyPr>
            <a:normAutofit/>
          </a:bodyPr>
          <a:lstStyle/>
          <a:p>
            <a:r>
              <a:rPr lang="es-ES" sz="4400" kern="1400" dirty="0">
                <a:ea typeface="Times New Roman" panose="02020603050405020304" pitchFamily="18" charset="0"/>
                <a:cs typeface="Times New Roman" panose="02020603050405020304" pitchFamily="18" charset="0"/>
              </a:rPr>
              <a:t>Introducción a Clasificación:</a:t>
            </a:r>
            <a:br>
              <a:rPr lang="es-ES" sz="4400" kern="1400" dirty="0"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ES" sz="4400" kern="1400" dirty="0">
                <a:ea typeface="Times New Roman" panose="02020603050405020304" pitchFamily="18" charset="0"/>
                <a:cs typeface="Times New Roman" panose="02020603050405020304" pitchFamily="18" charset="0"/>
              </a:rPr>
              <a:t>Bayes, Logit y KNN</a:t>
            </a:r>
            <a:endParaRPr lang="en-US" sz="149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F55BDD-1493-5FB8-8EDB-106F9B3629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9115"/>
            <a:ext cx="9144000" cy="1655762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rgbClr val="000000"/>
                </a:solidFill>
                <a:effectLst/>
                <a:latin typeface="Gill Sans Nova Light" panose="020F03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María Noelia Romero</a:t>
            </a:r>
            <a:r>
              <a:rPr lang="en-US" sz="4000" dirty="0">
                <a:effectLst/>
              </a:rPr>
              <a:t> </a:t>
            </a:r>
            <a:endParaRPr lang="en-US" sz="4000" dirty="0"/>
          </a:p>
          <a:p>
            <a:r>
              <a:rPr lang="es-ES" sz="2800">
                <a:solidFill>
                  <a:srgbClr val="000000"/>
                </a:solidFill>
                <a:latin typeface="Gill Sans Nova Light" panose="020F0302020204030204" pitchFamily="34" charset="0"/>
                <a:cs typeface="Times New Roman" panose="02020603050405020304" pitchFamily="18" charset="0"/>
              </a:rPr>
              <a:t>Clase 6</a:t>
            </a:r>
            <a:endParaRPr lang="en-US" sz="3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EADCD9-CEB1-5D1E-D7AC-167899E21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027F2D-CC52-462D-4A92-C7C4502C71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950" y="853123"/>
            <a:ext cx="1463040" cy="1463040"/>
          </a:xfrm>
          <a:prstGeom prst="rect">
            <a:avLst/>
          </a:prstGeom>
        </p:spPr>
      </p:pic>
      <p:pic>
        <p:nvPicPr>
          <p:cNvPr id="6" name="Picture 5" descr="A blue and yellow logo&#10;&#10;Description automatically generated">
            <a:extLst>
              <a:ext uri="{FF2B5EF4-FFF2-40B4-BE49-F238E27FC236}">
                <a16:creationId xmlns:a16="http://schemas.microsoft.com/office/drawing/2014/main" id="{939E0972-AB4F-C51D-7B38-9F10B613F9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2007" y="849631"/>
            <a:ext cx="1271793" cy="146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3313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E00F5-C7EE-2CC9-E9BA-CD7EB57AF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En la clase de hoy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A8327E-74B0-5F1D-D3E8-C9714B43F8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s-ES_tradnl" dirty="0"/>
              <a:t>0. Repaso y Preguntas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s-ES_tradnl" dirty="0"/>
              <a:t>Motivación: Clasificación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s-ES_tradnl" dirty="0"/>
              <a:t>Clasificador de Bayes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s-ES_tradnl" dirty="0"/>
              <a:t>Regresión logística -&gt; Aplicación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s-ES_tradnl" dirty="0"/>
              <a:t>Vecinos cercanos (KNN) -&gt; Aplicación</a:t>
            </a:r>
          </a:p>
          <a:p>
            <a:pPr marL="0" indent="0">
              <a:lnSpc>
                <a:spcPct val="150000"/>
              </a:lnSpc>
              <a:buNone/>
            </a:pPr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41698804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8CDA9-EC41-2312-3939-2A1FFC5B4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Orden de Temas: </a:t>
            </a:r>
            <a:r>
              <a:rPr lang="es-ES_tradnl" sz="36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Secuencia de Trabajo con Datos</a:t>
            </a:r>
            <a:endParaRPr lang="es-ES_tradnl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1ABD0DE-D47B-BE72-9389-1B9C88CB6F1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49451" y="1100380"/>
          <a:ext cx="11236271" cy="55483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42FF7C-6F94-55CC-F31A-3FC6C600E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0528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9A790-8125-0419-9C63-AD7B89D79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De la Etapa Explorativa a la Predicción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08559E05-DBC3-8301-D584-275312741E4C}"/>
                  </a:ext>
                </a:extLst>
              </p:cNvPr>
              <p:cNvGraphicFramePr>
                <a:graphicFrameLocks noGrp="1"/>
              </p:cNvGraphicFramePr>
              <p:nvPr>
                <p:ph idx="1"/>
              </p:nvPr>
            </p:nvGraphicFramePr>
            <p:xfrm>
              <a:off x="617621" y="1496447"/>
              <a:ext cx="10956757" cy="4724400"/>
            </p:xfrm>
            <a:graphic>
              <a:graphicData uri="http://schemas.openxmlformats.org/drawingml/2006/table">
                <a:tbl>
                  <a:tblPr firstRow="1" bandRow="1">
                    <a:tableStyleId>{F2DE63D5-997A-4646-A377-4702673A728D}</a:tableStyleId>
                  </a:tblPr>
                  <a:tblGrid>
                    <a:gridCol w="1540043">
                      <a:extLst>
                        <a:ext uri="{9D8B030D-6E8A-4147-A177-3AD203B41FA5}">
                          <a16:colId xmlns:a16="http://schemas.microsoft.com/office/drawing/2014/main" val="1029663632"/>
                        </a:ext>
                      </a:extLst>
                    </a:gridCol>
                    <a:gridCol w="1915804">
                      <a:extLst>
                        <a:ext uri="{9D8B030D-6E8A-4147-A177-3AD203B41FA5}">
                          <a16:colId xmlns:a16="http://schemas.microsoft.com/office/drawing/2014/main" val="3989478329"/>
                        </a:ext>
                      </a:extLst>
                    </a:gridCol>
                    <a:gridCol w="5265262">
                      <a:extLst>
                        <a:ext uri="{9D8B030D-6E8A-4147-A177-3AD203B41FA5}">
                          <a16:colId xmlns:a16="http://schemas.microsoft.com/office/drawing/2014/main" val="1368382703"/>
                        </a:ext>
                      </a:extLst>
                    </a:gridCol>
                    <a:gridCol w="2235648">
                      <a:extLst>
                        <a:ext uri="{9D8B030D-6E8A-4147-A177-3AD203B41FA5}">
                          <a16:colId xmlns:a16="http://schemas.microsoft.com/office/drawing/2014/main" val="995975348"/>
                        </a:ext>
                      </a:extLst>
                    </a:gridCol>
                  </a:tblGrid>
                  <a:tr h="749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Etapas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00206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Tipo de Aprendizaje</a:t>
                          </a:r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00206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Idea</a:t>
                          </a:r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00206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Métodos</a:t>
                          </a:r>
                        </a:p>
                      </a:txBody>
                      <a:tcPr anchor="ctr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00206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67572"/>
                      </a:ext>
                    </a:extLst>
                  </a:tr>
                  <a:tr h="899255">
                    <a:tc rowSpan="2">
                      <a:txBody>
                        <a:bodyPr/>
                        <a:lstStyle/>
                        <a:p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Explorativa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  <a:p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Aprendizaje No Supervisado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No hay un </a:t>
                          </a:r>
                          <a:r>
                            <a:rPr lang="es-ES_tradnl" sz="2200" dirty="0">
                              <a:solidFill>
                                <a:srgbClr val="002060"/>
                              </a:solidFill>
                              <a:latin typeface="Gill Sans Nova Light" panose="020B0302020104020203" pitchFamily="34" charset="0"/>
                            </a:rPr>
                            <a:t>output</a:t>
                          </a: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 que se busca predecir</a:t>
                          </a:r>
                        </a:p>
                        <a:p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N observaciones </a:t>
                          </a:r>
                          <a14:m>
                            <m:oMath xmlns:m="http://schemas.openxmlformats.org/officeDocument/2006/math">
                              <m:d>
                                <m:d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2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b="0" dirty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200" b="0" dirty="0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sz="2200" b="0" dirty="0" smtClean="0">
                                      <a:latin typeface="Cambria Math" panose="02040503050406030204" pitchFamily="18" charset="0"/>
                                    </a:rPr>
                                    <m:t>, …,</m:t>
                                  </m:r>
                                  <m:sSub>
                                    <m:sSubPr>
                                      <m:ctrlPr>
                                        <a:rPr lang="en-US" sz="22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b="0" dirty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200" b="0" dirty="0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285750" lvl="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PCA</a:t>
                          </a:r>
                        </a:p>
                        <a:p>
                          <a:pPr marL="285750" lvl="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Clusters</a:t>
                          </a:r>
                        </a:p>
                        <a:p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2145790582"/>
                      </a:ext>
                    </a:extLst>
                  </a:tr>
                  <a:tr h="1039834">
                    <a:tc vMerge="1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Explorativa</a:t>
                          </a:r>
                        </a:p>
                        <a:p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Aprendizaje Supervisado</a:t>
                          </a:r>
                        </a:p>
                      </a:txBody>
                      <a:tcPr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Predecir distribución de un variable de interés </a:t>
                          </a:r>
                        </a:p>
                        <a:p>
                          <a:pPr marL="285750" lvl="0" indent="-285750">
                            <a:buFont typeface="Arial" panose="020B0604020202020204" pitchFamily="34" charset="0"/>
                            <a:buChar char="•"/>
                          </a:pPr>
                          <a14:m>
                            <m:oMath xmlns:m="http://schemas.openxmlformats.org/officeDocument/2006/math">
                              <m:r>
                                <a:rPr lang="es-ES_tradnl" sz="2200" b="0" dirty="0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oMath>
                          </a14:m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 variable de interés</a:t>
                          </a:r>
                        </a:p>
                        <a:p>
                          <a:pPr marL="285750" lvl="0" indent="-285750">
                            <a:buFont typeface="Arial" panose="020B0604020202020204" pitchFamily="34" charset="0"/>
                            <a:buChar char="•"/>
                          </a:pPr>
                          <a14:m>
                            <m:oMath xmlns:m="http://schemas.openxmlformats.org/officeDocument/2006/math">
                              <m:r>
                                <a:rPr lang="en-US" sz="2200" b="0" dirty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ES_tradnl" sz="2200" b="0" dirty="0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d>
                            </m:oMath>
                          </a14:m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 distribución de </a:t>
                          </a:r>
                          <a14:m>
                            <m:oMath xmlns:m="http://schemas.openxmlformats.org/officeDocument/2006/math">
                              <m:r>
                                <a:rPr lang="es-ES_tradnl" sz="2200" dirty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oMath>
                          </a14:m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285750" lvl="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Histogramas</a:t>
                          </a:r>
                        </a:p>
                        <a:p>
                          <a:pPr marL="285750" lvl="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Kernels</a:t>
                          </a:r>
                        </a:p>
                        <a:p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33332684"/>
                      </a:ext>
                    </a:extLst>
                  </a:tr>
                  <a:tr h="1723164">
                    <a:tc>
                      <a:txBody>
                        <a:bodyPr/>
                        <a:lstStyle/>
                        <a:p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Modelos y Predicción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Aprendizaje Supervisado</a:t>
                          </a:r>
                        </a:p>
                        <a:p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ES_tradnl" sz="2200" b="1" dirty="0">
                              <a:latin typeface="Gill Sans Nova Light" panose="020B0302020104020203" pitchFamily="34" charset="0"/>
                            </a:rPr>
                            <a:t>Predecir</a:t>
                          </a: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: </a:t>
                          </a:r>
                          <a14:m>
                            <m:oMath xmlns:m="http://schemas.openxmlformats.org/officeDocument/2006/math">
                              <m:r>
                                <a:rPr lang="es-ES_tradnl" sz="2200" b="0" dirty="0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s-ES_tradnl" sz="2200" b="0" dirty="0" smtClean="0">
                                  <a:latin typeface="Cambria Math" panose="02040503050406030204" pitchFamily="18" charset="0"/>
                                </a:rPr>
                                <m:t>= (</m:t>
                              </m:r>
                              <m:sSub>
                                <m:sSubPr>
                                  <m:ctrlPr>
                                    <a:rPr lang="en-US" sz="22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_tradnl" sz="2200" b="0" dirty="0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sz="2200" b="0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200" b="0" dirty="0" smtClean="0">
                                  <a:latin typeface="Cambria Math" panose="02040503050406030204" pitchFamily="18" charset="0"/>
                                </a:rPr>
                                <m:t>,…, </m:t>
                              </m:r>
                              <m:sSub>
                                <m:sSubPr>
                                  <m:ctrlPr>
                                    <a:rPr lang="en-US" sz="22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dirty="0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sz="2200" b="0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s-ES_tradnl" sz="2200" b="0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  <a:p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Inputs: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200" b="0" dirty="0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en-US" sz="2200" b="0" dirty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s-ES_tradnl" sz="2200" b="0" dirty="0" smtClean="0">
                                  <a:latin typeface="Cambria Math" panose="02040503050406030204" pitchFamily="18" charset="0"/>
                                </a:rPr>
                                <m:t>= (</m:t>
                              </m:r>
                              <m:sSub>
                                <m:sSubPr>
                                  <m:ctrlPr>
                                    <a:rPr lang="en-US" sz="22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dirty="0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2200" b="0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200" b="0" dirty="0" smtClean="0">
                                  <a:latin typeface="Cambria Math" panose="02040503050406030204" pitchFamily="18" charset="0"/>
                                </a:rPr>
                                <m:t>,…, </m:t>
                              </m:r>
                              <m:sSub>
                                <m:sSubPr>
                                  <m:ctrlPr>
                                    <a:rPr lang="en-US" sz="22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dirty="0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2200" b="0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s-ES_tradnl" sz="2200" b="0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  <a:p>
                          <a:endParaRPr lang="es-ES_tradnl" sz="1200" dirty="0">
                            <a:latin typeface="Gill Sans Nova Light" panose="020B0302020104020203" pitchFamily="34" charset="0"/>
                          </a:endParaRPr>
                        </a:p>
                        <a:p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s-ES_tradnl" sz="2200" b="0" dirty="0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oMath>
                          </a14:m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 cuantitativo -&gt;</a:t>
                          </a:r>
                          <a:r>
                            <a:rPr lang="es-ES_tradnl" sz="2200" baseline="0" dirty="0">
                              <a:latin typeface="Gill Sans Nova Light" panose="020B0302020104020203" pitchFamily="34" charset="0"/>
                            </a:rPr>
                            <a:t> Regresión</a:t>
                          </a:r>
                        </a:p>
                        <a:p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s-ES_tradnl" sz="2200" b="0" dirty="0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oMath>
                          </a14:m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 binaria</a:t>
                          </a:r>
                          <a:r>
                            <a:rPr lang="es-ES_tradnl" sz="2200" baseline="0" dirty="0">
                              <a:latin typeface="Gill Sans Nova Light" panose="020B0302020104020203" pitchFamily="34" charset="0"/>
                            </a:rPr>
                            <a:t> o categórica -&gt; Clasificación</a:t>
                          </a:r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MCO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ES_tradnl" sz="2200" dirty="0" err="1">
                              <a:latin typeface="Gill Sans Nova Light" panose="020B0302020104020203" pitchFamily="34" charset="0"/>
                            </a:rPr>
                            <a:t>Logit</a:t>
                          </a: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, LDA, QDA, KNN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Y otros…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71541577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08559E05-DBC3-8301-D584-275312741E4C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431141794"/>
                  </p:ext>
                </p:extLst>
              </p:nvPr>
            </p:nvGraphicFramePr>
            <p:xfrm>
              <a:off x="617621" y="1496447"/>
              <a:ext cx="10956757" cy="4724400"/>
            </p:xfrm>
            <a:graphic>
              <a:graphicData uri="http://schemas.openxmlformats.org/drawingml/2006/table">
                <a:tbl>
                  <a:tblPr firstRow="1" bandRow="1">
                    <a:tableStyleId>{F2DE63D5-997A-4646-A377-4702673A728D}</a:tableStyleId>
                  </a:tblPr>
                  <a:tblGrid>
                    <a:gridCol w="1540043">
                      <a:extLst>
                        <a:ext uri="{9D8B030D-6E8A-4147-A177-3AD203B41FA5}">
                          <a16:colId xmlns:a16="http://schemas.microsoft.com/office/drawing/2014/main" val="1029663632"/>
                        </a:ext>
                      </a:extLst>
                    </a:gridCol>
                    <a:gridCol w="1915804">
                      <a:extLst>
                        <a:ext uri="{9D8B030D-6E8A-4147-A177-3AD203B41FA5}">
                          <a16:colId xmlns:a16="http://schemas.microsoft.com/office/drawing/2014/main" val="3989478329"/>
                        </a:ext>
                      </a:extLst>
                    </a:gridCol>
                    <a:gridCol w="5265262">
                      <a:extLst>
                        <a:ext uri="{9D8B030D-6E8A-4147-A177-3AD203B41FA5}">
                          <a16:colId xmlns:a16="http://schemas.microsoft.com/office/drawing/2014/main" val="1368382703"/>
                        </a:ext>
                      </a:extLst>
                    </a:gridCol>
                    <a:gridCol w="2235648">
                      <a:extLst>
                        <a:ext uri="{9D8B030D-6E8A-4147-A177-3AD203B41FA5}">
                          <a16:colId xmlns:a16="http://schemas.microsoft.com/office/drawing/2014/main" val="995975348"/>
                        </a:ext>
                      </a:extLst>
                    </a:gridCol>
                  </a:tblGrid>
                  <a:tr h="762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Etapas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00206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Tipo de Aprendizaje</a:t>
                          </a:r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00206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Idea</a:t>
                          </a:r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00206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Métodos</a:t>
                          </a:r>
                        </a:p>
                      </a:txBody>
                      <a:tcPr anchor="ctr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00206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67572"/>
                      </a:ext>
                    </a:extLst>
                  </a:tr>
                  <a:tr h="1097280">
                    <a:tc rowSpan="2">
                      <a:txBody>
                        <a:bodyPr/>
                        <a:lstStyle/>
                        <a:p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Explorativa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  <a:p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Aprendizaje No Supervisado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65783" t="-72414" r="-42651" b="-2655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285750" lvl="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PCA</a:t>
                          </a:r>
                        </a:p>
                        <a:p>
                          <a:pPr marL="285750" lvl="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Clusters</a:t>
                          </a:r>
                        </a:p>
                        <a:p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2145790582"/>
                      </a:ext>
                    </a:extLst>
                  </a:tr>
                  <a:tr h="1097280">
                    <a:tc vMerge="1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Explorativa</a:t>
                          </a:r>
                        </a:p>
                        <a:p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Aprendizaje Supervisado</a:t>
                          </a:r>
                        </a:p>
                      </a:txBody>
                      <a:tcPr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5783" t="-174419" r="-42651" b="-1686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285750" lvl="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Histogramas</a:t>
                          </a:r>
                        </a:p>
                        <a:p>
                          <a:pPr marL="285750" lvl="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Kernels</a:t>
                          </a:r>
                        </a:p>
                        <a:p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33332684"/>
                      </a:ext>
                    </a:extLst>
                  </a:tr>
                  <a:tr h="1767840">
                    <a:tc>
                      <a:txBody>
                        <a:bodyPr/>
                        <a:lstStyle/>
                        <a:p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Modelos y Predicción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Aprendizaje Supervisado</a:t>
                          </a:r>
                        </a:p>
                        <a:p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5783" t="-168571" r="-42651" b="-35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MCO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ES_tradnl" sz="2200" dirty="0" err="1">
                              <a:latin typeface="Gill Sans Nova Light" panose="020B0302020104020203" pitchFamily="34" charset="0"/>
                            </a:rPr>
                            <a:t>Logit</a:t>
                          </a: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, LDA, QDA, KNN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ES_tradnl" sz="2200" dirty="0">
                              <a:latin typeface="Gill Sans Nova Light" panose="020B0302020104020203" pitchFamily="34" charset="0"/>
                            </a:rPr>
                            <a:t>Y otros…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endParaRPr lang="es-ES_tradnl" sz="220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71541577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B742BB-420A-39A8-1250-F8C947C8F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4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6411E09-9C93-2937-FA98-0414F500111B}"/>
              </a:ext>
            </a:extLst>
          </p:cNvPr>
          <p:cNvSpPr/>
          <p:nvPr/>
        </p:nvSpPr>
        <p:spPr>
          <a:xfrm>
            <a:off x="4058653" y="5727338"/>
            <a:ext cx="4812631" cy="4170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dirty="0"/>
              <a:t>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51059B-F693-3AB2-5ECB-B9BC8A48F24B}"/>
              </a:ext>
            </a:extLst>
          </p:cNvPr>
          <p:cNvSpPr/>
          <p:nvPr/>
        </p:nvSpPr>
        <p:spPr>
          <a:xfrm>
            <a:off x="9648281" y="4812184"/>
            <a:ext cx="1535534" cy="69180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894729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42471-9418-E3E3-C7E5-30087178F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Clasificación: Motivación y primeras definiciones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780597-6948-B78E-E6E3-6E4F9F1321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References</a:t>
            </a:r>
          </a:p>
          <a:p>
            <a:r>
              <a:rPr lang="es-AR" sz="2400" b="1" dirty="0">
                <a:solidFill>
                  <a:srgbClr val="00663D"/>
                </a:solidFill>
                <a:effectLst/>
                <a:latin typeface="Times" pitchFamily="2" charset="0"/>
                <a:ea typeface="Times" pitchFamily="2" charset="0"/>
                <a:cs typeface="Times" pitchFamily="2" charset="0"/>
              </a:rPr>
              <a:t>† </a:t>
            </a:r>
            <a:r>
              <a:rPr lang="en-US" sz="2400" dirty="0"/>
              <a:t>James, G., Witten, D., Hastie, T., Tibshirani, R., &amp; Taylor, J. (2023). </a:t>
            </a:r>
            <a:r>
              <a:rPr lang="en-US" sz="2400" i="1" dirty="0"/>
              <a:t>An introduction to statistical learning: With applications in Python. </a:t>
            </a:r>
            <a:r>
              <a:rPr lang="en-US" b="1" dirty="0"/>
              <a:t>Chap. 4.1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72201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F928D-A2F2-F5F0-0018-094C88CCA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Motivación: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Decisiones con varias opciones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51C54-6391-40F9-DD28-4D35AA1D76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</a:pPr>
            <a:r>
              <a:rPr lang="es-ES_tradnl" b="1" dirty="0"/>
              <a:t>Consumidores u Hogares </a:t>
            </a:r>
            <a:r>
              <a:rPr lang="es-ES_tradnl" dirty="0"/>
              <a:t>: </a:t>
            </a:r>
          </a:p>
          <a:p>
            <a:pPr lvl="1">
              <a:lnSpc>
                <a:spcPct val="150000"/>
              </a:lnSpc>
            </a:pPr>
            <a:r>
              <a:rPr lang="es-ES_tradnl" dirty="0"/>
              <a:t>{comprar, no comprar} </a:t>
            </a:r>
          </a:p>
          <a:p>
            <a:pPr lvl="1">
              <a:lnSpc>
                <a:spcPct val="150000"/>
              </a:lnSpc>
            </a:pPr>
            <a:r>
              <a:rPr lang="es-ES_tradnl" dirty="0"/>
              <a:t>{trabajar, no trabajar}</a:t>
            </a:r>
          </a:p>
          <a:p>
            <a:pPr lvl="1">
              <a:lnSpc>
                <a:spcPct val="150000"/>
              </a:lnSpc>
            </a:pPr>
            <a:r>
              <a:rPr lang="es-ES_tradnl" dirty="0"/>
              <a:t>{Estudiar curso online, Maestría, Doctorado}</a:t>
            </a:r>
          </a:p>
          <a:p>
            <a:pPr>
              <a:lnSpc>
                <a:spcPct val="150000"/>
              </a:lnSpc>
            </a:pPr>
            <a:r>
              <a:rPr lang="es-ES_tradnl" b="1" dirty="0"/>
              <a:t>Productores/inversores</a:t>
            </a:r>
            <a:r>
              <a:rPr lang="es-ES_tradnl" dirty="0"/>
              <a:t>: </a:t>
            </a:r>
          </a:p>
          <a:p>
            <a:pPr lvl="1">
              <a:lnSpc>
                <a:spcPct val="150000"/>
              </a:lnSpc>
            </a:pPr>
            <a:r>
              <a:rPr lang="es-ES_tradnl" dirty="0"/>
              <a:t>{contratar, no contratar}</a:t>
            </a:r>
          </a:p>
          <a:p>
            <a:pPr lvl="1">
              <a:lnSpc>
                <a:spcPct val="150000"/>
              </a:lnSpc>
            </a:pPr>
            <a:r>
              <a:rPr lang="es-ES_tradnl" dirty="0"/>
              <a:t>{Asegurar, no asegurar}</a:t>
            </a:r>
          </a:p>
          <a:p>
            <a:pPr lvl="1">
              <a:lnSpc>
                <a:spcPct val="150000"/>
              </a:lnSpc>
            </a:pPr>
            <a:r>
              <a:rPr lang="es-ES_tradnl" dirty="0"/>
              <a:t>{Vender acciones, retener las acciones, comprar nuevas acciones}</a:t>
            </a:r>
          </a:p>
          <a:p>
            <a:pPr marL="0" indent="0">
              <a:lnSpc>
                <a:spcPct val="150000"/>
              </a:lnSpc>
              <a:buNone/>
            </a:pPr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25474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5C0F7-D8DE-067F-FCE3-CE63898B2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BCD33-E785-6087-D81C-5B1E1A0D6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Motivación: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Decisiones con varias opciones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E687DC-C3AD-07D7-21D5-0DF04D9A3B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s-ES_tradnl" b="1" dirty="0"/>
              <a:t>Gobierno sujeto a acuerdos y ciclo electoral</a:t>
            </a:r>
            <a:r>
              <a:rPr lang="es-ES_tradnl" dirty="0"/>
              <a:t>:</a:t>
            </a:r>
          </a:p>
          <a:p>
            <a:pPr lvl="1">
              <a:lnSpc>
                <a:spcPct val="150000"/>
              </a:lnSpc>
            </a:pPr>
            <a:r>
              <a:rPr lang="es-ES_tradnl" dirty="0"/>
              <a:t>{Subir impuestos, no subir impuestos}</a:t>
            </a:r>
          </a:p>
          <a:p>
            <a:pPr lvl="1">
              <a:lnSpc>
                <a:spcPct val="150000"/>
              </a:lnSpc>
            </a:pPr>
            <a:r>
              <a:rPr lang="es-ES_tradnl" dirty="0"/>
              <a:t>{Gastar, no gastar}</a:t>
            </a:r>
          </a:p>
          <a:p>
            <a:pPr lvl="1">
              <a:lnSpc>
                <a:spcPct val="150000"/>
              </a:lnSpc>
            </a:pPr>
            <a:r>
              <a:rPr lang="es-ES_tradnl" dirty="0"/>
              <a:t>{reformar una ley, proponer una nueva ley, derogar una ley}</a:t>
            </a:r>
          </a:p>
          <a:p>
            <a:pPr marL="0" indent="0">
              <a:lnSpc>
                <a:spcPct val="150000"/>
              </a:lnSpc>
              <a:buNone/>
            </a:pPr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440579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0E4FD-2DBC-AAD4-5AD2-71B1A7DA0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Teoría de decisión y Matriz de posibilidades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CB7428-BAF8-C43C-0F61-3A249901DD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32556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s-ES_tradnl" dirty="0"/>
                  <a:t>Observado (decisión)</a:t>
                </a:r>
                <a:r>
                  <a:rPr lang="es-ES_tradnl" b="0" dirty="0"/>
                  <a:t>: </a:t>
                </a:r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s-ES_tradn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d>
                      <m:dPr>
                        <m:begChr m:val="{"/>
                        <m:endChr m:val="}"/>
                        <m:ctrlP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s-ES_tradnl" dirty="0"/>
              </a:p>
              <a:p>
                <a:r>
                  <a:rPr lang="es-ES_tradnl" dirty="0"/>
                  <a:t>Predicciones de las acciones: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</m:acc>
                    <m:r>
                      <a:rPr lang="es-ES_tradn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d>
                      <m:dPr>
                        <m:begChr m:val="{"/>
                        <m:endChr m:val="}"/>
                        <m:ctrlP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s-ES_tradnl" dirty="0"/>
              </a:p>
              <a:p>
                <a:r>
                  <a:rPr lang="es-ES_tradnl" dirty="0"/>
                  <a:t>Matriz de confusión </a:t>
                </a:r>
              </a:p>
              <a:p>
                <a:pPr marL="0" indent="0">
                  <a:buNone/>
                </a:pPr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CB7428-BAF8-C43C-0F61-3A249901DD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325563"/>
              </a:xfrm>
              <a:blipFill>
                <a:blip r:embed="rId2"/>
                <a:stretch>
                  <a:fillRect l="-965" t="-11321" b="-4717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ED466492-FF8A-2A15-5CE0-A53A1A8D559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4130375"/>
                  </p:ext>
                </p:extLst>
              </p:nvPr>
            </p:nvGraphicFramePr>
            <p:xfrm>
              <a:off x="2014654" y="3286123"/>
              <a:ext cx="8162692" cy="3206752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1921672">
                      <a:extLst>
                        <a:ext uri="{9D8B030D-6E8A-4147-A177-3AD203B41FA5}">
                          <a16:colId xmlns:a16="http://schemas.microsoft.com/office/drawing/2014/main" val="4265273"/>
                        </a:ext>
                      </a:extLst>
                    </a:gridCol>
                    <a:gridCol w="1075429">
                      <a:extLst>
                        <a:ext uri="{9D8B030D-6E8A-4147-A177-3AD203B41FA5}">
                          <a16:colId xmlns:a16="http://schemas.microsoft.com/office/drawing/2014/main" val="2383779966"/>
                        </a:ext>
                      </a:extLst>
                    </a:gridCol>
                    <a:gridCol w="2644501">
                      <a:extLst>
                        <a:ext uri="{9D8B030D-6E8A-4147-A177-3AD203B41FA5}">
                          <a16:colId xmlns:a16="http://schemas.microsoft.com/office/drawing/2014/main" val="808224985"/>
                        </a:ext>
                      </a:extLst>
                    </a:gridCol>
                    <a:gridCol w="2521090">
                      <a:extLst>
                        <a:ext uri="{9D8B030D-6E8A-4147-A177-3AD203B41FA5}">
                          <a16:colId xmlns:a16="http://schemas.microsoft.com/office/drawing/2014/main" val="1798307737"/>
                        </a:ext>
                      </a:extLst>
                    </a:gridCol>
                  </a:tblGrid>
                  <a:tr h="801688">
                    <a:tc>
                      <a:txBody>
                        <a:bodyPr/>
                        <a:lstStyle/>
                        <a:p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s-ES_tradnl" sz="2300" b="0" i="1" noProof="0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oMath>
                          </a14:m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: </a:t>
                          </a:r>
                          <a:r>
                            <a:rPr lang="es-ES_tradnl" sz="2300" b="0" noProof="0" dirty="0">
                              <a:latin typeface="Gill Sans Nova Light" panose="020B0302020104020203" pitchFamily="34" charset="0"/>
                            </a:rPr>
                            <a:t>Observación</a:t>
                          </a:r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049628750"/>
                      </a:ext>
                    </a:extLst>
                  </a:tr>
                  <a:tr h="801688">
                    <a:tc rowSpan="3"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es-ES_tradnl" sz="23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s-ES_tradnl" sz="23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acc>
                            </m:oMath>
                          </a14:m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: Predicción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2300" noProof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094435227"/>
                      </a:ext>
                    </a:extLst>
                  </a:tr>
                  <a:tr h="801688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>
                              <a:latin typeface="Gill Sans Nova Light" panose="020B0302020104020203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Verdadero Negativo </a:t>
                          </a:r>
                          <a14:m>
                            <m:oMath xmlns:m="http://schemas.openxmlformats.org/officeDocument/2006/math">
                              <m:r>
                                <a:rPr lang="es-ES_tradnl" sz="2300" i="1" noProof="0" dirty="0" smtClean="0">
                                  <a:latin typeface="Cambria Math" panose="02040503050406030204" pitchFamily="18" charset="0"/>
                                </a:rPr>
                                <m:t>𝑣𝑛</m:t>
                              </m:r>
                            </m:oMath>
                          </a14:m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Falso negativo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ES_tradnl" sz="2300" i="1" noProof="0" dirty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sz="2300" b="0" i="1" noProof="0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283319013"/>
                      </a:ext>
                    </a:extLst>
                  </a:tr>
                  <a:tr h="801688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>
                              <a:latin typeface="Gill Sans Nova Light" panose="020B0302020104020203" pitchFamily="34" charset="0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Falso positivo</a:t>
                          </a: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ES_tradnl" sz="2300" i="1" noProof="0" dirty="0" smtClean="0">
                                    <a:latin typeface="Cambria Math" panose="02040503050406030204" pitchFamily="18" charset="0"/>
                                  </a:rPr>
                                  <m:t>𝑓𝑝</m:t>
                                </m:r>
                              </m:oMath>
                            </m:oMathPara>
                          </a14:m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Verdadero positivo</a:t>
                          </a: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ES_tradnl" sz="2300" i="1" noProof="0" dirty="0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  <m:r>
                                  <a:rPr lang="en-US" sz="2300" b="0" i="1" noProof="0" dirty="0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oMath>
                            </m:oMathPara>
                          </a14:m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5033891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ED466492-FF8A-2A15-5CE0-A53A1A8D559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4130375"/>
                  </p:ext>
                </p:extLst>
              </p:nvPr>
            </p:nvGraphicFramePr>
            <p:xfrm>
              <a:off x="2014654" y="3286123"/>
              <a:ext cx="8162692" cy="3206752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1921672">
                      <a:extLst>
                        <a:ext uri="{9D8B030D-6E8A-4147-A177-3AD203B41FA5}">
                          <a16:colId xmlns:a16="http://schemas.microsoft.com/office/drawing/2014/main" val="4265273"/>
                        </a:ext>
                      </a:extLst>
                    </a:gridCol>
                    <a:gridCol w="1075429">
                      <a:extLst>
                        <a:ext uri="{9D8B030D-6E8A-4147-A177-3AD203B41FA5}">
                          <a16:colId xmlns:a16="http://schemas.microsoft.com/office/drawing/2014/main" val="2383779966"/>
                        </a:ext>
                      </a:extLst>
                    </a:gridCol>
                    <a:gridCol w="2644501">
                      <a:extLst>
                        <a:ext uri="{9D8B030D-6E8A-4147-A177-3AD203B41FA5}">
                          <a16:colId xmlns:a16="http://schemas.microsoft.com/office/drawing/2014/main" val="808224985"/>
                        </a:ext>
                      </a:extLst>
                    </a:gridCol>
                    <a:gridCol w="2521090">
                      <a:extLst>
                        <a:ext uri="{9D8B030D-6E8A-4147-A177-3AD203B41FA5}">
                          <a16:colId xmlns:a16="http://schemas.microsoft.com/office/drawing/2014/main" val="1798307737"/>
                        </a:ext>
                      </a:extLst>
                    </a:gridCol>
                  </a:tblGrid>
                  <a:tr h="801688">
                    <a:tc>
                      <a:txBody>
                        <a:bodyPr/>
                        <a:lstStyle/>
                        <a:p>
                          <a:endParaRPr lang="es-ES_tradnl" sz="2300" noProof="0">
                            <a:latin typeface="Gill Sans Nova Light" panose="020B0302020104020203" pitchFamily="34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 gridSpan="3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894" t="-6250" r="-203" b="-304688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049628750"/>
                      </a:ext>
                    </a:extLst>
                  </a:tr>
                  <a:tr h="801688">
                    <a:tc rowSpan="3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35789" r="-324342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2300" noProof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094435227"/>
                      </a:ext>
                    </a:extLst>
                  </a:tr>
                  <a:tr h="801688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>
                              <a:latin typeface="Gill Sans Nova Light" panose="020B0302020104020203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12919" t="-204688" r="-95694" b="-106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23618" t="-204688" r="-503" b="-1062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83319013"/>
                      </a:ext>
                    </a:extLst>
                  </a:tr>
                  <a:tr h="801688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>
                              <a:latin typeface="Gill Sans Nova Light" panose="020B0302020104020203" pitchFamily="34" charset="0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12919" t="-309524" r="-95694" b="-79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23618" t="-309524" r="-503" b="-79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0338918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954528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C5FC6-D73C-1DCB-EECD-C422EB11A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Ilustraciones: Error tipo I y tipo II</a:t>
            </a:r>
          </a:p>
        </p:txBody>
      </p:sp>
      <p:pic>
        <p:nvPicPr>
          <p:cNvPr id="5" name="Content Placeholder 4" descr="Two people with a pregnant belly&#10;&#10;Description automatically generated">
            <a:extLst>
              <a:ext uri="{FF2B5EF4-FFF2-40B4-BE49-F238E27FC236}">
                <a16:creationId xmlns:a16="http://schemas.microsoft.com/office/drawing/2014/main" id="{A07E64BC-2092-0DC0-9958-C54E0C9147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600633" y="1549412"/>
            <a:ext cx="6990733" cy="5308588"/>
          </a:xfrm>
        </p:spPr>
      </p:pic>
    </p:spTree>
    <p:extLst>
      <p:ext uri="{BB962C8B-B14F-4D97-AF65-F5344CB8AC3E}">
        <p14:creationId xmlns:p14="http://schemas.microsoft.com/office/powerpoint/2010/main" val="35626278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68C4D-33F4-FC38-1684-41E7FB398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0FBAB-2D70-B0CC-D49D-148566971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_tradnl" dirty="0"/>
              <a:t>Ejemplos y Errores: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¿qué error queremos minimizar?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5BA2C-08DB-A513-3E4A-8786DAF392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5563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s-ES_tradnl" dirty="0"/>
              <a:t>Como banco, </a:t>
            </a:r>
          </a:p>
          <a:p>
            <a:pPr marL="514350" indent="-514350">
              <a:buFont typeface="+mj-lt"/>
              <a:buAutoNum type="arabicPeriod"/>
            </a:pPr>
            <a:r>
              <a:rPr lang="es-ES_tradnl" dirty="0"/>
              <a:t>Como expertos en salud durante el COVID19</a:t>
            </a:r>
          </a:p>
          <a:p>
            <a:pPr marL="514350" indent="-514350">
              <a:buFont typeface="+mj-lt"/>
              <a:buAutoNum type="arabicPeriod"/>
            </a:pPr>
            <a:r>
              <a:rPr lang="es-ES_tradnl" dirty="0"/>
              <a:t>Como investigador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E96988A6-AC1A-DD16-F4C9-CCB6F01E1C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69856546"/>
                  </p:ext>
                </p:extLst>
              </p:nvPr>
            </p:nvGraphicFramePr>
            <p:xfrm>
              <a:off x="2014654" y="3286123"/>
              <a:ext cx="8162692" cy="3206752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1921672">
                      <a:extLst>
                        <a:ext uri="{9D8B030D-6E8A-4147-A177-3AD203B41FA5}">
                          <a16:colId xmlns:a16="http://schemas.microsoft.com/office/drawing/2014/main" val="4265273"/>
                        </a:ext>
                      </a:extLst>
                    </a:gridCol>
                    <a:gridCol w="1075429">
                      <a:extLst>
                        <a:ext uri="{9D8B030D-6E8A-4147-A177-3AD203B41FA5}">
                          <a16:colId xmlns:a16="http://schemas.microsoft.com/office/drawing/2014/main" val="2383779966"/>
                        </a:ext>
                      </a:extLst>
                    </a:gridCol>
                    <a:gridCol w="2644501">
                      <a:extLst>
                        <a:ext uri="{9D8B030D-6E8A-4147-A177-3AD203B41FA5}">
                          <a16:colId xmlns:a16="http://schemas.microsoft.com/office/drawing/2014/main" val="808224985"/>
                        </a:ext>
                      </a:extLst>
                    </a:gridCol>
                    <a:gridCol w="2521090">
                      <a:extLst>
                        <a:ext uri="{9D8B030D-6E8A-4147-A177-3AD203B41FA5}">
                          <a16:colId xmlns:a16="http://schemas.microsoft.com/office/drawing/2014/main" val="1798307737"/>
                        </a:ext>
                      </a:extLst>
                    </a:gridCol>
                  </a:tblGrid>
                  <a:tr h="801688">
                    <a:tc>
                      <a:txBody>
                        <a:bodyPr/>
                        <a:lstStyle/>
                        <a:p>
                          <a:endParaRPr lang="es-ES_tradnl" sz="2300" noProof="0">
                            <a:latin typeface="Gill Sans Nova Light" panose="020B0302020104020203" pitchFamily="34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s-ES_tradnl" sz="2300" b="0" i="1" noProof="0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oMath>
                          </a14:m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: </a:t>
                          </a:r>
                          <a:r>
                            <a:rPr lang="es-ES_tradnl" sz="2300" b="0" noProof="0" dirty="0">
                              <a:latin typeface="Gill Sans Nova Light" panose="020B0302020104020203" pitchFamily="34" charset="0"/>
                            </a:rPr>
                            <a:t>Observación</a:t>
                          </a:r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049628750"/>
                      </a:ext>
                    </a:extLst>
                  </a:tr>
                  <a:tr h="801688">
                    <a:tc rowSpan="3"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es-ES_tradnl" sz="23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s-ES_tradnl" sz="23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acc>
                            </m:oMath>
                          </a14:m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: Predicción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2300" noProof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094435227"/>
                      </a:ext>
                    </a:extLst>
                  </a:tr>
                  <a:tr h="801688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Verdadero Negativo </a:t>
                          </a:r>
                          <a14:m>
                            <m:oMath xmlns:m="http://schemas.openxmlformats.org/officeDocument/2006/math">
                              <m:r>
                                <a:rPr lang="es-ES_tradnl" sz="2300" i="1" noProof="0" dirty="0" smtClean="0">
                                  <a:latin typeface="Cambria Math" panose="02040503050406030204" pitchFamily="18" charset="0"/>
                                </a:rPr>
                                <m:t>𝑣𝑛</m:t>
                              </m:r>
                            </m:oMath>
                          </a14:m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Falso negativo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ES_tradnl" sz="2300" i="1" noProof="0" dirty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sz="2300" b="0" i="1" noProof="0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283319013"/>
                      </a:ext>
                    </a:extLst>
                  </a:tr>
                  <a:tr h="801688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>
                              <a:latin typeface="Gill Sans Nova Light" panose="020B0302020104020203" pitchFamily="34" charset="0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Falso positivo</a:t>
                          </a: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ES_tradnl" sz="2300" i="1" noProof="0" dirty="0" smtClean="0">
                                    <a:latin typeface="Cambria Math" panose="02040503050406030204" pitchFamily="18" charset="0"/>
                                  </a:rPr>
                                  <m:t>𝑓𝑝</m:t>
                                </m:r>
                              </m:oMath>
                            </m:oMathPara>
                          </a14:m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Verdadero positivo</a:t>
                          </a: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ES_tradnl" sz="2300" i="1" noProof="0" dirty="0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  <m:r>
                                  <a:rPr lang="en-US" sz="2300" b="0" i="1" noProof="0" dirty="0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oMath>
                            </m:oMathPara>
                          </a14:m>
                          <a:endParaRPr lang="es-ES_tradnl" sz="2300" noProof="0" dirty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5033891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E96988A6-AC1A-DD16-F4C9-CCB6F01E1C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69856546"/>
                  </p:ext>
                </p:extLst>
              </p:nvPr>
            </p:nvGraphicFramePr>
            <p:xfrm>
              <a:off x="2014654" y="3286123"/>
              <a:ext cx="8162692" cy="3206752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1921672">
                      <a:extLst>
                        <a:ext uri="{9D8B030D-6E8A-4147-A177-3AD203B41FA5}">
                          <a16:colId xmlns:a16="http://schemas.microsoft.com/office/drawing/2014/main" val="4265273"/>
                        </a:ext>
                      </a:extLst>
                    </a:gridCol>
                    <a:gridCol w="1075429">
                      <a:extLst>
                        <a:ext uri="{9D8B030D-6E8A-4147-A177-3AD203B41FA5}">
                          <a16:colId xmlns:a16="http://schemas.microsoft.com/office/drawing/2014/main" val="2383779966"/>
                        </a:ext>
                      </a:extLst>
                    </a:gridCol>
                    <a:gridCol w="2644501">
                      <a:extLst>
                        <a:ext uri="{9D8B030D-6E8A-4147-A177-3AD203B41FA5}">
                          <a16:colId xmlns:a16="http://schemas.microsoft.com/office/drawing/2014/main" val="808224985"/>
                        </a:ext>
                      </a:extLst>
                    </a:gridCol>
                    <a:gridCol w="2521090">
                      <a:extLst>
                        <a:ext uri="{9D8B030D-6E8A-4147-A177-3AD203B41FA5}">
                          <a16:colId xmlns:a16="http://schemas.microsoft.com/office/drawing/2014/main" val="1798307737"/>
                        </a:ext>
                      </a:extLst>
                    </a:gridCol>
                  </a:tblGrid>
                  <a:tr h="801688">
                    <a:tc>
                      <a:txBody>
                        <a:bodyPr/>
                        <a:lstStyle/>
                        <a:p>
                          <a:endParaRPr lang="es-ES_tradnl" sz="2300" noProof="0">
                            <a:latin typeface="Gill Sans Nova Light" panose="020B0302020104020203" pitchFamily="34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 gridSpan="3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894" t="-6250" r="-203" b="-304688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049628750"/>
                      </a:ext>
                    </a:extLst>
                  </a:tr>
                  <a:tr h="801688">
                    <a:tc rowSpan="3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5789" r="-324342" b="-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2300" noProof="0">
                            <a:latin typeface="Gill Sans Nova Light" panose="020B0302020104020203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094435227"/>
                      </a:ext>
                    </a:extLst>
                  </a:tr>
                  <a:tr h="801688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 dirty="0">
                              <a:latin typeface="Gill Sans Nova Light" panose="020B0302020104020203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12919" t="-204688" r="-95694" b="-106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23618" t="-204688" r="-503" b="-1062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83319013"/>
                      </a:ext>
                    </a:extLst>
                  </a:tr>
                  <a:tr h="801688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2300" noProof="0">
                              <a:latin typeface="Gill Sans Nova Light" panose="020B0302020104020203" pitchFamily="34" charset="0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12919" t="-309524" r="-95694" b="-79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23618" t="-309524" r="-503" b="-79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0338918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08015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BFDB9-75B6-9EFD-4843-5531A2503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Clasificador de Bayes: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Intuitivamente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1D1657-DE6A-B473-CB8F-561A3DCD27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s-ES_tradnl" dirty="0"/>
                  <a:t>Para </a:t>
                </a:r>
                <a:r>
                  <a:rPr lang="es-ES_tradnl" dirty="0">
                    <a:solidFill>
                      <a:srgbClr val="002060"/>
                    </a:solidFill>
                  </a:rPr>
                  <a:t>minimizar</a:t>
                </a:r>
                <a:r>
                  <a:rPr lang="es-ES_tradnl" dirty="0"/>
                  <a:t> la </a:t>
                </a:r>
                <a:r>
                  <a:rPr lang="es-ES_tradnl" dirty="0">
                    <a:solidFill>
                      <a:srgbClr val="002060"/>
                    </a:solidFill>
                  </a:rPr>
                  <a:t>tasa de error de predicción afuera </a:t>
                </a:r>
                <a:r>
                  <a:rPr lang="es-ES_tradnl" dirty="0"/>
                  <a:t>de la muestra: </a:t>
                </a:r>
              </a:p>
              <a:p>
                <a:pPr marL="0" indent="0">
                  <a:buNone/>
                </a:pPr>
                <a:endParaRPr lang="es-ES_tradnl" dirty="0"/>
              </a:p>
              <a:p>
                <a:pPr marL="457200" lvl="1" indent="0">
                  <a:buNone/>
                </a:pPr>
                <a:endParaRPr lang="es-ES_tradnl" dirty="0"/>
              </a:p>
              <a:p>
                <a:pPr marL="457200" lvl="1" indent="0">
                  <a:buNone/>
                </a:pPr>
                <a:endParaRPr lang="es-ES_tradnl" dirty="0"/>
              </a:p>
              <a:p>
                <a:pPr marL="457200" lvl="1" indent="0">
                  <a:buNone/>
                </a:pPr>
                <a:endParaRPr lang="es-ES_tradnl" dirty="0"/>
              </a:p>
              <a:p>
                <a:r>
                  <a:rPr lang="es-ES_tradnl" dirty="0">
                    <a:solidFill>
                      <a:srgbClr val="002060"/>
                    </a:solidFill>
                  </a:rPr>
                  <a:t>Ejemplo</a:t>
                </a:r>
                <a:r>
                  <a:rPr lang="es-ES_tradnl" dirty="0"/>
                  <a:t>: </a:t>
                </a:r>
              </a:p>
              <a:p>
                <a:pPr lvl="1"/>
                <a:r>
                  <a:rPr lang="es-ES_tradnl" dirty="0"/>
                  <a:t>Si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𝐷𝑒𝑓𝑎𝑢𝑙𝑡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𝑒𝑑𝑎𝑑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𝑖𝑛𝑔𝑟𝑒𝑠𝑜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…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&gt;0.7</m:t>
                    </m:r>
                  </m:oMath>
                </a14:m>
                <a:r>
                  <a:rPr lang="es-ES_tradnl" dirty="0"/>
                  <a:t>, </a:t>
                </a:r>
                <a:r>
                  <a:rPr lang="es-ES_tradnl" i="1" dirty="0"/>
                  <a:t>¿</a:t>
                </a:r>
                <a:r>
                  <a:rPr lang="es-ES_tradnl" dirty="0"/>
                  <a:t>qué le predecimos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s-ES_tradnl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s-ES_tradnl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dirty="0"/>
                  <a:t> a dicha observación?  </a:t>
                </a:r>
              </a:p>
              <a:p>
                <a:pPr lvl="1"/>
                <a:r>
                  <a:rPr lang="es-ES_tradnl" dirty="0"/>
                  <a:t>Si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𝐷𝑒𝑓𝑎𝑢𝑙𝑡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𝑒𝑑𝑎𝑑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𝑖𝑛𝑔𝑟𝑒𝑠𝑜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…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&gt;0.2</m:t>
                    </m:r>
                  </m:oMath>
                </a14:m>
                <a:r>
                  <a:rPr lang="es-ES_tradnl" dirty="0"/>
                  <a:t> ¿qué valor le darían a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s-ES_tradnl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s-ES_tradnl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dirty="0"/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1D1657-DE6A-B473-CB8F-561A3DCD27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907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F5C4FFE-2BB2-5A38-A909-5D94778C9826}"/>
                  </a:ext>
                </a:extLst>
              </p:cNvPr>
              <p:cNvSpPr/>
              <p:nvPr/>
            </p:nvSpPr>
            <p:spPr>
              <a:xfrm>
                <a:off x="2007220" y="2497878"/>
                <a:ext cx="8720253" cy="1494264"/>
              </a:xfrm>
              <a:prstGeom prst="rect">
                <a:avLst/>
              </a:prstGeom>
              <a:solidFill>
                <a:schemeClr val="tx2">
                  <a:lumMod val="20000"/>
                  <a:lumOff val="80000"/>
                </a:schemeClr>
              </a:solidFill>
              <a:ln w="28575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457200" lvl="1" indent="0" algn="ctr">
                  <a:buNone/>
                </a:pPr>
                <a:r>
                  <a:rPr lang="es-ES_tradnl" sz="3200" dirty="0">
                    <a:solidFill>
                      <a:schemeClr val="tx1"/>
                    </a:solidFill>
                    <a:latin typeface="Gill Sans Nova Light" panose="020B0302020104020203" pitchFamily="34" charset="0"/>
                  </a:rPr>
                  <a:t>Asignar a cada </a:t>
                </a:r>
                <a14:m>
                  <m:oMath xmlns:m="http://schemas.openxmlformats.org/officeDocument/2006/math">
                    <m:r>
                      <a:rPr lang="en-US" sz="3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s-ES_tradnl" sz="3200" dirty="0">
                    <a:solidFill>
                      <a:schemeClr val="tx1"/>
                    </a:solidFill>
                    <a:latin typeface="Gill Sans Nova Light" panose="020B0302020104020203" pitchFamily="34" charset="0"/>
                  </a:rPr>
                  <a:t>, la categoría </a:t>
                </a:r>
                <a:r>
                  <a:rPr lang="es-ES_tradnl" sz="3200" dirty="0">
                    <a:solidFill>
                      <a:srgbClr val="00B050"/>
                    </a:solidFill>
                    <a:latin typeface="Gill Sans Nova Light" panose="020B0302020104020203" pitchFamily="34" charset="0"/>
                  </a:rPr>
                  <a:t>más probable</a:t>
                </a:r>
                <a:r>
                  <a:rPr lang="es-ES_tradnl" sz="3200" dirty="0">
                    <a:solidFill>
                      <a:schemeClr val="tx1"/>
                    </a:solidFill>
                    <a:latin typeface="Gill Sans Nova Light" panose="020B0302020104020203" pitchFamily="34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s-ES_tradnl" sz="3200" b="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s-ES_tradnl" sz="3200" b="0" i="1" noProof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sz="3200" b="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sz="3200" dirty="0">
                    <a:solidFill>
                      <a:schemeClr val="tx1"/>
                    </a:solidFill>
                    <a:latin typeface="Gill Sans Nova Light" panose="020B0302020104020203" pitchFamily="34" charset="0"/>
                  </a:rPr>
                  <a:t> dadas sus características </a:t>
                </a:r>
                <a14:m>
                  <m:oMath xmlns:m="http://schemas.openxmlformats.org/officeDocument/2006/math">
                    <m:r>
                      <a:rPr lang="en-US" sz="3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s-ES_tradnl" sz="3200" dirty="0">
                    <a:solidFill>
                      <a:schemeClr val="tx1"/>
                    </a:solidFill>
                    <a:latin typeface="Gill Sans Nova Light" panose="020B0302020104020203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F5C4FFE-2BB2-5A38-A909-5D94778C98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7220" y="2497878"/>
                <a:ext cx="8720253" cy="14942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90098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42471-9418-E3E3-C7E5-30087178F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Clasificador de Bayes: </a:t>
            </a:r>
            <a:r>
              <a:rPr lang="es-ES_tradnl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Formalmente, la regla de decisión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780597-6948-B78E-E6E3-6E4F9F1321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References</a:t>
            </a:r>
          </a:p>
          <a:p>
            <a:r>
              <a:rPr lang="es-AR" sz="2400" b="1" dirty="0">
                <a:solidFill>
                  <a:srgbClr val="00663D"/>
                </a:solidFill>
                <a:effectLst/>
                <a:latin typeface="Times" pitchFamily="2" charset="0"/>
                <a:ea typeface="Times" pitchFamily="2" charset="0"/>
                <a:cs typeface="Times" pitchFamily="2" charset="0"/>
              </a:rPr>
              <a:t>† </a:t>
            </a:r>
            <a:r>
              <a:rPr lang="en-US" sz="2400" dirty="0"/>
              <a:t>James, G., Witten, D., Hastie, T., Tibshirani, R., &amp; Taylor, J. (2023). </a:t>
            </a:r>
            <a:r>
              <a:rPr lang="en-US" sz="2400" i="1" dirty="0"/>
              <a:t>An introduction to statistical learning: With applications in Python. </a:t>
            </a:r>
            <a:r>
              <a:rPr lang="en-US" b="1" dirty="0"/>
              <a:t>Chap. 2.2.3</a:t>
            </a:r>
          </a:p>
        </p:txBody>
      </p:sp>
    </p:spTree>
    <p:extLst>
      <p:ext uri="{BB962C8B-B14F-4D97-AF65-F5344CB8AC3E}">
        <p14:creationId xmlns:p14="http://schemas.microsoft.com/office/powerpoint/2010/main" val="1901792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B10E4FD-2DBC-AAD4-5AD2-71B1A7DA0CE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s-ES_tradnl" dirty="0"/>
                  <a:t>Riesgo esperado: </a:t>
                </a:r>
                <a:r>
                  <a:rPr lang="es-ES_tradnl" i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Formalmente para </a:t>
                </a:r>
                <a14:m>
                  <m:oMath xmlns:m="http://schemas.openxmlformats.org/officeDocument/2006/math">
                    <m:r>
                      <a:rPr lang="es-ES_tradnl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s-ES_tradnl" i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binaria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B10E4FD-2DBC-AAD4-5AD2-71B1A7DA0C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 r="-844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CB7428-BAF8-C43C-0F61-3A249901DD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>
                  <a:lnSpc>
                    <a:spcPct val="160000"/>
                  </a:lnSpc>
                </a:pPr>
                <a:r>
                  <a:rPr lang="es-ES_tradnl" dirty="0"/>
                  <a:t>Predicción: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</m:acc>
                    <m:r>
                      <a:rPr lang="es-ES_tradn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d>
                      <m:dPr>
                        <m:begChr m:val="{"/>
                        <m:endChr m:val="}"/>
                        <m:ctrlP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s-ES_tradnl" b="0" dirty="0"/>
              </a:p>
              <a:p>
                <a:pPr>
                  <a:lnSpc>
                    <a:spcPct val="160000"/>
                  </a:lnSpc>
                </a:pPr>
                <a:r>
                  <a:rPr lang="es-ES_tradnl" b="0" dirty="0"/>
                  <a:t>Observación: </a:t>
                </a:r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s-ES_tradn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d>
                      <m:dPr>
                        <m:begChr m:val="{"/>
                        <m:endChr m:val="}"/>
                        <m:ctrlP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s-ES_tradnl" dirty="0"/>
              </a:p>
              <a:p>
                <a:pPr>
                  <a:lnSpc>
                    <a:spcPct val="160000"/>
                  </a:lnSpc>
                </a:pPr>
                <a:r>
                  <a:rPr lang="es-ES_tradnl" dirty="0"/>
                  <a:t>Probabilidades: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=1|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</m:func>
                  </m:oMath>
                </a14:m>
                <a:r>
                  <a:rPr lang="es-ES_tradnl" dirty="0"/>
                  <a:t>,  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=0|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</m:func>
                  </m:oMath>
                </a14:m>
                <a:endParaRPr lang="es-ES_tradnl" dirty="0"/>
              </a:p>
              <a:p>
                <a:pPr>
                  <a:lnSpc>
                    <a:spcPct val="160000"/>
                  </a:lnSpc>
                </a:pPr>
                <a:r>
                  <a:rPr lang="es-ES_tradnl" dirty="0">
                    <a:solidFill>
                      <a:srgbClr val="002060"/>
                    </a:solidFill>
                  </a:rPr>
                  <a:t>Función de Perdida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e>
                    </m:d>
                  </m:oMath>
                </a14:m>
                <a:r>
                  <a:rPr lang="es-ES_tradnl" dirty="0"/>
                  <a:t>: castiga por estar en la celda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s-ES_tradnl" dirty="0"/>
                  <a:t> de la matriz de confusión </a:t>
                </a:r>
              </a:p>
              <a:p>
                <a:pPr>
                  <a:lnSpc>
                    <a:spcPct val="160000"/>
                  </a:lnSpc>
                </a:pPr>
                <a:r>
                  <a:rPr lang="es-ES_tradnl" dirty="0">
                    <a:solidFill>
                      <a:srgbClr val="002060"/>
                    </a:solidFill>
                  </a:rPr>
                  <a:t>Riesgo esperado de la predicción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s-ES_tradnl" dirty="0"/>
                  <a:t>: Castigo esperado:</a:t>
                </a:r>
              </a:p>
              <a:p>
                <a:pPr marL="0" indent="0">
                  <a:lnSpc>
                    <a:spcPct val="16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,1</m:t>
                          </m:r>
                        </m:e>
                      </m:d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0" indent="0">
                  <a:lnSpc>
                    <a:spcPct val="160000"/>
                  </a:lnSpc>
                  <a:buNone/>
                </a:pPr>
                <a:r>
                  <a:rPr lang="es-ES_tradnl" dirty="0">
                    <a:solidFill>
                      <a:srgbClr val="002060"/>
                    </a:solidFill>
                  </a:rPr>
                  <a:t>Idea</a:t>
                </a:r>
                <a:r>
                  <a:rPr lang="es-ES_tradnl" dirty="0"/>
                  <a:t>: predecir la categoría que </a:t>
                </a:r>
                <a:r>
                  <a:rPr lang="es-ES_tradnl" dirty="0">
                    <a:solidFill>
                      <a:srgbClr val="002060"/>
                    </a:solidFill>
                  </a:rPr>
                  <a:t>minimiza</a:t>
                </a:r>
                <a:r>
                  <a:rPr lang="es-ES_tradnl" dirty="0"/>
                  <a:t> el riesgo esperado. Tenemos que definir: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e>
                    </m:d>
                  </m:oMath>
                </a14:m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CB7428-BAF8-C43C-0F61-3A249901DD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724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1839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047C5-1CF1-5BD7-8E22-5FD0B175D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Clasificador de Bayes 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DEC7B7-FFAA-1B1E-300A-35BAE8E1B1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,1</m:t>
                          </m:r>
                        </m:e>
                      </m:d>
                    </m:oMath>
                  </m:oMathPara>
                </a14:m>
                <a:endParaRPr lang="es-ES_tradnl" dirty="0"/>
              </a:p>
              <a:p>
                <a:pPr>
                  <a:lnSpc>
                    <a:spcPct val="120000"/>
                  </a:lnSpc>
                </a:pPr>
                <a:r>
                  <a:rPr lang="es-ES_tradnl" dirty="0"/>
                  <a:t>Definimos la pérdida 0-1: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e>
                    </m:d>
                  </m:oMath>
                </a14:m>
                <a:endParaRPr lang="es-ES_tradnl" dirty="0"/>
              </a:p>
              <a:p>
                <a:pPr lvl="1">
                  <a:lnSpc>
                    <a:spcPct val="120000"/>
                  </a:lnSpc>
                </a:pPr>
                <a:r>
                  <a:rPr lang="es-ES_tradnl" dirty="0">
                    <a:solidFill>
                      <a:srgbClr val="002060"/>
                    </a:solidFill>
                  </a:rPr>
                  <a:t>Simetría</a:t>
                </a:r>
                <a:r>
                  <a:rPr lang="es-ES_tradnl" dirty="0"/>
                  <a:t>: castigar ambos errores (</a:t>
                </a:r>
                <a:r>
                  <a:rPr lang="es-ES_tradnl" dirty="0" err="1"/>
                  <a:t>fp</a:t>
                </a:r>
                <a:r>
                  <a:rPr lang="es-ES_tradnl" dirty="0"/>
                  <a:t> y </a:t>
                </a:r>
                <a:r>
                  <a:rPr lang="es-ES_tradnl" dirty="0" err="1"/>
                  <a:t>fn</a:t>
                </a:r>
                <a:r>
                  <a:rPr lang="es-ES_tradnl" dirty="0"/>
                  <a:t>) por igual.</a:t>
                </a:r>
              </a:p>
              <a:p>
                <a:pPr>
                  <a:lnSpc>
                    <a:spcPct val="120000"/>
                  </a:lnSpc>
                </a:pPr>
                <a:r>
                  <a:rPr lang="es-ES_tradnl" dirty="0"/>
                  <a:t>Reemplazando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e>
                    </m:d>
                  </m:oMath>
                </a14:m>
                <a:r>
                  <a:rPr lang="es-ES_tradnl" dirty="0"/>
                  <a:t> 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es-ES_tradnl" dirty="0"/>
                  <a:t> para cada categoría</a:t>
                </a:r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endParaRPr lang="es-ES_tradnl" dirty="0"/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s-ES_tradnl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DEC7B7-FFAA-1B1E-300A-35BAE8E1B1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7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7493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737F9-5B3C-7A19-94CA-19C4A8B73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9D2A3-02BD-E410-FD8E-26255586A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Clasificador de Bayes II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E1BDC2-860D-121A-E05F-662341D043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s-ES_tradnl" dirty="0"/>
                  <a:t>Entonces, si queremos minimizar el </a:t>
                </a:r>
                <a:r>
                  <a:rPr lang="es-ES_tradnl" dirty="0">
                    <a:solidFill>
                      <a:srgbClr val="0070C0"/>
                    </a:solidFill>
                  </a:rPr>
                  <a:t>error tipo I</a:t>
                </a:r>
                <a:r>
                  <a:rPr lang="es-ES_tradnl" dirty="0"/>
                  <a:t>: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s-ES_tradnl" dirty="0"/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=1|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f>
                        <m:fPr>
                          <m:type m:val="lin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s-ES_tradnl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s-ES_tradnl" dirty="0">
                    <a:solidFill>
                      <a:srgbClr val="FF0000"/>
                    </a:solidFill>
                  </a:rPr>
                  <a:t>Clasificador de Bayes</a:t>
                </a:r>
                <a:r>
                  <a:rPr lang="es-ES_tradnl" dirty="0"/>
                  <a:t>: elegir el estado </a:t>
                </a:r>
                <a:r>
                  <a:rPr lang="es-ES_tradnl" dirty="0">
                    <a:solidFill>
                      <a:srgbClr val="002060"/>
                    </a:solidFill>
                  </a:rPr>
                  <a:t>más probable minimiza</a:t>
                </a:r>
                <a:r>
                  <a:rPr lang="es-ES_tradnl" dirty="0"/>
                  <a:t> el riesgo esperado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E1BDC2-860D-121A-E05F-662341D043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568" t="-291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360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9CDA2-FBFD-4435-09C4-88FAECC45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Clasificador de Bayes II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DE2FE6-2D21-0373-E669-031C93ACF9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s-ES_tradnl" dirty="0"/>
                  <a:t>Bajo ‘penalidad 0-1’, el problema se reduce a </a:t>
                </a:r>
              </a:p>
              <a:p>
                <a:pPr marL="971550" lvl="1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encontrar </a:t>
                </a:r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s-ES_tradn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s-ES_tradnl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s-ES_tradnl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ES_tradnl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  <m:r>
                              <a:rPr lang="es-ES_tradnl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=1|</m:t>
                            </m:r>
                            <m:r>
                              <a:rPr lang="es-ES_tradnl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</m:func>
                    <m:r>
                      <a:rPr lang="es-ES_tradn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s-ES_tradnl" dirty="0"/>
                  <a:t>y </a:t>
                </a:r>
              </a:p>
              <a:p>
                <a:pPr marL="971550" lvl="1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Predecir (</a:t>
                </a:r>
                <a:r>
                  <a:rPr lang="es-ES_tradnl" dirty="0">
                    <a:solidFill>
                      <a:srgbClr val="002060"/>
                    </a:solidFill>
                  </a:rPr>
                  <a:t>clasificador de Bayes</a:t>
                </a:r>
                <a:r>
                  <a:rPr lang="es-ES_tradnl" dirty="0"/>
                  <a:t>): </a:t>
                </a:r>
              </a:p>
              <a:p>
                <a:pPr marL="1428750" lvl="2" indent="-514350">
                  <a:lnSpc>
                    <a:spcPct val="120000"/>
                  </a:lnSpc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s-ES_trad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s-ES_trad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s-ES_tradnl" dirty="0"/>
                  <a:t> si </a:t>
                </a:r>
                <a14:m>
                  <m:oMath xmlns:m="http://schemas.openxmlformats.org/officeDocument/2006/math">
                    <m:r>
                      <a:rPr lang="es-ES_tradnl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s-ES_tradn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&gt;0.5</m:t>
                    </m:r>
                  </m:oMath>
                </a14:m>
                <a:r>
                  <a:rPr lang="es-ES_tradnl" dirty="0"/>
                  <a:t> </a:t>
                </a:r>
              </a:p>
              <a:p>
                <a:pPr marL="1428750" lvl="2" indent="-514350">
                  <a:lnSpc>
                    <a:spcPct val="120000"/>
                  </a:lnSpc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s-ES_tradnl" sz="24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s-ES_tradnl" sz="24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</m:acc>
                    <m:r>
                      <a:rPr lang="en-US" sz="24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s-ES_tradnl" dirty="0"/>
                  <a:t> en caso contrario </a:t>
                </a:r>
              </a:p>
              <a:p>
                <a:pPr>
                  <a:lnSpc>
                    <a:spcPct val="120000"/>
                  </a:lnSpc>
                </a:pPr>
                <a:r>
                  <a:rPr lang="es-ES_tradnl" dirty="0"/>
                  <a:t>Es una probabilidad </a:t>
                </a:r>
                <a:r>
                  <a:rPr lang="es-ES_tradnl" dirty="0">
                    <a:solidFill>
                      <a:srgbClr val="002060"/>
                    </a:solidFill>
                  </a:rPr>
                  <a:t>condicional</a:t>
                </a:r>
              </a:p>
              <a:p>
                <a:pPr>
                  <a:lnSpc>
                    <a:spcPct val="120000"/>
                  </a:lnSpc>
                </a:pPr>
                <a:r>
                  <a:rPr lang="es-ES_tradnl" dirty="0">
                    <a:solidFill>
                      <a:srgbClr val="FF0000"/>
                    </a:solidFill>
                  </a:rPr>
                  <a:t>Ojo</a:t>
                </a:r>
                <a:r>
                  <a:rPr lang="es-ES_tradnl" dirty="0"/>
                  <a:t>: la penalidad 0-1 es simétrica. ¿Bueno?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DE2FE6-2D21-0373-E669-031C93ACF9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7" t="-291" b="-2035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21031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9CDA2-FBFD-4435-09C4-88FAECC45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Posibles soluciones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DE2FE6-2D21-0373-E669-031C93ACF9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514350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Tres modelos para </a:t>
                </a:r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s-ES_tradn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s-ES_tradnl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s-ES_tradnl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ES_tradnl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  <m:r>
                              <a:rPr lang="es-ES_tradnl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=1|</m:t>
                            </m:r>
                            <m:r>
                              <a:rPr lang="es-ES_tradnl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</m:func>
                  </m:oMath>
                </a14:m>
                <a:r>
                  <a:rPr lang="es-ES_tradnl" dirty="0"/>
                  <a:t>: </a:t>
                </a:r>
              </a:p>
              <a:p>
                <a:pPr marL="971550" lvl="1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Logístico</a:t>
                </a:r>
              </a:p>
              <a:p>
                <a:pPr marL="971550" lvl="1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Vecinos Cercanos</a:t>
                </a:r>
              </a:p>
              <a:p>
                <a:pPr marL="971550" lvl="1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Análisis discriminante: lineal (LDA) o cuadrático (QDA)</a:t>
                </a:r>
              </a:p>
              <a:p>
                <a:pPr marL="971550" lvl="1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Naive Bayes</a:t>
                </a:r>
              </a:p>
              <a:p>
                <a:pPr marL="514350" indent="-51435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s-ES_tradnl" dirty="0"/>
                  <a:t>Métricas de desempeño con perdida asimétrica: Análisis ROC.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DE2FE6-2D21-0373-E669-031C93ACF9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809" t="-1163" r="-965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04648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E83D0DE-DCB7-E42A-D782-6E396A647B0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s-ES_tradnl" dirty="0"/>
                  <a:t>Modelo lineal para Clasificar: </a:t>
                </a:r>
                <a:r>
                  <a:rPr lang="es-ES_tradnl" i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¿Por qué no </a:t>
                </a:r>
                <a14:m>
                  <m:oMath xmlns:m="http://schemas.openxmlformats.org/officeDocument/2006/math">
                    <m:r>
                      <a:rPr lang="es-ES_tradnl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s-ES_tradnl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b="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  <m:r>
                              <a:rPr lang="en-US" b="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=1|</m:t>
                            </m:r>
                            <m:r>
                              <a:rPr lang="en-US" b="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s-ES_tradnl" i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?</a:t>
                </a:r>
                <a:endParaRPr lang="es-ES_tradnl" i="1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E83D0DE-DCB7-E42A-D782-6E396A647B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413" t="-14286" b="-21905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6CE70E-DF44-F112-1149-056C52EBB750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s-ES_tradnl" dirty="0">
                    <a:solidFill>
                      <a:srgbClr val="FF0000"/>
                    </a:solidFill>
                  </a:rPr>
                  <a:t>Se sale del rango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</m:t>
                        </m:r>
                        <m:r>
                          <a:rPr lang="es-ES_tradnl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es-ES_tradnl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120000"/>
                  </a:lnSpc>
                </a:pPr>
                <a:r>
                  <a:rPr lang="es-ES_tradnl" dirty="0"/>
                  <a:t>Relaciones no lineales entre </a:t>
                </a:r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s-ES_tradnl" dirty="0"/>
                  <a:t> 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endParaRPr lang="es-ES_tradnl" dirty="0"/>
              </a:p>
              <a:p>
                <a:pPr>
                  <a:lnSpc>
                    <a:spcPct val="120000"/>
                  </a:lnSpc>
                </a:pPr>
                <a:r>
                  <a:rPr lang="es-ES_tradnl" dirty="0"/>
                  <a:t>Problemas de alta multicolinealidad entre las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endParaRPr lang="es-ES_tradnl" dirty="0"/>
              </a:p>
              <a:p>
                <a:pPr>
                  <a:lnSpc>
                    <a:spcPct val="120000"/>
                  </a:lnSpc>
                </a:pPr>
                <a:r>
                  <a:rPr lang="es-ES_tradnl" dirty="0"/>
                  <a:t>Logit/análisis discriminante es </a:t>
                </a:r>
                <a:r>
                  <a:rPr lang="es-ES_tradnl" b="1" dirty="0"/>
                  <a:t>fácil</a:t>
                </a:r>
                <a:r>
                  <a:rPr lang="es-ES_tradnl" dirty="0"/>
                  <a:t> de generalizar al caso 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s-ES_tradnl" dirty="0"/>
                  <a:t> categorías no ordenadas.</a:t>
                </a:r>
              </a:p>
              <a:p>
                <a:pPr>
                  <a:lnSpc>
                    <a:spcPct val="120000"/>
                  </a:lnSpc>
                </a:pPr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6CE70E-DF44-F112-1149-056C52EBB7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4"/>
                <a:stretch>
                  <a:fillRect l="-2445" t="-1453" r="-2934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Content Placeholder 5" descr="A graph with a line and a line&#10;&#10;Description automatically generated">
            <a:extLst>
              <a:ext uri="{FF2B5EF4-FFF2-40B4-BE49-F238E27FC236}">
                <a16:creationId xmlns:a16="http://schemas.microsoft.com/office/drawing/2014/main" id="{5BDE54AD-E4B7-6E7D-200E-C79D8A1DB71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6019800" y="1604963"/>
            <a:ext cx="5900615" cy="4572000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BEE4864-CBC5-C3AC-3FA2-3943E6E1B6BE}"/>
              </a:ext>
            </a:extLst>
          </p:cNvPr>
          <p:cNvSpPr txBox="1"/>
          <p:nvPr/>
        </p:nvSpPr>
        <p:spPr>
          <a:xfrm>
            <a:off x="6566014" y="6120984"/>
            <a:ext cx="51815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effectLst/>
                <a:latin typeface="Gill Sans Nova Light" panose="020B0302020104020203" pitchFamily="34" charset="0"/>
              </a:rPr>
              <a:t>Fuente: James, Witten, Hastie y Tibshirani, 2013. p.131 </a:t>
            </a:r>
            <a:endParaRPr lang="en-US" sz="4400" dirty="0">
              <a:effectLst/>
              <a:latin typeface="Gill Sans Nova Light" panose="020B03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8922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7C4D0-34F1-0A94-834E-05390C487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Regresión logística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666EBF-6119-C495-2250-DFAA6225CA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References</a:t>
            </a:r>
          </a:p>
          <a:p>
            <a:r>
              <a:rPr lang="es-AR" sz="2400" b="1" dirty="0">
                <a:solidFill>
                  <a:srgbClr val="00663D"/>
                </a:solidFill>
                <a:effectLst/>
                <a:latin typeface="Times" pitchFamily="2" charset="0"/>
                <a:ea typeface="Times" pitchFamily="2" charset="0"/>
                <a:cs typeface="Times" pitchFamily="2" charset="0"/>
              </a:rPr>
              <a:t>† </a:t>
            </a:r>
            <a:r>
              <a:rPr lang="en-US" sz="2400" dirty="0"/>
              <a:t>James, G., Witten, D., Hastie, T., Tibshirani, R., &amp; Taylor, J. (2023). </a:t>
            </a:r>
            <a:r>
              <a:rPr lang="en-US" sz="2400" i="1" dirty="0"/>
              <a:t>An introduction to statistical learning: With applications in Python. </a:t>
            </a:r>
            <a:r>
              <a:rPr lang="en-US" b="1" dirty="0"/>
              <a:t>Chap.</a:t>
            </a:r>
            <a:r>
              <a:rPr lang="en-US" dirty="0"/>
              <a:t> </a:t>
            </a:r>
            <a:r>
              <a:rPr lang="en-US" b="1" dirty="0"/>
              <a:t>4.3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41594695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E65CE-3653-8912-0E4D-181B4B3D8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Función logística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259E41-A60A-CCCC-3AFE-67CA19DCF38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s-ES_tradnl" dirty="0"/>
                  <a:t>Variable binaria/dicotómica (</a:t>
                </a:r>
                <a:r>
                  <a:rPr lang="es-ES_tradnl" dirty="0" err="1"/>
                  <a:t>outcome</a:t>
                </a:r>
                <a:r>
                  <a:rPr lang="es-ES_tradnl" dirty="0"/>
                  <a:t>) 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_tradnl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  <m:r>
                        <a:rPr lang="es-ES_tradnl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s-ES_tradnl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s-ES_tradnl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 </a:t>
                </a:r>
                <a:r>
                  <a:rPr lang="es-ES_tradnl" dirty="0"/>
                  <a:t>Vector de predictores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s-ES_tradnl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s-ES_tradnl" dirty="0"/>
                  <a:t>Función de densidad logística:</a:t>
                </a:r>
                <a:r>
                  <a:rPr lang="es-ES_tradnl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endParaRPr lang="es-ES_tradnl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_tradnl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s-ES_tradnl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𝑃𝑟</m:t>
                          </m:r>
                        </m:fName>
                        <m:e>
                          <m:d>
                            <m:dPr>
                              <m:ctrlP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=1|</m:t>
                              </m:r>
                              <m: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s-ES_tradnl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_tradnl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s-ES_tradnl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p>
                          </m:sSup>
                        </m:den>
                      </m:f>
                      <m:r>
                        <m:rPr>
                          <m:lit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s-ES_tradnl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s-ES_tradnl" dirty="0"/>
                  <a:t> es vectores 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s-ES_tradnl" dirty="0"/>
                  <a:t> coeficientes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s-ES_tradnl" dirty="0"/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259E41-A60A-CCCC-3AFE-67CA19DCF3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467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Content Placeholder 5" descr="A graph of a line&#10;&#10;Description automatically generated with medium confidence">
            <a:extLst>
              <a:ext uri="{FF2B5EF4-FFF2-40B4-BE49-F238E27FC236}">
                <a16:creationId xmlns:a16="http://schemas.microsoft.com/office/drawing/2014/main" id="{FF718610-2D5E-F8C5-A3CF-F3987934829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2" y="1604963"/>
            <a:ext cx="5804452" cy="4572000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B1BEB2-9786-0130-0E56-9AC538835D5B}"/>
              </a:ext>
            </a:extLst>
          </p:cNvPr>
          <p:cNvSpPr txBox="1"/>
          <p:nvPr/>
        </p:nvSpPr>
        <p:spPr>
          <a:xfrm>
            <a:off x="6661264" y="5914817"/>
            <a:ext cx="51815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effectLst/>
                <a:latin typeface="Gill Sans Nova Light" panose="020B0302020104020203" pitchFamily="34" charset="0"/>
              </a:rPr>
              <a:t>Fuente: James, Witten, Hastie y Tibshirani, 2013. p.131 </a:t>
            </a:r>
            <a:endParaRPr lang="en-US" sz="4400" dirty="0">
              <a:effectLst/>
              <a:latin typeface="Gill Sans Nova Light" panose="020B03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12721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48A8E-867A-1845-51B5-5E77013F8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Interpretación de Efecto Marginal con </a:t>
            </a:r>
            <a:r>
              <a:rPr lang="es-ES_tradnl" dirty="0" err="1"/>
              <a:t>Logit</a:t>
            </a:r>
            <a:r>
              <a:rPr lang="es-ES_tradnl" dirty="0"/>
              <a:t> 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D0CD0C-3123-65DE-F303-6A482A61D5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s-ES_tradnl" dirty="0" err="1">
                    <a:solidFill>
                      <a:srgbClr val="002060"/>
                    </a:solidFill>
                  </a:rPr>
                  <a:t>Odds</a:t>
                </a:r>
                <a:r>
                  <a:rPr lang="es-ES_tradnl" dirty="0"/>
                  <a:t> 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sup>
                      </m:sSup>
                    </m:oMath>
                  </m:oMathPara>
                </a14:m>
                <a:endParaRPr lang="es-ES_tradnl" dirty="0"/>
              </a:p>
              <a:p>
                <a:pPr lvl="2">
                  <a:lnSpc>
                    <a:spcPct val="150000"/>
                  </a:lnSpc>
                </a:pPr>
                <a:r>
                  <a:rPr lang="es-ES_tradnl" dirty="0"/>
                  <a:t>Valores muy cerca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s-ES_tradnl" dirty="0"/>
                  <a:t> -&gt; muy </a:t>
                </a:r>
                <a:r>
                  <a:rPr lang="es-ES_tradnl" dirty="0">
                    <a:solidFill>
                      <a:srgbClr val="002060"/>
                    </a:solidFill>
                  </a:rPr>
                  <a:t>baja</a:t>
                </a:r>
                <a:r>
                  <a:rPr lang="es-ES_tradnl" dirty="0"/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=1|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</m:func>
                  </m:oMath>
                </a14:m>
                <a:endParaRPr lang="es-ES_tradnl" dirty="0"/>
              </a:p>
              <a:p>
                <a:pPr lvl="2">
                  <a:lnSpc>
                    <a:spcPct val="150000"/>
                  </a:lnSpc>
                </a:pPr>
                <a:r>
                  <a:rPr lang="es-ES_tradnl" dirty="0"/>
                  <a:t>Valores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s-ES_tradnl" dirty="0"/>
                  <a:t> -&gt; muy </a:t>
                </a:r>
                <a:r>
                  <a:rPr lang="es-ES_tradnl" dirty="0">
                    <a:solidFill>
                      <a:srgbClr val="002060"/>
                    </a:solidFill>
                  </a:rPr>
                  <a:t>alta</a:t>
                </a:r>
                <a:r>
                  <a:rPr lang="es-ES_tradnl" dirty="0"/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=1|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</m:func>
                  </m:oMath>
                </a14:m>
                <a:endParaRPr lang="es-ES_tradnl" dirty="0"/>
              </a:p>
              <a:p>
                <a:pPr lvl="2">
                  <a:lnSpc>
                    <a:spcPct val="150000"/>
                  </a:lnSpc>
                </a:pPr>
                <a:endParaRPr lang="es-ES_tradnl" sz="1200" dirty="0"/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D0CD0C-3123-65DE-F303-6A482A61D5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7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18875-7EA8-32A0-48EE-5DA4DBC5D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344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0E2B9-E161-9DBA-68EC-1B8A9855B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B6C54-8503-5869-F3B0-A19E74E04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36766" cy="1325563"/>
          </a:xfrm>
        </p:spPr>
        <p:txBody>
          <a:bodyPr/>
          <a:lstStyle/>
          <a:p>
            <a:r>
              <a:rPr lang="es-ES_tradnl" dirty="0"/>
              <a:t>Interpretación de Efecto Marginal con </a:t>
            </a:r>
            <a:r>
              <a:rPr lang="es-ES_tradnl" dirty="0" err="1"/>
              <a:t>Logit</a:t>
            </a:r>
            <a:r>
              <a:rPr lang="es-ES_tradnl" dirty="0"/>
              <a:t> II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EB2CA9-C70F-2C28-66CA-A3460AEF98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914400" lvl="2" indent="0">
                  <a:buNone/>
                </a:pPr>
                <a:endParaRPr lang="es-ES_tradnl" sz="1200" dirty="0"/>
              </a:p>
              <a:p>
                <a:r>
                  <a:rPr lang="es-ES_tradnl" dirty="0">
                    <a:solidFill>
                      <a:srgbClr val="002060"/>
                    </a:solidFill>
                  </a:rPr>
                  <a:t>Log-</a:t>
                </a:r>
                <a:r>
                  <a:rPr lang="es-ES_tradnl" dirty="0" err="1">
                    <a:solidFill>
                      <a:srgbClr val="002060"/>
                    </a:solidFill>
                  </a:rPr>
                  <a:t>odds</a:t>
                </a:r>
                <a:r>
                  <a:rPr lang="es-ES_tradnl" dirty="0">
                    <a:solidFill>
                      <a:srgbClr val="002060"/>
                    </a:solidFill>
                  </a:rPr>
                  <a:t> </a:t>
                </a:r>
                <a:r>
                  <a:rPr lang="es-ES_tradnl" dirty="0"/>
                  <a:t>ratio o </a:t>
                </a:r>
                <a:r>
                  <a:rPr lang="es-ES_tradnl" dirty="0" err="1">
                    <a:solidFill>
                      <a:srgbClr val="002060"/>
                    </a:solidFill>
                  </a:rPr>
                  <a:t>logit</a:t>
                </a:r>
                <a:r>
                  <a:rPr lang="es-ES_tradnl" dirty="0"/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lvl="2"/>
                <a:r>
                  <a:rPr lang="es-ES_tradnl" dirty="0"/>
                  <a:t>Lineal 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endParaRPr lang="es-ES_tradnl" dirty="0"/>
              </a:p>
              <a:p>
                <a:pPr lvl="2"/>
                <a:r>
                  <a:rPr lang="es-ES_tradnl" dirty="0">
                    <a:solidFill>
                      <a:srgbClr val="002060"/>
                    </a:solidFill>
                  </a:rPr>
                  <a:t>Efecto marginal </a:t>
                </a:r>
                <a:r>
                  <a:rPr lang="es-ES_tradnl" dirty="0"/>
                  <a:t>de la k-ésimo predictor: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</m:oMath>
                </a14:m>
                <a:endParaRPr lang="es-ES_tradnl" dirty="0"/>
              </a:p>
              <a:p>
                <a:pPr lvl="2"/>
                <a:r>
                  <a:rPr lang="es-ES_tradnl" dirty="0"/>
                  <a:t>El cambio marginal 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=1|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</m:func>
                  </m:oMath>
                </a14:m>
                <a:r>
                  <a:rPr lang="es-ES_tradnl" dirty="0"/>
                  <a:t> depende del valor de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endParaRPr lang="es-ES_tradnl" dirty="0"/>
              </a:p>
              <a:p>
                <a:pPr lvl="2"/>
                <a:r>
                  <a:rPr lang="es-ES_tradnl" dirty="0">
                    <a:solidFill>
                      <a:srgbClr val="00B050"/>
                    </a:solidFill>
                  </a:rPr>
                  <a:t>Signo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s-ES_tradnl" dirty="0">
                    <a:solidFill>
                      <a:srgbClr val="00B050"/>
                    </a:solidFill>
                  </a:rPr>
                  <a:t> importa</a:t>
                </a:r>
              </a:p>
              <a:p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EB2CA9-C70F-2C28-66CA-A3460AEF98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7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B63AD5-2E74-2133-92E2-05E7D4DA9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857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B9960B-86EC-DCB3-3C0A-4DC010F99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0EA53B2-2F29-32F7-AF05-F6F468D3882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es-ES_tradnl" dirty="0"/>
                  <a:t>¿Cómo estimamos los coeficientes de </a:t>
                </a:r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s-ES_tradn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s-ES_tradnl" dirty="0"/>
                  <a:t>donde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s-ES_tradnl" dirty="0"/>
                  <a:t> es vectores 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s-ES_tradnl" dirty="0"/>
                  <a:t> coeficientes?   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0EA53B2-2F29-32F7-AF05-F6F468D388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136" t="-10177" r="-3257" b="-12832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5ADC62-BDEA-CA2D-E52F-FDBE4BFC47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s-ES_tradnl" b="1" dirty="0">
                <a:solidFill>
                  <a:srgbClr val="00B050"/>
                </a:solidFill>
              </a:rPr>
              <a:t>Respuesta</a:t>
            </a:r>
            <a:r>
              <a:rPr lang="es-ES_tradnl" b="1" i="1" dirty="0"/>
              <a:t>: Método de Máxima Verosimilitud </a:t>
            </a:r>
            <a:r>
              <a:rPr lang="es-ES_tradnl" b="1" dirty="0"/>
              <a:t>(MLE)</a:t>
            </a:r>
          </a:p>
        </p:txBody>
      </p:sp>
    </p:spTree>
    <p:extLst>
      <p:ext uri="{BB962C8B-B14F-4D97-AF65-F5344CB8AC3E}">
        <p14:creationId xmlns:p14="http://schemas.microsoft.com/office/powerpoint/2010/main" val="394460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EB43B-E7CF-1161-BFE9-37A6F587C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 err="1"/>
              <a:t>Intro</a:t>
            </a:r>
            <a:r>
              <a:rPr lang="es-ES_tradnl" dirty="0"/>
              <a:t> a la estimación de Máxima verosimilitud (MLE)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21CD9F-FD8E-EC96-EECC-4F6ADC319F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s-ES_tradnl" dirty="0"/>
                  <a:t>Maxima verosimilitud 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𝑃𝑟</m:t>
                          </m:r>
                        </m:fName>
                        <m:e>
                          <m:d>
                            <m:dPr>
                              <m:ctrlP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s-ES_tradnl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es-ES_tradnl" dirty="0"/>
                  <a:t> es conocida, no así sus parámetros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s-ES_tradnl" dirty="0"/>
                  <a:t> Ejemplos</a:t>
                </a:r>
                <a:r>
                  <a:rPr lang="en-US" dirty="0"/>
                  <a:t>? </a:t>
                </a:r>
                <a:endParaRPr lang="es-ES_tradnl" dirty="0"/>
              </a:p>
              <a:p>
                <a:pPr>
                  <a:lnSpc>
                    <a:spcPct val="150000"/>
                  </a:lnSpc>
                </a:pPr>
                <a:r>
                  <a:rPr lang="es-ES_tradnl" dirty="0">
                    <a:solidFill>
                      <a:srgbClr val="00B050"/>
                    </a:solidFill>
                  </a:rPr>
                  <a:t>Supuesto clave</a:t>
                </a:r>
                <a:r>
                  <a:rPr lang="es-ES_tradnl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=1,…,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s-ES_tradnl" dirty="0"/>
                  <a:t> es una muestra </a:t>
                </a:r>
                <a14:m>
                  <m:oMath xmlns:m="http://schemas.openxmlformats.org/officeDocument/2006/math">
                    <m:r>
                      <a:rPr lang="es-ES_tradnl" i="1" dirty="0" smtClean="0">
                        <a:latin typeface="Cambria Math" panose="02040503050406030204" pitchFamily="18" charset="0"/>
                      </a:rPr>
                      <m:t>𝑖𝑖𝑑</m:t>
                    </m:r>
                  </m:oMath>
                </a14:m>
                <a:r>
                  <a:rPr lang="es-ES_tradnl" i="1" dirty="0"/>
                  <a:t> </a:t>
                </a:r>
                <a:r>
                  <a:rPr lang="es-ES_tradnl" dirty="0"/>
                  <a:t>de tamaño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endParaRPr lang="es-ES_tradnl" dirty="0"/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𝑃𝑟</m:t>
                          </m:r>
                        </m:fName>
                        <m:e>
                          <m:d>
                            <m:dPr>
                              <m:ctrlP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s-ES_tradnl" dirty="0"/>
              </a:p>
              <a:p>
                <a:pPr>
                  <a:lnSpc>
                    <a:spcPct val="150000"/>
                  </a:lnSpc>
                </a:pPr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21CD9F-FD8E-EC96-EECC-4F6ADC319F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998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EB43B-E7CF-1161-BFE9-37A6F587C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Estimación MLE 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21CD9F-FD8E-EC96-EECC-4F6ADC319F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s-ES_tradnl" dirty="0"/>
                  <a:t>Verosimilitud </a:t>
                </a:r>
                <a:r>
                  <a:rPr lang="es-ES_tradnl" dirty="0">
                    <a:solidFill>
                      <a:srgbClr val="002060"/>
                    </a:solidFill>
                  </a:rPr>
                  <a:t>teórica</a:t>
                </a:r>
                <a:r>
                  <a:rPr lang="es-ES_tradnl" dirty="0"/>
                  <a:t>: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_tradnl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s-ES_tradnl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s-ES_tradnl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s-ES_tradnl" dirty="0"/>
              </a:p>
              <a:p>
                <a:pPr lvl="1">
                  <a:lnSpc>
                    <a:spcPct val="120000"/>
                  </a:lnSpc>
                </a:pPr>
                <a:r>
                  <a:rPr lang="es-ES_tradnl" dirty="0">
                    <a:solidFill>
                      <a:srgbClr val="002060"/>
                    </a:solidFill>
                  </a:rPr>
                  <a:t>Roles cambiados: </a:t>
                </a:r>
                <a:r>
                  <a:rPr lang="es-ES_tradnl" dirty="0"/>
                  <a:t>probabilidad de </a:t>
                </a:r>
                <a14:m>
                  <m:oMath xmlns:m="http://schemas.openxmlformats.org/officeDocument/2006/math">
                    <m:r>
                      <a:rPr lang="es-ES_tradn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s-ES_tradnl" dirty="0"/>
                  <a:t> haya ocurrido, para distintos valores de </a:t>
                </a:r>
                <a14:m>
                  <m:oMath xmlns:m="http://schemas.openxmlformats.org/officeDocument/2006/math">
                    <m:r>
                      <a:rPr lang="es-ES_tradnl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endParaRPr lang="es-ES_tradnl" dirty="0"/>
              </a:p>
              <a:p>
                <a:pPr>
                  <a:lnSpc>
                    <a:spcPct val="120000"/>
                  </a:lnSpc>
                </a:pPr>
                <a:r>
                  <a:rPr lang="es-ES_tradnl" dirty="0"/>
                  <a:t>Verosimilitud </a:t>
                </a:r>
                <a:r>
                  <a:rPr lang="es-ES_tradnl" dirty="0">
                    <a:solidFill>
                      <a:srgbClr val="002060"/>
                    </a:solidFill>
                  </a:rPr>
                  <a:t>muestral</a:t>
                </a:r>
                <a:r>
                  <a:rPr lang="es-ES_tradnl" dirty="0"/>
                  <a:t>: </a:t>
                </a:r>
                <a14:m>
                  <m:oMath xmlns:m="http://schemas.openxmlformats.org/officeDocument/2006/math">
                    <m:r>
                      <a:rPr lang="es-ES_tradnl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𝒚</m:t>
                    </m:r>
                    <m:r>
                      <a:rPr lang="es-ES_tradnl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s-ES_tradnl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s-ES_tradn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s-ES_tradn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s-ES_tradnl" dirty="0"/>
                  <a:t>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_tradnl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s-ES_tradnl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  <m:r>
                        <a:rPr lang="es-ES_tradnl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s-ES_tradnl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s-ES_tradnl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_tradnl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  <m:r>
                            <a:rPr lang="es-ES_tradnl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s-ES_tradnl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s-ES_tradnl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s-ES_tradnl" dirty="0"/>
                  <a:t>Si</a:t>
                </a:r>
                <a:r>
                  <a:rPr lang="es-ES_tradnl" b="1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s-ES_tradnl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s-ES_tradnl" dirty="0"/>
                  <a:t> es </a:t>
                </a:r>
                <a14:m>
                  <m:oMath xmlns:m="http://schemas.openxmlformats.org/officeDocument/2006/math">
                    <m:r>
                      <a:rPr lang="es-ES_tradnl" i="1" dirty="0">
                        <a:latin typeface="Cambria Math" panose="02040503050406030204" pitchFamily="18" charset="0"/>
                      </a:rPr>
                      <m:t>𝑖𝑖𝑑</m:t>
                    </m:r>
                  </m:oMath>
                </a14:m>
                <a:r>
                  <a:rPr lang="es-ES_tradnl" dirty="0"/>
                  <a:t> entonces la probabilidad conjunta será: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_tradnl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s-ES_tradnl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  <m:r>
                        <a:rPr lang="es-ES_tradnl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subSup"/>
                          <m:ctrlP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s-ES_trad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s-ES_tradnl" dirty="0"/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s-ES_tradnl" dirty="0"/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21CD9F-FD8E-EC96-EECC-4F6ADC319F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581" b="-45640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4933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EB43B-E7CF-1161-BFE9-37A6F587C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Estimación MLE II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21CD9F-FD8E-EC96-EECC-4F6ADC319F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s-ES_tradnl" dirty="0"/>
                  <a:t>Estimador máximo verosímil: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s-ES_tradnl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∏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es-ES_tradnl" dirty="0"/>
              </a:p>
              <a:p>
                <a:pPr lvl="1"/>
                <a:r>
                  <a:rPr lang="es-ES_tradnl" dirty="0"/>
                  <a:t>Ingeniería reversa</a:t>
                </a:r>
              </a:p>
              <a:p>
                <a:r>
                  <a:rPr lang="es-ES_tradnl" dirty="0">
                    <a:solidFill>
                      <a:srgbClr val="002060"/>
                    </a:solidFill>
                  </a:rPr>
                  <a:t>Propiedades de estos estimadores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s-ES_tradnl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s-ES_tradnl" i="1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es-ES_tradnl" dirty="0">
                    <a:solidFill>
                      <a:srgbClr val="002060"/>
                    </a:solidFill>
                  </a:rPr>
                  <a:t> por MLE: </a:t>
                </a:r>
              </a:p>
              <a:p>
                <a:pPr lvl="1"/>
                <a:r>
                  <a:rPr lang="es-ES_tradnl" dirty="0"/>
                  <a:t>Consistente, asintóticamente normal, asintóticamente eficiente, invariante.</a:t>
                </a:r>
              </a:p>
              <a:p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21CD9F-FD8E-EC96-EECC-4F6ADC319F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7" t="-28198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75682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EB43B-E7CF-1161-BFE9-37A6F587C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 err="1"/>
              <a:t>Logit</a:t>
            </a:r>
            <a:r>
              <a:rPr lang="es-ES_tradnl" dirty="0"/>
              <a:t> por estimación de MLE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21CD9F-FD8E-EC96-EECC-4F6ADC319F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s-ES_tradnl" dirty="0"/>
                  <a:t>En el caso </a:t>
                </a:r>
                <a:r>
                  <a:rPr lang="es-ES_tradnl" dirty="0" err="1"/>
                  <a:t>logit</a:t>
                </a:r>
                <a:r>
                  <a:rPr lang="es-ES_tradnl" dirty="0"/>
                  <a:t>, recordar que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Pr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⁡(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s-ES_tradn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sup>
                        </m:sSup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sup>
                        </m:sSup>
                      </m:den>
                    </m:f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s-ES_tradnl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endParaRPr lang="es-ES_tradnl" dirty="0"/>
              </a:p>
              <a:p>
                <a:r>
                  <a:rPr lang="es-ES_tradnl" dirty="0"/>
                  <a:t>Entonces: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_tradnl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s-ES_tradnl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  <m:r>
                        <a:rPr lang="es-ES_tradnl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supHide m:val="on"/>
                          <m:ctrlPr>
                            <a:rPr lang="es-ES_trad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nary>
                        <m:naryPr>
                          <m:chr m:val="∏"/>
                          <m:supHide m:val="on"/>
                          <m:ctrlPr>
                            <a:rPr lang="es-ES_tradnl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brk m:alnAt="7"/>
                            </m:r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s-ES_tradnl" dirty="0"/>
              </a:p>
              <a:p>
                <a:r>
                  <a:rPr lang="es-ES_tradnl" dirty="0"/>
                  <a:t>Detalles (</a:t>
                </a:r>
                <a:r>
                  <a:rPr lang="es-ES_tradnl" dirty="0">
                    <a:solidFill>
                      <a:srgbClr val="002060"/>
                    </a:solidFill>
                  </a:rPr>
                  <a:t>maestría</a:t>
                </a:r>
                <a:r>
                  <a:rPr lang="es-ES_tradnl" dirty="0"/>
                  <a:t>): la maximización no tiene una forma cerrada. Es un problema computacional.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21CD9F-FD8E-EC96-EECC-4F6ADC319F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7" t="-2907" r="-2413" b="-24128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90275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2459A-B6A1-2CCA-5E0E-23BF1BE3B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Resumen en la práctica: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8F4542-3B9D-667C-3123-72163B70A66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s-ES_tradnl" dirty="0"/>
                  <a:t>Observamos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s-ES_tradnl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=1,2,,…,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endParaRPr lang="es-ES_tradnl" dirty="0"/>
              </a:p>
              <a:p>
                <a:r>
                  <a:rPr lang="es-ES_tradnl" dirty="0"/>
                  <a:t>Modelo </a:t>
                </a:r>
                <a:r>
                  <a:rPr lang="es-ES_tradnl" dirty="0" err="1"/>
                  <a:t>logit</a:t>
                </a:r>
                <a:endParaRPr lang="es-ES_tradnl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sup>
                          </m:sSup>
                        </m:den>
                      </m:f>
                      <m:r>
                        <m:rPr>
                          <m:lit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s-ES_tradnl" dirty="0"/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r>
                  <a:rPr lang="es-ES_tradnl" dirty="0"/>
                  <a:t> por máxima verosimilitud</a:t>
                </a:r>
              </a:p>
              <a:p>
                <a:r>
                  <a:rPr lang="es-ES_tradnl" dirty="0"/>
                  <a:t>Predicción para cada observación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highlight>
                                <a:srgbClr val="00FF00"/>
                              </a:highligh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highlight>
                                    <a:srgbClr val="00FF00"/>
                                  </a:highligh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highlight>
                                    <a:srgbClr val="00FF00"/>
                                  </a:highligh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highlight>
                                <a:srgbClr val="00FF00"/>
                              </a:highligh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highlight>
                                        <a:srgbClr val="FFFF00"/>
                                      </a:highlight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highlight>
                                        <a:srgbClr val="FFFF00"/>
                                      </a:highlight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</m:sup>
                          </m:sSup>
                        </m:den>
                      </m:f>
                      <m:r>
                        <m:rPr>
                          <m:lit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s-ES_tradnl" dirty="0"/>
              </a:p>
              <a:p>
                <a:pPr lvl="1"/>
                <a:r>
                  <a:rPr lang="es-ES_tradnl" dirty="0">
                    <a:solidFill>
                      <a:srgbClr val="00B050"/>
                    </a:solidFill>
                  </a:rPr>
                  <a:t>Ventaja</a:t>
                </a:r>
                <a:r>
                  <a:rPr lang="es-ES_tradnl" dirty="0"/>
                  <a:t>: Asíntotas en 0,1</a:t>
                </a:r>
              </a:p>
              <a:p>
                <a:r>
                  <a:rPr lang="es-ES_tradnl" dirty="0">
                    <a:solidFill>
                      <a:srgbClr val="00B0F0"/>
                    </a:solidFill>
                  </a:rPr>
                  <a:t>Clasificación (Bayes):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&gt;0.5</m:t>
                          </m:r>
                        </m:e>
                      </m:d>
                    </m:oMath>
                  </m:oMathPara>
                </a14:m>
                <a:endParaRPr lang="es-ES_tradnl" dirty="0"/>
              </a:p>
              <a:p>
                <a:endParaRPr lang="es-ES_tradnl" dirty="0"/>
              </a:p>
              <a:p>
                <a:pPr marL="0" indent="0">
                  <a:buNone/>
                </a:pPr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8F4542-3B9D-667C-3123-72163B70A6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3198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070663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7C4D0-34F1-0A94-834E-05390C487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Dos Aplicaciones de Regresión Logística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666EBF-6119-C495-2250-DFAA6225CA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ill Sans Nova Light" panose="020B0302020104020203" pitchFamily="34" charset="0"/>
              </a:rPr>
              <a:t>Horowitz &amp; Savin (2001)</a:t>
            </a:r>
            <a:r>
              <a:rPr lang="es-ES_tradnl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Nova Light" panose="020B0302020104020203" pitchFamily="34" charset="0"/>
              </a:rPr>
              <a:t> </a:t>
            </a:r>
            <a:r>
              <a:rPr lang="es-ES_tradnl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Nova Light" panose="020B0302020104020203" pitchFamily="34" charset="0"/>
                <a:hlinkClick r:id="rId2"/>
              </a:rPr>
              <a:t>https://www.aeaweb.org/articles?id=10.1257/jep.15.4.43</a:t>
            </a:r>
            <a:r>
              <a:rPr lang="es-ES_tradnl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Nova Light" panose="020B0302020104020203" pitchFamily="34" charset="0"/>
              </a:rPr>
              <a:t> </a:t>
            </a:r>
          </a:p>
          <a:p>
            <a:pPr>
              <a:buNone/>
            </a:pPr>
            <a:endParaRPr lang="en-US" sz="1000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Gill Sans Nova Light" panose="020B0302020104020203" pitchFamily="34" charset="0"/>
            </a:endParaRPr>
          </a:p>
          <a:p>
            <a:pPr>
              <a:buNone/>
            </a:pPr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ill Sans Nova Light" panose="020B0302020104020203" pitchFamily="34" charset="0"/>
              </a:rPr>
              <a:t>Tollenaar, N., &amp; van der Heijden, P. G. (2013).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ill Sans Nova Light" panose="020B0302020104020203" pitchFamily="34" charset="0"/>
              </a:rPr>
              <a:t>Which method predicts recidivism best?: a comparison of statistical, machine learning and data mining predictive models. </a:t>
            </a:r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ill Sans Nova Light" panose="020B0302020104020203" pitchFamily="34" charset="0"/>
              </a:rPr>
              <a:t>Journal of the Royal Statistical Society Series A: Statistics in Society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ill Sans Nova Light" panose="020B0302020104020203" pitchFamily="34" charset="0"/>
              </a:rPr>
              <a:t>, 176(2), 565-584.</a:t>
            </a:r>
            <a:r>
              <a:rPr lang="es-ES_tradnl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Nova Light" panose="020B0302020104020203" pitchFamily="34" charset="0"/>
              </a:rPr>
              <a:t> 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  <a:latin typeface="Gill Sans Nova Light" panose="020B03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64127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499C2-19E6-D1B7-0AD4-BC31DF8C5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Ejemplo: Estimación tradicional de pobreza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801C48B-43C0-E7CD-AFA7-EA83BE1C8B6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>
                    <a:ea typeface="Cambria Math" panose="02040503050406030204" pitchFamily="18" charset="0"/>
                  </a:rPr>
                  <a:t>L</a:t>
                </a:r>
                <a:r>
                  <a:rPr lang="en-US" b="0" dirty="0">
                    <a:ea typeface="Cambria Math" panose="02040503050406030204" pitchFamily="18" charset="0"/>
                  </a:rPr>
                  <a:t>inea de </a:t>
                </a:r>
                <a:r>
                  <a:rPr lang="es-ES_tradnl" b="0" dirty="0">
                    <a:ea typeface="Cambria Math" panose="02040503050406030204" pitchFamily="18" charset="0"/>
                  </a:rPr>
                  <a:t>pobreza</a:t>
                </a:r>
                <a:r>
                  <a:rPr lang="en-US" b="0" dirty="0">
                    <a:ea typeface="Cambria Math" panose="02040503050406030204" pitchFamily="18" charset="0"/>
                  </a:rPr>
                  <a:t> (EEUU, 1993): </a:t>
                </a:r>
                <a:r>
                  <a:rPr lang="en-US" b="1" dirty="0">
                    <a:ea typeface="Cambria Math" panose="02040503050406030204" pitchFamily="18" charset="0"/>
                  </a:rPr>
                  <a:t>280 USD</a:t>
                </a:r>
              </a:p>
              <a:p>
                <a:pPr marL="0" indent="0">
                  <a:buNone/>
                </a:pPr>
                <a:endParaRPr lang="en-US" sz="1600" b="1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=1| </m:t>
                          </m:r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𝑒𝑑</m:t>
                          </m:r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800" b="0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𝑒𝑑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2800" dirty="0"/>
              </a:p>
              <a:p>
                <a:pPr marL="0" indent="0">
                  <a:buNone/>
                </a:pPr>
                <a:endParaRPr lang="en-US" sz="16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𝑒𝑑</m:t>
                    </m:r>
                  </m:oMath>
                </a14:m>
                <a:r>
                  <a:rPr lang="es-ES_tradnl" dirty="0"/>
                  <a:t> años de educación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𝑒𝑥</m:t>
                    </m:r>
                  </m:oMath>
                </a14:m>
                <a:r>
                  <a:rPr lang="es-ES_tradnl" dirty="0"/>
                  <a:t> años de experiencia</a:t>
                </a:r>
              </a:p>
              <a:p>
                <a:pPr marL="0" indent="0">
                  <a:buNone/>
                </a:pPr>
                <a:endParaRPr lang="es-ES_tradnl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801C48B-43C0-E7CD-AFA7-EA83BE1C8B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2689" t="-2907" r="-244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Content Placeholder 7" descr="A graph of a number of people&#10;&#10;Description automatically generated">
            <a:extLst>
              <a:ext uri="{FF2B5EF4-FFF2-40B4-BE49-F238E27FC236}">
                <a16:creationId xmlns:a16="http://schemas.microsoft.com/office/drawing/2014/main" id="{28A9ECC0-0536-6059-74EC-3B6F3966307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4"/>
          <a:srcRect b="8922"/>
          <a:stretch/>
        </p:blipFill>
        <p:spPr>
          <a:xfrm>
            <a:off x="5619749" y="1825625"/>
            <a:ext cx="6480901" cy="4012784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2415560-5822-657B-9F30-7E448C394BF6}"/>
              </a:ext>
            </a:extLst>
          </p:cNvPr>
          <p:cNvSpPr txBox="1"/>
          <p:nvPr/>
        </p:nvSpPr>
        <p:spPr>
          <a:xfrm>
            <a:off x="5877803" y="5862222"/>
            <a:ext cx="51815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effectLst/>
                <a:latin typeface="Gill Sans Nova Light" panose="020B0302020104020203" pitchFamily="34" charset="0"/>
              </a:rPr>
              <a:t>Horowitz &amp; </a:t>
            </a:r>
            <a:r>
              <a:rPr lang="en-US" sz="1600" dirty="0" err="1">
                <a:effectLst/>
                <a:latin typeface="Gill Sans Nova Light" panose="020B0302020104020203" pitchFamily="34" charset="0"/>
              </a:rPr>
              <a:t>Savin</a:t>
            </a:r>
            <a:r>
              <a:rPr lang="en-US" sz="1600" dirty="0">
                <a:effectLst/>
                <a:latin typeface="Gill Sans Nova Light" panose="020B0302020104020203" pitchFamily="34" charset="0"/>
              </a:rPr>
              <a:t> (2001)</a:t>
            </a:r>
            <a:endParaRPr lang="en-US" sz="4400" dirty="0">
              <a:effectLst/>
              <a:latin typeface="Gill Sans Nova Light" panose="020B03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50849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0A1ADF7-7C9E-B017-96B4-1C758B898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Se puede presentar coeficientes y </a:t>
            </a:r>
            <a:r>
              <a:rPr lang="es-ES_tradnl" dirty="0" err="1"/>
              <a:t>odd</a:t>
            </a:r>
            <a:r>
              <a:rPr lang="es-ES_tradnl" dirty="0"/>
              <a:t>-ratios</a:t>
            </a:r>
          </a:p>
        </p:txBody>
      </p:sp>
      <p:pic>
        <p:nvPicPr>
          <p:cNvPr id="8" name="Content Placeholder 7" descr="A screenshot of a graph&#10;&#10;AI-generated content may be incorrect.">
            <a:extLst>
              <a:ext uri="{FF2B5EF4-FFF2-40B4-BE49-F238E27FC236}">
                <a16:creationId xmlns:a16="http://schemas.microsoft.com/office/drawing/2014/main" id="{DBCB9F9B-7754-4D27-E1AA-A2BF556EC6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80876" y="1986192"/>
            <a:ext cx="10630247" cy="3316637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3CBFD59-C06C-78F7-9CFE-75E01DA991D5}"/>
              </a:ext>
            </a:extLst>
          </p:cNvPr>
          <p:cNvSpPr txBox="1"/>
          <p:nvPr/>
        </p:nvSpPr>
        <p:spPr>
          <a:xfrm>
            <a:off x="1026833" y="5598333"/>
            <a:ext cx="51815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ill Sans Nova Light" panose="020B0302020104020203" pitchFamily="34" charset="0"/>
              </a:rPr>
              <a:t>Fuente: Tollenaar &amp; van der Heijden (2013), p. 16</a:t>
            </a:r>
            <a:endParaRPr lang="en-US" sz="4400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Gill Sans Nova Light" panose="020B03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99955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7C4D0-34F1-0A94-834E-05390C487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Vecinos cercanos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666EBF-6119-C495-2250-DFAA6225CA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References</a:t>
            </a:r>
          </a:p>
          <a:p>
            <a:r>
              <a:rPr lang="es-AR" sz="2400" b="1" dirty="0">
                <a:solidFill>
                  <a:srgbClr val="00663D"/>
                </a:solidFill>
                <a:effectLst/>
                <a:latin typeface="Times" pitchFamily="2" charset="0"/>
                <a:ea typeface="Times" pitchFamily="2" charset="0"/>
                <a:cs typeface="Times" pitchFamily="2" charset="0"/>
              </a:rPr>
              <a:t>† </a:t>
            </a:r>
            <a:r>
              <a:rPr lang="en-US" sz="2400" dirty="0"/>
              <a:t>James, G., Witten, D., Hastie, T., Tibshirani, R., &amp; Taylor, J. (2023). </a:t>
            </a:r>
            <a:r>
              <a:rPr lang="en-US" sz="2400" i="1" dirty="0"/>
              <a:t>An introduction to statistical learning: With applications in Python. </a:t>
            </a:r>
            <a:r>
              <a:rPr lang="en-US" b="1" dirty="0"/>
              <a:t>Chap. 2.2.3</a:t>
            </a:r>
          </a:p>
        </p:txBody>
      </p:sp>
    </p:spTree>
    <p:extLst>
      <p:ext uri="{BB962C8B-B14F-4D97-AF65-F5344CB8AC3E}">
        <p14:creationId xmlns:p14="http://schemas.microsoft.com/office/powerpoint/2010/main" val="36616920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047C5-1CF1-5BD7-8E22-5FD0B175D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Vecinos cercanos 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DEC7B7-FFAA-1B1E-300A-35BAE8E1B1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s-ES_tradnl" dirty="0"/>
                  <a:t>Método de fuerza bruta pero efectivo </a:t>
                </a:r>
              </a:p>
              <a:p>
                <a:pPr>
                  <a:lnSpc>
                    <a:spcPct val="150000"/>
                  </a:lnSpc>
                </a:pPr>
                <a:r>
                  <a:rPr lang="es-ES_tradnl" dirty="0">
                    <a:solidFill>
                      <a:srgbClr val="002060"/>
                    </a:solidFill>
                  </a:rPr>
                  <a:t>Idea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s-ES_tradnl" dirty="0"/>
                  <a:t>Observamos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s-ES_tradnl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=1,2,,…,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endParaRPr lang="es-ES_tradnl" dirty="0"/>
              </a:p>
              <a:p>
                <a:pPr lvl="2">
                  <a:lnSpc>
                    <a:spcPct val="150000"/>
                  </a:lnSpc>
                </a:pPr>
                <a:r>
                  <a:rPr lang="es-ES_tradnl" dirty="0"/>
                  <a:t>Ejemplo: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𝐸𝑚𝑝𝑙𝑒𝑎𝑑𝑜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𝑒𝑥𝑝𝑒𝑟𝑖𝑒𝑛𝑐𝑖𝑎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𝑒𝑑𝑢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s-ES_tradnl" dirty="0"/>
              </a:p>
              <a:p>
                <a:pPr lvl="1">
                  <a:lnSpc>
                    <a:spcPct val="150000"/>
                  </a:lnSpc>
                </a:pPr>
                <a:r>
                  <a:rPr lang="es-ES_tradnl" dirty="0">
                    <a:solidFill>
                      <a:srgbClr val="FF0000"/>
                    </a:solidFill>
                  </a:rPr>
                  <a:t>Problema</a:t>
                </a:r>
                <a:r>
                  <a:rPr lang="es-ES_tradnl" dirty="0"/>
                  <a:t>: predecir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s-ES_tradnl" dirty="0"/>
                  <a:t> dado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s-ES_tradnl" dirty="0"/>
              </a:p>
              <a:p>
                <a:pPr lvl="1">
                  <a:lnSpc>
                    <a:spcPct val="150000"/>
                  </a:lnSpc>
                </a:pPr>
                <a:r>
                  <a:rPr lang="es-ES_tradnl" dirty="0"/>
                  <a:t>¿Qué le predecimos 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s-ES_trad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</m:acc>
                  </m:oMath>
                </a14:m>
                <a:r>
                  <a:rPr lang="es-ES_tradnl" dirty="0"/>
                  <a:t> en donde está la x?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DEC7B7-FFAA-1B1E-300A-35BAE8E1B1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7" b="-4070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Content Placeholder 5" descr="A two images of a face and a face&#10;&#10;Description automatically generated with medium confidence">
            <a:extLst>
              <a:ext uri="{FF2B5EF4-FFF2-40B4-BE49-F238E27FC236}">
                <a16:creationId xmlns:a16="http://schemas.microsoft.com/office/drawing/2014/main" id="{1DCF33D8-3560-1298-6013-2F58A947D3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779"/>
          <a:stretch/>
        </p:blipFill>
        <p:spPr>
          <a:xfrm>
            <a:off x="7884441" y="1119799"/>
            <a:ext cx="3964338" cy="467656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A6130B0-0298-F29E-A09C-DD0EBF3C4FE6}"/>
                  </a:ext>
                </a:extLst>
              </p:cNvPr>
              <p:cNvSpPr txBox="1"/>
              <p:nvPr/>
            </p:nvSpPr>
            <p:spPr>
              <a:xfrm>
                <a:off x="7566725" y="1223023"/>
                <a:ext cx="635431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s-ES_tradnl" sz="3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A6130B0-0298-F29E-A09C-DD0EBF3C4F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6725" y="1223023"/>
                <a:ext cx="635431" cy="584775"/>
              </a:xfrm>
              <a:prstGeom prst="rect">
                <a:avLst/>
              </a:prstGeom>
              <a:blipFill>
                <a:blip r:embed="rId4"/>
                <a:stretch>
                  <a:fillRect l="-3922" b="-2128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C3AAE33-3AB1-0797-D4E3-468FADC61863}"/>
                  </a:ext>
                </a:extLst>
              </p:cNvPr>
              <p:cNvSpPr txBox="1"/>
              <p:nvPr/>
            </p:nvSpPr>
            <p:spPr>
              <a:xfrm>
                <a:off x="11213348" y="5445813"/>
                <a:ext cx="635431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s-ES_tradnl" sz="3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C3AAE33-3AB1-0797-D4E3-468FADC618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13348" y="5445813"/>
                <a:ext cx="635431" cy="584775"/>
              </a:xfrm>
              <a:prstGeom prst="rect">
                <a:avLst/>
              </a:prstGeom>
              <a:blipFill>
                <a:blip r:embed="rId5"/>
                <a:stretch>
                  <a:fillRect l="-3846" b="-4255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2DABFEB-6E9E-A4D1-0214-EA3F9BD4D7DE}"/>
                  </a:ext>
                </a:extLst>
              </p:cNvPr>
              <p:cNvSpPr txBox="1"/>
              <p:nvPr/>
            </p:nvSpPr>
            <p:spPr>
              <a:xfrm>
                <a:off x="9159498" y="2302508"/>
                <a:ext cx="716796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s-ES_tradnl" sz="3200" dirty="0">
                  <a:solidFill>
                    <a:schemeClr val="accent4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2DABFEB-6E9E-A4D1-0214-EA3F9BD4D7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9498" y="2302508"/>
                <a:ext cx="716796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02B61C6-5905-8622-9360-2D0B6571F82D}"/>
                  </a:ext>
                </a:extLst>
              </p:cNvPr>
              <p:cNvSpPr txBox="1"/>
              <p:nvPr/>
            </p:nvSpPr>
            <p:spPr>
              <a:xfrm>
                <a:off x="9149814" y="3509977"/>
                <a:ext cx="716796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es-ES_tradnl" sz="32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02B61C6-5905-8622-9360-2D0B6571F8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9814" y="3509977"/>
                <a:ext cx="716796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540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0E702-38B3-8FEF-6697-28D8332C7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5A802-445D-E045-EACF-50CF4617E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Vecinos cercanos II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3483BB-31D3-2FF0-8B06-FBEBA14AAE48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/>
              </a:bodyPr>
              <a:lstStyle/>
              <a:p>
                <a:pPr lvl="1">
                  <a:lnSpc>
                    <a:spcPct val="120000"/>
                  </a:lnSpc>
                </a:pPr>
                <a:r>
                  <a:rPr lang="es-ES_tradnl" dirty="0" err="1">
                    <a:solidFill>
                      <a:srgbClr val="00B050"/>
                    </a:solidFill>
                  </a:rPr>
                  <a:t>Solucion</a:t>
                </a:r>
                <a:r>
                  <a:rPr lang="es-ES_tradnl" dirty="0"/>
                  <a:t>: computar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nary>
                      <m:naryPr>
                        <m:chr m:val="∑"/>
                        <m:limLoc m:val="subSup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[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]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endParaRPr lang="es-ES_tradnl" dirty="0"/>
              </a:p>
              <a:p>
                <a:pPr lvl="2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ES_tradnl" dirty="0"/>
                  <a:t>distancia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s-ES_tradnl" dirty="0"/>
                  <a:t>.</a:t>
                </a:r>
              </a:p>
              <a:p>
                <a:pPr lvl="2">
                  <a:lnSpc>
                    <a:spcPct val="120000"/>
                  </a:lnSpc>
                </a:pPr>
                <a:r>
                  <a:rPr lang="es-ES_tradnl" dirty="0"/>
                  <a:t>K vecinos cercanos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s-ES_tradnl" dirty="0"/>
              </a:p>
              <a:p>
                <a:pPr lvl="1">
                  <a:lnSpc>
                    <a:spcPct val="120000"/>
                  </a:lnSpc>
                </a:pPr>
                <a:r>
                  <a:rPr lang="es-ES_tradnl" dirty="0"/>
                  <a:t>Predecir de acuerdo a la regla de Bayes (voto por mayoría)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3483BB-31D3-2FF0-8B06-FBEBA14AAE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t="-1453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Content Placeholder 5" descr="A two images of a face and a face&#10;&#10;Description automatically generated with medium confidence">
            <a:extLst>
              <a:ext uri="{FF2B5EF4-FFF2-40B4-BE49-F238E27FC236}">
                <a16:creationId xmlns:a16="http://schemas.microsoft.com/office/drawing/2014/main" id="{166A0F63-17AB-BA2F-91A0-2418BF049D3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019800" y="2074127"/>
            <a:ext cx="5686011" cy="3301555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90A0DD8-459C-3DD2-E460-71476488E716}"/>
              </a:ext>
            </a:extLst>
          </p:cNvPr>
          <p:cNvSpPr txBox="1"/>
          <p:nvPr/>
        </p:nvSpPr>
        <p:spPr>
          <a:xfrm>
            <a:off x="6095999" y="5408740"/>
            <a:ext cx="51815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effectLst/>
                <a:latin typeface="Gill Sans Nova Light" panose="020B0302020104020203" pitchFamily="34" charset="0"/>
              </a:rPr>
              <a:t>Fuente: James, Witten, Hastie y Tibshirani, 2013 </a:t>
            </a:r>
            <a:endParaRPr lang="en-US" sz="4400" dirty="0">
              <a:effectLst/>
              <a:latin typeface="Gill Sans Nova Light" panose="020B03020201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B25F78-1CD3-12AE-1896-EFC47D914BF6}"/>
              </a:ext>
            </a:extLst>
          </p:cNvPr>
          <p:cNvSpPr txBox="1"/>
          <p:nvPr/>
        </p:nvSpPr>
        <p:spPr>
          <a:xfrm>
            <a:off x="7088868" y="1698880"/>
            <a:ext cx="354787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_tradnl" sz="2000" b="1" dirty="0">
                <a:effectLst/>
                <a:latin typeface="Goudy Old Style" panose="02020502050305020303" pitchFamily="18" charset="77"/>
              </a:rPr>
              <a:t>Visualización Vecinos Cercanos</a:t>
            </a:r>
            <a:endParaRPr lang="es-ES_tradnl" sz="5400" b="1" dirty="0">
              <a:effectLst/>
              <a:latin typeface="Goudy Old Style" panose="02020502050305020303" pitchFamily="18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627062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3270B-25B6-4487-F447-507C3FD74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Para distinto número K: ¿Qué ocurre con la clasificación?</a:t>
            </a:r>
          </a:p>
        </p:txBody>
      </p:sp>
      <p:pic>
        <p:nvPicPr>
          <p:cNvPr id="9" name="Content Placeholder 8" descr="A screenshot of a graph showing a map of different colored dots&#10;&#10;Description automatically generated">
            <a:extLst>
              <a:ext uri="{FF2B5EF4-FFF2-40B4-BE49-F238E27FC236}">
                <a16:creationId xmlns:a16="http://schemas.microsoft.com/office/drawing/2014/main" id="{DF3F7D04-BB43-EEB4-5940-601168C22C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90894" y="1825625"/>
            <a:ext cx="7610212" cy="4351338"/>
          </a:xfrm>
        </p:spPr>
      </p:pic>
    </p:spTree>
    <p:extLst>
      <p:ext uri="{BB962C8B-B14F-4D97-AF65-F5344CB8AC3E}">
        <p14:creationId xmlns:p14="http://schemas.microsoft.com/office/powerpoint/2010/main" val="30150203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F11454-436C-4419-BA99-C094772FA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Consideraciones de Vecinos Cercanos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0D27DE8-06D4-5CEC-CBDE-AE7FECB28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s-ES_tradnl" dirty="0"/>
                  <a:t>Método </a:t>
                </a:r>
                <a:r>
                  <a:rPr lang="es-ES_tradnl" dirty="0">
                    <a:solidFill>
                      <a:srgbClr val="002060"/>
                    </a:solidFill>
                  </a:rPr>
                  <a:t>no paramétrico </a:t>
                </a:r>
                <a:r>
                  <a:rPr lang="es-ES_tradnl" dirty="0"/>
                  <a:t>muy </a:t>
                </a:r>
                <a:r>
                  <a:rPr lang="es-ES_tradnl" dirty="0">
                    <a:solidFill>
                      <a:srgbClr val="00B050"/>
                    </a:solidFill>
                  </a:rPr>
                  <a:t>flexible</a:t>
                </a:r>
                <a:r>
                  <a:rPr lang="es-ES_tradnl" dirty="0"/>
                  <a:t> y </a:t>
                </a:r>
                <a:r>
                  <a:rPr lang="es-ES_tradnl" dirty="0">
                    <a:solidFill>
                      <a:srgbClr val="00B050"/>
                    </a:solidFill>
                  </a:rPr>
                  <a:t>generalizable</a:t>
                </a:r>
                <a:r>
                  <a:rPr lang="es-ES_tradnl" dirty="0"/>
                  <a:t>.</a:t>
                </a:r>
              </a:p>
              <a:p>
                <a:pPr>
                  <a:lnSpc>
                    <a:spcPct val="150000"/>
                  </a:lnSpc>
                </a:pPr>
                <a:r>
                  <a:rPr lang="es-ES_tradnl" dirty="0"/>
                  <a:t>Elección de K (</a:t>
                </a:r>
                <a:r>
                  <a:rPr lang="es-ES_tradnl" dirty="0">
                    <a:solidFill>
                      <a:srgbClr val="002060"/>
                    </a:solidFill>
                  </a:rPr>
                  <a:t>número de vecinos</a:t>
                </a:r>
                <a:r>
                  <a:rPr lang="es-ES_tradnl" dirty="0"/>
                  <a:t>): </a:t>
                </a:r>
                <a:r>
                  <a:rPr lang="es-ES_tradnl" dirty="0">
                    <a:solidFill>
                      <a:srgbClr val="FF0000"/>
                    </a:solidFill>
                  </a:rPr>
                  <a:t>crucial</a:t>
                </a:r>
                <a:r>
                  <a:rPr lang="es-ES_tradnl" dirty="0"/>
                  <a:t>. </a:t>
                </a:r>
              </a:p>
              <a:p>
                <a:pPr>
                  <a:lnSpc>
                    <a:spcPct val="150000"/>
                  </a:lnSpc>
                </a:pPr>
                <a:r>
                  <a:rPr lang="es-ES_tradnl" dirty="0"/>
                  <a:t>Elección 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 lang="es-ES_tradnl" dirty="0"/>
                  <a:t>: No trivial fuera de la distancia euclídea</a:t>
                </a:r>
              </a:p>
              <a:p>
                <a:pPr>
                  <a:lnSpc>
                    <a:spcPct val="150000"/>
                  </a:lnSpc>
                </a:pPr>
                <a:r>
                  <a:rPr lang="es-ES_tradnl" dirty="0"/>
                  <a:t>¿Más de un predictor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s-ES_tradnl" dirty="0"/>
                  <a:t>? “</a:t>
                </a:r>
                <a:r>
                  <a:rPr lang="es-ES_tradnl" dirty="0">
                    <a:solidFill>
                      <a:srgbClr val="002060"/>
                    </a:solidFill>
                  </a:rPr>
                  <a:t>maldición de la dimensionalidad</a:t>
                </a:r>
                <a:r>
                  <a:rPr lang="es-ES_tradnl" dirty="0"/>
                  <a:t>”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s-ES_tradnl" dirty="0">
                    <a:solidFill>
                      <a:srgbClr val="00B050"/>
                    </a:solidFill>
                  </a:rPr>
                  <a:t>Ventaja</a:t>
                </a:r>
                <a:r>
                  <a:rPr lang="es-ES_tradnl" dirty="0"/>
                  <a:t>: Funciona muy bien con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s-ES_tradnl" dirty="0"/>
                  <a:t> grande y pocos predictores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s-ES_tradnl" dirty="0"/>
              </a:p>
              <a:p>
                <a:pPr lvl="1">
                  <a:lnSpc>
                    <a:spcPct val="150000"/>
                  </a:lnSpc>
                </a:pPr>
                <a:r>
                  <a:rPr lang="es-ES_tradnl" dirty="0">
                    <a:solidFill>
                      <a:srgbClr val="FF0000"/>
                    </a:solidFill>
                  </a:rPr>
                  <a:t>Desventaja</a:t>
                </a:r>
                <a:r>
                  <a:rPr lang="es-ES_tradnl" dirty="0"/>
                  <a:t>: No nos dice efectos marginales de los predictores, pero podemos calcular la </a:t>
                </a:r>
                <a:r>
                  <a:rPr lang="es-ES_tradnl" dirty="0">
                    <a:solidFill>
                      <a:srgbClr val="0070C0"/>
                    </a:solidFill>
                  </a:rPr>
                  <a:t>importancia relativa </a:t>
                </a:r>
                <a:r>
                  <a:rPr lang="es-ES_tradnl" dirty="0"/>
                  <a:t>de cada predictor.</a:t>
                </a:r>
              </a:p>
              <a:p>
                <a:pPr lvl="1">
                  <a:lnSpc>
                    <a:spcPct val="150000"/>
                  </a:lnSpc>
                </a:pPr>
                <a:endParaRPr lang="es-ES_trad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0D27DE8-06D4-5CEC-CBDE-AE7FECB28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65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89011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40A726-B3C7-6F6F-3C62-63A2C1D16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Ilustración de Importancia de Variables</a:t>
            </a:r>
          </a:p>
        </p:txBody>
      </p:sp>
      <p:pic>
        <p:nvPicPr>
          <p:cNvPr id="12" name="Marcador de contenido 4">
            <a:extLst>
              <a:ext uri="{FF2B5EF4-FFF2-40B4-BE49-F238E27FC236}">
                <a16:creationId xmlns:a16="http://schemas.microsoft.com/office/drawing/2014/main" id="{D94707E4-92FC-04F2-FF87-A840053DFE8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rcRect r="43584" b="67050"/>
          <a:stretch>
            <a:fillRect/>
          </a:stretch>
        </p:blipFill>
        <p:spPr>
          <a:xfrm>
            <a:off x="570075" y="2212259"/>
            <a:ext cx="5449725" cy="3410286"/>
          </a:xfrm>
          <a:prstGeom prst="rect">
            <a:avLst/>
          </a:prstGeom>
        </p:spPr>
      </p:pic>
      <p:pic>
        <p:nvPicPr>
          <p:cNvPr id="13" name="Marcador de contenido 12">
            <a:extLst>
              <a:ext uri="{FF2B5EF4-FFF2-40B4-BE49-F238E27FC236}">
                <a16:creationId xmlns:a16="http://schemas.microsoft.com/office/drawing/2014/main" id="{5417F5D7-5CB7-6880-2CA9-172D6112852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t="33763" r="43856" b="33144"/>
          <a:stretch>
            <a:fillRect/>
          </a:stretch>
        </p:blipFill>
        <p:spPr>
          <a:xfrm>
            <a:off x="6172200" y="2261112"/>
            <a:ext cx="5346290" cy="33763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uadroTexto 13">
                <a:extLst>
                  <a:ext uri="{FF2B5EF4-FFF2-40B4-BE49-F238E27FC236}">
                    <a16:creationId xmlns:a16="http://schemas.microsoft.com/office/drawing/2014/main" id="{ABDC2CAD-9EFB-8404-9FBA-CAAC689604FB}"/>
                  </a:ext>
                </a:extLst>
              </p:cNvPr>
              <p:cNvSpPr txBox="1"/>
              <p:nvPr/>
            </p:nvSpPr>
            <p:spPr>
              <a:xfrm>
                <a:off x="3134032" y="5637470"/>
                <a:ext cx="530942" cy="44890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7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7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7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700" b="0" dirty="0"/>
              </a:p>
            </p:txBody>
          </p:sp>
        </mc:Choice>
        <mc:Fallback xmlns="">
          <p:sp>
            <p:nvSpPr>
              <p:cNvPr id="14" name="CuadroTexto 13">
                <a:extLst>
                  <a:ext uri="{FF2B5EF4-FFF2-40B4-BE49-F238E27FC236}">
                    <a16:creationId xmlns:a16="http://schemas.microsoft.com/office/drawing/2014/main" id="{ABDC2CAD-9EFB-8404-9FBA-CAAC689604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4032" y="5637470"/>
                <a:ext cx="530942" cy="448905"/>
              </a:xfrm>
              <a:prstGeom prst="rect">
                <a:avLst/>
              </a:prstGeom>
              <a:blipFill>
                <a:blip r:embed="rId3"/>
                <a:stretch>
                  <a:fillRect l="-9302" b="-25000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CuadroTexto 14">
            <a:extLst>
              <a:ext uri="{FF2B5EF4-FFF2-40B4-BE49-F238E27FC236}">
                <a16:creationId xmlns:a16="http://schemas.microsoft.com/office/drawing/2014/main" id="{8243B35B-F564-5B89-F8E2-4CB6F8716A38}"/>
              </a:ext>
            </a:extLst>
          </p:cNvPr>
          <p:cNvSpPr txBox="1"/>
          <p:nvPr/>
        </p:nvSpPr>
        <p:spPr>
          <a:xfrm>
            <a:off x="7993626" y="5637470"/>
            <a:ext cx="299392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700" dirty="0">
                <a:latin typeface="Gill Sans Nova Light" panose="020B0302020104020203" pitchFamily="34" charset="0"/>
              </a:rPr>
              <a:t>Importancia relativa</a:t>
            </a:r>
          </a:p>
        </p:txBody>
      </p:sp>
    </p:spTree>
    <p:extLst>
      <p:ext uri="{BB962C8B-B14F-4D97-AF65-F5344CB8AC3E}">
        <p14:creationId xmlns:p14="http://schemas.microsoft.com/office/powerpoint/2010/main" val="39861955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7C4D0-34F1-0A94-834E-05390C487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Aplicación de Vecinos Cercanos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666EBF-6119-C495-2250-DFAA6225CA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Mougenot</a:t>
            </a:r>
            <a:r>
              <a:rPr lang="en-US" dirty="0"/>
              <a:t>, B., Amaya, E., </a:t>
            </a:r>
            <a:r>
              <a:rPr lang="en-US" dirty="0" err="1"/>
              <a:t>Mezones</a:t>
            </a:r>
            <a:r>
              <a:rPr lang="en-US" dirty="0"/>
              <a:t>-Holguin, E., Rodriguez-Morales, A. J., &amp; </a:t>
            </a:r>
            <a:r>
              <a:rPr lang="en-US" dirty="0" err="1"/>
              <a:t>Cabieses</a:t>
            </a:r>
            <a:r>
              <a:rPr lang="en-US" dirty="0"/>
              <a:t>, B. (2021). Immigration, perceived discrimination and mental health: evidence from Venezuelan population living in Peru. </a:t>
            </a:r>
            <a:r>
              <a:rPr lang="en-US" i="1" dirty="0"/>
              <a:t>Globalization and health</a:t>
            </a:r>
            <a:r>
              <a:rPr lang="en-US" dirty="0"/>
              <a:t>, 17, 1-9.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93563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22796-D566-47EC-C073-F01C17B72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Versión simplificada de </a:t>
            </a:r>
            <a:r>
              <a:rPr lang="es-ES_tradnl" dirty="0" err="1"/>
              <a:t>Propensity</a:t>
            </a:r>
            <a:r>
              <a:rPr lang="es-ES_tradnl" dirty="0"/>
              <a:t> Score </a:t>
            </a:r>
            <a:r>
              <a:rPr lang="es-ES_tradnl" dirty="0" err="1"/>
              <a:t>Matching</a:t>
            </a:r>
            <a:r>
              <a:rPr lang="es-ES_tradnl" dirty="0"/>
              <a:t> (PSM)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283404-0B45-6C01-CB7E-BF28514CE4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s-ES_tradnl" dirty="0">
                    <a:solidFill>
                      <a:srgbClr val="002060"/>
                    </a:solidFill>
                  </a:rPr>
                  <a:t>Idea</a:t>
                </a:r>
                <a:r>
                  <a:rPr lang="es-ES_tradnl" dirty="0"/>
                  <a:t>: </a:t>
                </a:r>
              </a:p>
              <a:p>
                <a:pPr lvl="1"/>
                <a:r>
                  <a:rPr lang="es-ES_tradnl" dirty="0"/>
                  <a:t>Para predecir la probabilidad de ser tratado: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es-ES_tradnl" dirty="0"/>
              </a:p>
              <a:p>
                <a:pPr lvl="1"/>
                <a:r>
                  <a:rPr lang="es-ES_tradnl" dirty="0"/>
                  <a:t>Queremos características balanceadas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endParaRPr lang="es-ES_tradnl" dirty="0"/>
              </a:p>
              <a:p>
                <a:r>
                  <a:rPr lang="es-ES_tradnl" dirty="0"/>
                  <a:t>Luego se evalúa el efecto del tratamiento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s-ES_tradnl" dirty="0"/>
                  <a:t> en el </a:t>
                </a:r>
                <a:r>
                  <a:rPr lang="es-ES_tradnl" dirty="0" err="1"/>
                  <a:t>outcome</a:t>
                </a:r>
                <a:r>
                  <a:rPr lang="es-ES_tradnl" dirty="0"/>
                  <a:t> de interés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s-ES_tradnl" dirty="0"/>
                  <a:t> (con observaciones </a:t>
                </a:r>
                <a:r>
                  <a:rPr lang="es-ES_tradnl" dirty="0">
                    <a:solidFill>
                      <a:srgbClr val="002060"/>
                    </a:solidFill>
                  </a:rPr>
                  <a:t>parecidas</a:t>
                </a:r>
                <a:r>
                  <a:rPr lang="es-ES_tradnl" dirty="0"/>
                  <a:t> como control)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283404-0B45-6C01-CB7E-BF28514CE4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27" t="-2907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screenshot of a graph&#10;&#10;Description automatically generated">
            <a:extLst>
              <a:ext uri="{FF2B5EF4-FFF2-40B4-BE49-F238E27FC236}">
                <a16:creationId xmlns:a16="http://schemas.microsoft.com/office/drawing/2014/main" id="{CC8F6C27-61DC-2FFC-98C5-4E5983FC4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450" y="4310764"/>
            <a:ext cx="10420350" cy="2290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07570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357CD-60DB-7599-DBBF-E7E34F55F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Conclusiones finales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8E002C-8C25-F567-04EE-6365B03764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_tradnl" dirty="0"/>
              <a:t>¿Qué aprendimos hoy?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A580811-4E8A-0CFA-2D7A-CC97B0990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0561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3BB58-5855-ACF9-ED81-BEC9A8A85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¿Que aprendimos hoy?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A5571-2769-CCAB-A4A1-42266B991B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>
              <a:lnSpc>
                <a:spcPct val="120000"/>
              </a:lnSpc>
            </a:pPr>
            <a:r>
              <a:rPr lang="es-ES_tradnl" dirty="0">
                <a:solidFill>
                  <a:srgbClr val="002060"/>
                </a:solidFill>
              </a:rPr>
              <a:t>Partimos</a:t>
            </a:r>
            <a:r>
              <a:rPr lang="es-ES_tradnl" dirty="0"/>
              <a:t> de las tomas de decisiones como </a:t>
            </a:r>
            <a:r>
              <a:rPr lang="es-ES_tradnl" dirty="0">
                <a:solidFill>
                  <a:srgbClr val="002060"/>
                </a:solidFill>
              </a:rPr>
              <a:t>motivación</a:t>
            </a:r>
            <a:r>
              <a:rPr lang="es-ES_tradnl" dirty="0"/>
              <a:t> para la clasificación</a:t>
            </a:r>
          </a:p>
          <a:p>
            <a:pPr>
              <a:lnSpc>
                <a:spcPct val="120000"/>
              </a:lnSpc>
            </a:pPr>
            <a:r>
              <a:rPr lang="es-ES_tradnl" dirty="0">
                <a:solidFill>
                  <a:srgbClr val="002060"/>
                </a:solidFill>
              </a:rPr>
              <a:t>Definimos</a:t>
            </a:r>
            <a:r>
              <a:rPr lang="es-ES_tradnl" dirty="0"/>
              <a:t> la función de riesgo esperado para introducir </a:t>
            </a:r>
            <a:r>
              <a:rPr lang="es-ES_tradnl" dirty="0">
                <a:solidFill>
                  <a:srgbClr val="002060"/>
                </a:solidFill>
              </a:rPr>
              <a:t>formalmente</a:t>
            </a:r>
            <a:r>
              <a:rPr lang="es-ES_tradnl" dirty="0"/>
              <a:t> el </a:t>
            </a:r>
            <a:r>
              <a:rPr lang="es-ES_tradnl" dirty="0">
                <a:solidFill>
                  <a:srgbClr val="002060"/>
                </a:solidFill>
              </a:rPr>
              <a:t>clasificador de Bayes </a:t>
            </a:r>
          </a:p>
          <a:p>
            <a:pPr>
              <a:lnSpc>
                <a:spcPct val="120000"/>
              </a:lnSpc>
            </a:pPr>
            <a:r>
              <a:rPr lang="es-ES_tradnl" dirty="0">
                <a:solidFill>
                  <a:srgbClr val="002060"/>
                </a:solidFill>
              </a:rPr>
              <a:t>Desarrollamos</a:t>
            </a:r>
            <a:r>
              <a:rPr lang="es-ES_tradnl" dirty="0"/>
              <a:t> métodos más usados de Clasificación y </a:t>
            </a:r>
            <a:r>
              <a:rPr lang="es-ES_tradnl" dirty="0">
                <a:solidFill>
                  <a:srgbClr val="002060"/>
                </a:solidFill>
              </a:rPr>
              <a:t>mencionamos</a:t>
            </a:r>
            <a:r>
              <a:rPr lang="es-ES_tradnl" dirty="0"/>
              <a:t> un par de aplicaciones</a:t>
            </a:r>
          </a:p>
          <a:p>
            <a:pPr lvl="1">
              <a:lnSpc>
                <a:spcPct val="120000"/>
              </a:lnSpc>
            </a:pPr>
            <a:r>
              <a:rPr lang="es-ES_tradnl" dirty="0">
                <a:solidFill>
                  <a:srgbClr val="002060"/>
                </a:solidFill>
              </a:rPr>
              <a:t>Regresión Logística </a:t>
            </a:r>
            <a:r>
              <a:rPr lang="es-ES_tradnl" dirty="0"/>
              <a:t>con introducción estimador de </a:t>
            </a:r>
            <a:r>
              <a:rPr lang="es-ES_tradnl" dirty="0">
                <a:solidFill>
                  <a:srgbClr val="00B050"/>
                </a:solidFill>
              </a:rPr>
              <a:t>máxima verosimilitud</a:t>
            </a:r>
          </a:p>
          <a:p>
            <a:pPr lvl="1">
              <a:lnSpc>
                <a:spcPct val="120000"/>
              </a:lnSpc>
            </a:pPr>
            <a:r>
              <a:rPr lang="es-ES_tradnl" dirty="0">
                <a:solidFill>
                  <a:srgbClr val="002060"/>
                </a:solidFill>
              </a:rPr>
              <a:t>Describimos </a:t>
            </a:r>
            <a:r>
              <a:rPr lang="es-ES_tradnl" dirty="0"/>
              <a:t>el problema y solución práctica para </a:t>
            </a:r>
            <a:r>
              <a:rPr lang="es-ES_tradnl" dirty="0">
                <a:solidFill>
                  <a:srgbClr val="002060"/>
                </a:solidFill>
              </a:rPr>
              <a:t>Vecinos cercanos </a:t>
            </a:r>
          </a:p>
          <a:p>
            <a:pPr>
              <a:lnSpc>
                <a:spcPct val="120000"/>
              </a:lnSpc>
            </a:pPr>
            <a:r>
              <a:rPr lang="es-ES_tradnl" dirty="0"/>
              <a:t>Análisis discriminante (LDA y QDA) &amp; Naive Bayes -&gt; </a:t>
            </a:r>
            <a:r>
              <a:rPr lang="es-ES_tradnl" dirty="0">
                <a:solidFill>
                  <a:schemeClr val="accent1"/>
                </a:solidFill>
              </a:rPr>
              <a:t>bonus</a:t>
            </a:r>
          </a:p>
          <a:p>
            <a:pPr lvl="1">
              <a:lnSpc>
                <a:spcPct val="120000"/>
              </a:lnSpc>
            </a:pPr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96738085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D55B1-4C9E-9A68-CAC5-2D5211025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_tradnl" dirty="0"/>
              <a:t>¿Dudas, consultas?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6DE542-4031-D126-7AAF-A0332014D1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s-ES_tradnl" dirty="0"/>
              <a:t>Consultas: </a:t>
            </a:r>
            <a:r>
              <a:rPr lang="en-US" dirty="0">
                <a:solidFill>
                  <a:srgbClr val="000000"/>
                </a:solidFill>
                <a:effectLst/>
                <a:hlinkClick r:id="rId2"/>
              </a:rPr>
              <a:t>25RO35480961@campus.economicas.uba.ar</a:t>
            </a:r>
            <a:r>
              <a:rPr lang="en-US" dirty="0">
                <a:solidFill>
                  <a:srgbClr val="000000"/>
                </a:solidFill>
                <a:effectLst/>
              </a:rPr>
              <a:t> </a:t>
            </a:r>
            <a:endParaRPr lang="es-ES_trad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42557C-64E1-99EA-732F-3F53925CF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3661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2754</TotalTime>
  <Words>1935</Words>
  <Application>Microsoft Macintosh PowerPoint</Application>
  <PresentationFormat>Panorámica</PresentationFormat>
  <Paragraphs>306</Paragraphs>
  <Slides>42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42</vt:i4>
      </vt:variant>
    </vt:vector>
  </HeadingPairs>
  <TitlesOfParts>
    <vt:vector size="50" baseType="lpstr">
      <vt:lpstr>Arial</vt:lpstr>
      <vt:lpstr>Calibri</vt:lpstr>
      <vt:lpstr>Cambria Math</vt:lpstr>
      <vt:lpstr>Gill Sans Nova Light</vt:lpstr>
      <vt:lpstr>Goudy Old Style</vt:lpstr>
      <vt:lpstr>Times</vt:lpstr>
      <vt:lpstr>Times New Roman</vt:lpstr>
      <vt:lpstr>Office Theme</vt:lpstr>
      <vt:lpstr>Introducción a Clasificación: Bayes, Logit y KNN</vt:lpstr>
      <vt:lpstr>En la clase de hoy</vt:lpstr>
      <vt:lpstr>Orden de Temas: Secuencia de Trabajo con Datos</vt:lpstr>
      <vt:lpstr>De la Etapa Explorativa a la Predicción</vt:lpstr>
      <vt:lpstr>Clasificación: Motivación y primeras definiciones</vt:lpstr>
      <vt:lpstr>Motivación: Decisiones con varias opciones</vt:lpstr>
      <vt:lpstr>Motivación: Decisiones con varias opciones</vt:lpstr>
      <vt:lpstr>Teoría de decisión y Matriz de posibilidades</vt:lpstr>
      <vt:lpstr>Ilustraciones: Error tipo I y tipo II</vt:lpstr>
      <vt:lpstr>Ejemplos y Errores: ¿qué error queremos minimizar?</vt:lpstr>
      <vt:lpstr>Clasificador de Bayes: Intuitivamente</vt:lpstr>
      <vt:lpstr>Clasificador de Bayes: Formalmente, la regla de decisión</vt:lpstr>
      <vt:lpstr>Riesgo esperado: Formalmente para Ybinaria</vt:lpstr>
      <vt:lpstr>Clasificador de Bayes I</vt:lpstr>
      <vt:lpstr>Clasificador de Bayes II</vt:lpstr>
      <vt:lpstr>Clasificador de Bayes II</vt:lpstr>
      <vt:lpstr>Posibles soluciones</vt:lpstr>
      <vt:lpstr>Modelo lineal para Clasificar: ¿Por qué no p=Pr⁡(Y=1|X)=Xβ?</vt:lpstr>
      <vt:lpstr>Regresión logística</vt:lpstr>
      <vt:lpstr>Función logística   </vt:lpstr>
      <vt:lpstr>Interpretación de Efecto Marginal con Logit I</vt:lpstr>
      <vt:lpstr>Interpretación de Efecto Marginal con Logit II</vt:lpstr>
      <vt:lpstr>¿Cómo estimamos los coeficientes de p=e^z/(1+e^z ) \ donde z≡Xβ es vectores de K coeficientes?   </vt:lpstr>
      <vt:lpstr>Intro a la estimación de Máxima verosimilitud (MLE)</vt:lpstr>
      <vt:lpstr>Estimación MLE I</vt:lpstr>
      <vt:lpstr>Estimación MLE II</vt:lpstr>
      <vt:lpstr>Logit por estimación de MLE</vt:lpstr>
      <vt:lpstr>Resumen en la práctica:</vt:lpstr>
      <vt:lpstr>Dos Aplicaciones de Regresión Logística</vt:lpstr>
      <vt:lpstr>Ejemplo: Estimación tradicional de pobreza</vt:lpstr>
      <vt:lpstr>Se puede presentar coeficientes y odd-ratios</vt:lpstr>
      <vt:lpstr>Vecinos cercanos</vt:lpstr>
      <vt:lpstr>Vecinos cercanos I</vt:lpstr>
      <vt:lpstr>Vecinos cercanos II</vt:lpstr>
      <vt:lpstr>Para distinto número K: ¿Qué ocurre con la clasificación?</vt:lpstr>
      <vt:lpstr>Consideraciones de Vecinos Cercanos</vt:lpstr>
      <vt:lpstr>Ilustración de Importancia de Variables</vt:lpstr>
      <vt:lpstr>Aplicación de Vecinos Cercanos</vt:lpstr>
      <vt:lpstr>Versión simplificada de Propensity Score Matching (PSM)</vt:lpstr>
      <vt:lpstr>Conclusiones finales</vt:lpstr>
      <vt:lpstr>¿Que aprendimos hoy?</vt:lpstr>
      <vt:lpstr>¿Dudas, consultas?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 data, Aprendizaje y Minería de Datos:  Perspectivas, ideas y herramientas para economistas</dc:title>
  <dc:creator>Romero, Maria Noelia</dc:creator>
  <cp:lastModifiedBy>María Noelia Romero</cp:lastModifiedBy>
  <cp:revision>389</cp:revision>
  <dcterms:created xsi:type="dcterms:W3CDTF">2023-06-12T20:51:31Z</dcterms:created>
  <dcterms:modified xsi:type="dcterms:W3CDTF">2026-08-03T19:30:31Z</dcterms:modified>
</cp:coreProperties>
</file>